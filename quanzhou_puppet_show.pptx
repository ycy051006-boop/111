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5447" y="-173736"/>
            <a:ext cx="1005840" cy="100584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7803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09354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8244" y="438619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7135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8686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7135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8244" y="39502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354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3994" y="264810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024" y="97840"/>
            <a:ext cx="462686" cy="46268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046" y="273862"/>
            <a:ext cx="110642" cy="1106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0776" y="45719"/>
            <a:ext cx="841248" cy="84124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2927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44042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6024" y="557871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8005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59120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8005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26024" y="224064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44042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47560" y="412504"/>
            <a:ext cx="107679" cy="10767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07912" y="272856"/>
            <a:ext cx="386974" cy="386974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131" y="420075"/>
            <a:ext cx="92537" cy="9253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76104" y="5285232"/>
            <a:ext cx="1170432" cy="117043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8663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206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56449" y="5997791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922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4235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922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56449" y="5533363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206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86412" y="5795540"/>
            <a:ext cx="149815" cy="14981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92120" y="5601248"/>
            <a:ext cx="538398" cy="5383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96946" y="5806074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429768"/>
            <a:ext cx="795527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170432"/>
            <a:ext cx="8321040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1947672"/>
            <a:ext cx="84124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QUANZHOU GLOVE PUPPET THEATRE · CULTURAL CREATIVE DESIGN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304288"/>
            <a:ext cx="2286000" cy="3657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3378478"/>
            <a:ext cx="2331720" cy="2185874"/>
          </a:xfrm>
          <a:prstGeom prst="rect">
            <a:avLst/>
          </a:prstGeom>
        </p:spPr>
      </p:pic>
      <p:pic>
        <p:nvPicPr>
          <p:cNvPr id="43" name="Picture 42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39" y="3195679"/>
            <a:ext cx="2331720" cy="2551473"/>
          </a:xfrm>
          <a:prstGeom prst="rect">
            <a:avLst/>
          </a:prstGeom>
        </p:spPr>
      </p:pic>
      <p:pic>
        <p:nvPicPr>
          <p:cNvPr id="44" name="Picture 43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3395718"/>
            <a:ext cx="2331720" cy="2151395"/>
          </a:xfrm>
          <a:prstGeom prst="rect">
            <a:avLst/>
          </a:prstGeom>
        </p:spPr>
      </p:pic>
      <p:pic>
        <p:nvPicPr>
          <p:cNvPr id="45" name="Picture 44" descr="ip_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3094408"/>
            <a:ext cx="2331720" cy="2754015"/>
          </a:xfrm>
          <a:prstGeom prst="rect">
            <a:avLst/>
          </a:prstGeom>
        </p:spPr>
      </p:pic>
      <p:pic>
        <p:nvPicPr>
          <p:cNvPr id="46" name="Picture 45" descr="ip_ch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2" y="3072384"/>
            <a:ext cx="2331720" cy="279806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10896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97479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4064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29768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4B9E"/>
                </a:solidFill>
                <a:latin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3392" y="512064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93942"/>
                </a:solidFill>
                <a:latin typeface="Noto Sans CJK SC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155680" cy="13716"/>
          </a:xfrm>
          <a:prstGeom prst="rect">
            <a:avLst/>
          </a:prstGeom>
          <a:solidFill>
            <a:srgbClr val="3E3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4736592"/>
            <a:ext cx="2267712" cy="22860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736592"/>
            <a:ext cx="2267712" cy="22860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736592"/>
            <a:ext cx="2267712" cy="22860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58A9FF"/>
                </a:solidFill>
                <a:latin typeface="Noto Sans CJK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9136" y="4736592"/>
            <a:ext cx="2267712" cy="22860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34973"/>
            <a:ext cx="859536" cy="805773"/>
          </a:xfrm>
          <a:prstGeom prst="rect">
            <a:avLst/>
          </a:prstGeom>
        </p:spPr>
      </p:pic>
      <p:pic>
        <p:nvPicPr>
          <p:cNvPr id="18" name="Picture 17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267588"/>
            <a:ext cx="859536" cy="940543"/>
          </a:xfrm>
          <a:prstGeom prst="rect">
            <a:avLst/>
          </a:prstGeom>
        </p:spPr>
      </p:pic>
      <p:pic>
        <p:nvPicPr>
          <p:cNvPr id="19" name="Picture 18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416" y="5341328"/>
            <a:ext cx="859536" cy="793063"/>
          </a:xfrm>
          <a:prstGeom prst="rect">
            <a:avLst/>
          </a:prstGeom>
        </p:spPr>
      </p:pic>
      <p:pic>
        <p:nvPicPr>
          <p:cNvPr id="20" name="Picture 19" descr="ip_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664" y="5230257"/>
            <a:ext cx="859536" cy="1015205"/>
          </a:xfrm>
          <a:prstGeom prst="rect">
            <a:avLst/>
          </a:prstGeom>
        </p:spPr>
      </p:pic>
      <p:pic>
        <p:nvPicPr>
          <p:cNvPr id="21" name="Picture 20" descr="ip_ch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7912" y="5222138"/>
            <a:ext cx="859536" cy="1031443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10442448" y="4690872"/>
            <a:ext cx="731520" cy="73152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87797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4528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42663" y="5136221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4003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97530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4003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42663" y="4845954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4528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1390" y="5009814"/>
            <a:ext cx="93634" cy="9363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39958" y="4888382"/>
            <a:ext cx="336499" cy="336499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767974" y="5016398"/>
            <a:ext cx="80467" cy="8046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FOLK STAGE TO CONTEMPORARY DESIGN</a:t>
            </a:r>
          </a:p>
        </p:txBody>
      </p:sp>
      <p:pic>
        <p:nvPicPr>
          <p:cNvPr id="6" name="Picture 5" descr="ip_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561008"/>
            <a:ext cx="2340864" cy="256147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历史背景介绍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43584"/>
            <a:ext cx="6126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一方小戏台，一手演乾坤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993392"/>
            <a:ext cx="5623560" cy="12070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布袋木偶戏流传于闽南地区。艺人将手伸入布偶的衣身，以手指操控头部与双臂，让木刻偶头、布制服饰和细腻动作在小戏台上相遇。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456432"/>
            <a:ext cx="5623560" cy="11064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演出常以闽南语唱白、锣鼓节奏与戏曲程式推进情节，既能表现忠义豪情，也能讲述市井生活与民间趣事。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" y="5010912"/>
            <a:ext cx="5650992" cy="731520"/>
          </a:xfrm>
          <a:prstGeom prst="roundRect">
            <a:avLst>
              <a:gd name="adj" fmla="val 9000"/>
            </a:avLst>
          </a:prstGeom>
          <a:solidFill>
            <a:srgbClr val="1F1624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166360"/>
            <a:ext cx="52578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设计切入点：以五个行当角色与泉州城市意象，构成“掌中戏”的年轻表达。</a:t>
            </a:r>
          </a:p>
        </p:txBody>
      </p:sp>
      <p:pic>
        <p:nvPicPr>
          <p:cNvPr id="13" name="Picture 12" descr="ip_j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08436"/>
            <a:ext cx="3063240" cy="2826343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0250424" y="1481328"/>
            <a:ext cx="749808" cy="74980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06907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63335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58145" y="1937811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2954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09383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52954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58145" y="1640287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63335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7340" y="1808244"/>
            <a:ext cx="95975" cy="9597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2872" y="1683776"/>
            <a:ext cx="344911" cy="3449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4088" y="1814992"/>
            <a:ext cx="82478" cy="8247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布袋偶操演方式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文化依据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88720"/>
            <a:ext cx="694944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一只手，带动一出戏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64008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操演原理示意 · 非传统戏偶实物复原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258568"/>
            <a:ext cx="5650992" cy="35844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95728" y="2450592"/>
            <a:ext cx="1536192" cy="1536192"/>
          </a:xfrm>
          <a:prstGeom prst="ellipse">
            <a:avLst/>
          </a:prstGeom>
          <a:solidFill>
            <a:srgbClr val="F7E4C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2264" y="3849624"/>
            <a:ext cx="2093976" cy="155448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 w="1905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4114800"/>
            <a:ext cx="868680" cy="630936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 w="1651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9080" y="4114800"/>
            <a:ext cx="868680" cy="630936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 w="1651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4041648"/>
            <a:ext cx="493776" cy="493776"/>
          </a:xfrm>
          <a:prstGeom prst="ellipse">
            <a:avLst/>
          </a:prstGeom>
          <a:solidFill>
            <a:srgbClr val="F7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36592" y="4041648"/>
            <a:ext cx="493776" cy="493776"/>
          </a:xfrm>
          <a:prstGeom prst="ellipse">
            <a:avLst/>
          </a:prstGeom>
          <a:solidFill>
            <a:srgbClr val="F7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89504" y="5175504"/>
            <a:ext cx="512064" cy="51206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2606040"/>
            <a:ext cx="15087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E46A"/>
                </a:solidFill>
                <a:latin typeface="Noto Sans CJK SC"/>
              </a:rPr>
              <a:t>食指 → 偶头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965192"/>
            <a:ext cx="15727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CE3D0"/>
                </a:solidFill>
                <a:latin typeface="Noto Sans CJK SC"/>
              </a:rPr>
              <a:t>拇指 → 左臂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965192"/>
            <a:ext cx="1645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CE3D0"/>
                </a:solidFill>
                <a:latin typeface="Noto Sans CJK SC"/>
              </a:rPr>
              <a:t>中指 → 右臂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5495544"/>
            <a:ext cx="233172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手掌进入衣身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2258568"/>
            <a:ext cx="5138928" cy="35844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48272" y="2532888"/>
            <a:ext cx="484632" cy="484632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551176"/>
            <a:ext cx="457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8090D"/>
                </a:solidFill>
                <a:latin typeface="Noto Sans CJK S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7" y="2514600"/>
            <a:ext cx="9875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结构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478024"/>
            <a:ext cx="2962656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偶头、衣身和双臂构成可操控的表演体。</a:t>
            </a:r>
          </a:p>
        </p:txBody>
      </p:sp>
      <p:sp>
        <p:nvSpPr>
          <p:cNvPr id="27" name="Oval 26"/>
          <p:cNvSpPr/>
          <p:nvPr/>
        </p:nvSpPr>
        <p:spPr>
          <a:xfrm>
            <a:off x="6748272" y="3566160"/>
            <a:ext cx="484632" cy="484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57416" y="3584448"/>
            <a:ext cx="457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8090D"/>
                </a:solidFill>
                <a:latin typeface="Noto Sans CJK S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7" y="3547872"/>
            <a:ext cx="9875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511296"/>
            <a:ext cx="2962656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手指驱动转头、挥袖与举手等动作。</a:t>
            </a:r>
          </a:p>
        </p:txBody>
      </p:sp>
      <p:sp>
        <p:nvSpPr>
          <p:cNvPr id="31" name="Oval 30"/>
          <p:cNvSpPr/>
          <p:nvPr/>
        </p:nvSpPr>
        <p:spPr>
          <a:xfrm>
            <a:off x="6748272" y="4599431"/>
            <a:ext cx="484632" cy="48463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57416" y="4617719"/>
            <a:ext cx="457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8090D"/>
                </a:solidFill>
                <a:latin typeface="Noto Sans CJK S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4927" y="4581144"/>
            <a:ext cx="9875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转译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544568"/>
            <a:ext cx="2962656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IP 保留冠帽、脸谱与衣纹，展示为完整角色。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17336"/>
            <a:ext cx="1078992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本项目是泉州城市文创概念设计；角色插画不指代具体传统剧目或馆藏戏偶。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选题介绍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06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81912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项目背景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城市文化与文旅体验不断融合，传统戏曲需要更鲜明、轻盈的视觉入口，让初次接触的观众愿意驻足与了解。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581912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9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设计说明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提取木偶的冠帽、脸谱、衣饰和表演姿态，转化为五位可辨认的国潮角色，并延展到日常文创载体。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581912"/>
            <a:ext cx="411480" cy="54864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08792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E46A"/>
                </a:solidFill>
                <a:latin typeface="Noto Sans CJK SC"/>
              </a:rPr>
              <a:t>设计理念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以“五角成戏”为核心，让收藏、使用和分享成为走近掌中戏文化的连续体验。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8256" y="5833872"/>
            <a:ext cx="8110727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文化识别 → 角色共鸣 → 场景使用 → 自发传播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受众人群与使用场景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目标人群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07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泉州游客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希望带走轻便、具有地方辨识度的纪念品。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场景：景区、博物馆、古城街巷。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09344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青年与亲子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偏好角色故事、成套收藏和互动体验。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场景：研学课堂、社交分享、礼赠。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1609344"/>
            <a:ext cx="41148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064FF"/>
                </a:solidFill>
                <a:latin typeface="Noto Sans CJK SC"/>
              </a:rPr>
              <a:t>文旅机构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需要能够代表在地文化、方便陈列与传播的系列礼品。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场景：展演活动、城市礼物、公共教育。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5989320"/>
            <a:ext cx="90525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接触戏偶 → 认识行当 → 收集角色 → 分享泉州故事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参考风格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风格定位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353312"/>
            <a:ext cx="649224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8F6F6"/>
                </a:solidFill>
                <a:latin typeface="Noto Sans CJK SC"/>
              </a:rPr>
              <a:t>统一新中式国潮风格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886968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高饱和撞色 · 扁平插画 · 戏台层次 · 纹样点缀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2660904"/>
            <a:ext cx="11228832" cy="33284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369034"/>
            <a:ext cx="1737360" cy="16286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3232831"/>
            <a:ext cx="1737360" cy="19010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35224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381879"/>
            <a:ext cx="1737360" cy="160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8072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7" name="Picture 16" descr="ip_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3157374"/>
            <a:ext cx="1737360" cy="205201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60920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19" name="Picture 18" descr="ip_ch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3767" y="3140964"/>
            <a:ext cx="1737360" cy="208483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73767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灵感创意来源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元素提取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09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9114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21291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838" y="2466978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385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563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385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5838" y="2140427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21291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0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29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431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4708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冠帽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角色身份的第一眼线索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38394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90571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75118" y="2466978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59665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11843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665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75118" y="2140427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90571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9618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5957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359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脸谱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净角的性格张力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7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09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69114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1291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838" y="4698114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90385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2563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0385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5838" y="4371563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1291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690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029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3431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4708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衣纹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4708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闽南戏曲的装饰节奏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0488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3737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938394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90571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75118" y="4698114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59665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611843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59665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75118" y="4371563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890571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79618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65957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59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1636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戏台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框景与层叠的表演空间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6144768"/>
            <a:ext cx="93268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不是复制传统戏偶，而是将其可识别的视觉语言转化为当代设计。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CHARACTER SYSTEM · COLOR · ORNAMENT</a:t>
            </a:r>
          </a:p>
        </p:txBody>
      </p:sp>
      <p:pic>
        <p:nvPicPr>
          <p:cNvPr id="6" name="Picture 5" descr="ip_j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761831"/>
            <a:ext cx="2340864" cy="215983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核心主体视觉元素设计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11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271016"/>
            <a:ext cx="3465576" cy="50292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42593"/>
            <a:ext cx="3218688" cy="3017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7" y="5239512"/>
            <a:ext cx="2843784" cy="484632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5303520"/>
            <a:ext cx="28163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8090D"/>
                </a:solidFill>
                <a:latin typeface="Noto Sans CJK SC"/>
              </a:rPr>
              <a:t>生  SHENG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907024"/>
            <a:ext cx="306324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文雅机敏，启幕引戏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271016"/>
            <a:ext cx="3465576" cy="50292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5" y="1590259"/>
            <a:ext cx="3218688" cy="3522033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45736" y="5239512"/>
            <a:ext cx="2843784" cy="484632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5303520"/>
            <a:ext cx="28163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8090D"/>
                </a:solidFill>
                <a:latin typeface="Noto Sans CJK SC"/>
              </a:rPr>
              <a:t>旦  DAN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5907024"/>
            <a:ext cx="306324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柔美灵动，以情动人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9327" y="1271016"/>
            <a:ext cx="3465576" cy="50292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1866391"/>
            <a:ext cx="3218688" cy="296976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50224" y="5239512"/>
            <a:ext cx="2843784" cy="484632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7" y="5303520"/>
            <a:ext cx="28163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8090D"/>
                </a:solidFill>
                <a:latin typeface="Noto Sans CJK SC"/>
              </a:rPr>
              <a:t>净  JING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8784" y="5907024"/>
            <a:ext cx="306324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浓墨重彩，气势如虹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核心主体视觉元素设计（续）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12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1" y="1289304"/>
            <a:ext cx="4617720" cy="50109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p_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983" y="1426464"/>
            <a:ext cx="3290296" cy="3886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792224" y="5276088"/>
            <a:ext cx="3090672" cy="475488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10512" y="5321808"/>
            <a:ext cx="3054096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8090D"/>
                </a:solidFill>
                <a:latin typeface="Noto Sans CJK SC"/>
              </a:rPr>
              <a:t>末 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3" y="5916168"/>
            <a:ext cx="393192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沉稳慈和，阅尽世情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65392" y="1289304"/>
            <a:ext cx="4617720" cy="50109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p_ch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001" y="1426464"/>
            <a:ext cx="3238500" cy="3886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24344" y="5276088"/>
            <a:ext cx="3090672" cy="475488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2631" y="5321808"/>
            <a:ext cx="3054096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8090D"/>
                </a:solidFill>
                <a:latin typeface="Noto Sans CJK SC"/>
              </a:rPr>
              <a:t>丑  CHOU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5916168"/>
            <a:ext cx="393192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诙谐俏皮，点亮戏台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色彩搭配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角色色谱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13 /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563624"/>
            <a:ext cx="1188720" cy="327355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#FF4B9E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胭脂粉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2808" y="1563624"/>
            <a:ext cx="1188720" cy="327355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28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#4CE3D0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海丝青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563624"/>
            <a:ext cx="1188720" cy="3273552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#FFE46A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戏台金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27448" y="1563624"/>
            <a:ext cx="1188720" cy="3273552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#A064FF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华彩紫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563624"/>
            <a:ext cx="1188720" cy="3273552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#58A9FF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靛蓝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563624"/>
            <a:ext cx="1188720" cy="3273552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#FF954C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朱橘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9408" y="1563624"/>
            <a:ext cx="1188720" cy="3273552"/>
          </a:xfrm>
          <a:prstGeom prst="rect">
            <a:avLst/>
          </a:prstGeom>
          <a:solidFill>
            <a:srgbClr val="F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94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#F8F6F6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纸白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96728" y="1563624"/>
            <a:ext cx="1188720" cy="3273552"/>
          </a:xfrm>
          <a:prstGeom prst="rect">
            <a:avLst/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67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#14151E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967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幕黑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044184"/>
            <a:ext cx="10762488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从戏服与脸谱提取高饱和色彩，以黑色戏幕衬托角色；色彩随角色切换，系统保持统一。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辅助图形设计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纹样系统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234440"/>
            <a:ext cx="10680192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五角五纹 · 只从五位人物的衣服图案提取</a:t>
            </a:r>
          </a:p>
        </p:txBody>
      </p:sp>
      <p:sp>
        <p:nvSpPr>
          <p:cNvPr id="9" name="Oval 8"/>
          <p:cNvSpPr/>
          <p:nvPr/>
        </p:nvSpPr>
        <p:spPr>
          <a:xfrm>
            <a:off x="770930" y="2828330"/>
            <a:ext cx="1466514" cy="1466514"/>
          </a:xfrm>
          <a:prstGeom prst="ellipse">
            <a:avLst/>
          </a:prstGeom>
          <a:solidFill>
            <a:srgbClr val="4CE3D0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6242" y="3356275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18217" y="3128966"/>
            <a:ext cx="571940" cy="57194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06844" y="3356275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6231" y="3488262"/>
            <a:ext cx="249307" cy="249307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42871" y="3304947"/>
            <a:ext cx="322633" cy="322633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02167" y="3488262"/>
            <a:ext cx="249307" cy="249307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78898" y="3810895"/>
            <a:ext cx="850578" cy="65993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青衣云纹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生</a:t>
            </a:r>
          </a:p>
        </p:txBody>
      </p:sp>
      <p:sp>
        <p:nvSpPr>
          <p:cNvPr id="19" name="Oval 18"/>
          <p:cNvSpPr/>
          <p:nvPr/>
        </p:nvSpPr>
        <p:spPr>
          <a:xfrm>
            <a:off x="3111794" y="2828330"/>
            <a:ext cx="1466514" cy="1466514"/>
          </a:xfrm>
          <a:prstGeom prst="ellipse">
            <a:avLst/>
          </a:prstGeom>
          <a:solidFill>
            <a:srgbClr val="FF4B9E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5074" y="3033642"/>
            <a:ext cx="439954" cy="43995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17969" y="3246443"/>
            <a:ext cx="439954" cy="43995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06093" y="3590762"/>
            <a:ext cx="439954" cy="43995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44055" y="3590762"/>
            <a:ext cx="439954" cy="43995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32179" y="3246443"/>
            <a:ext cx="439954" cy="43995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83735" y="3400271"/>
            <a:ext cx="322633" cy="322633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0632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粉袖花纹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4952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旦</a:t>
            </a:r>
          </a:p>
        </p:txBody>
      </p:sp>
      <p:sp>
        <p:nvSpPr>
          <p:cNvPr id="28" name="Oval 27"/>
          <p:cNvSpPr/>
          <p:nvPr/>
        </p:nvSpPr>
        <p:spPr>
          <a:xfrm>
            <a:off x="5452658" y="2828330"/>
            <a:ext cx="1466514" cy="1466514"/>
          </a:xfrm>
          <a:prstGeom prst="ellipse">
            <a:avLst/>
          </a:prstGeom>
          <a:solidFill>
            <a:srgbClr val="A064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57970" y="3356275"/>
            <a:ext cx="439954" cy="43995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99945" y="3128966"/>
            <a:ext cx="571940" cy="571940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88572" y="3356275"/>
            <a:ext cx="439954" cy="43995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67959" y="3488262"/>
            <a:ext cx="249307" cy="249307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24599" y="3304947"/>
            <a:ext cx="322633" cy="32263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83895" y="3488262"/>
            <a:ext cx="249307" cy="249307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626" y="3810895"/>
            <a:ext cx="850578" cy="65993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496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紫袍云纹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5816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净</a:t>
            </a:r>
          </a:p>
        </p:txBody>
      </p:sp>
      <p:sp>
        <p:nvSpPr>
          <p:cNvPr id="38" name="Oval 37"/>
          <p:cNvSpPr/>
          <p:nvPr/>
        </p:nvSpPr>
        <p:spPr>
          <a:xfrm>
            <a:off x="7793522" y="2828330"/>
            <a:ext cx="1466514" cy="1466514"/>
          </a:xfrm>
          <a:prstGeom prst="ellipse">
            <a:avLst/>
          </a:prstGeom>
          <a:solidFill>
            <a:srgbClr val="58A9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98834" y="3356275"/>
            <a:ext cx="439954" cy="43995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40809" y="3128966"/>
            <a:ext cx="571940" cy="571940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29436" y="3356275"/>
            <a:ext cx="439954" cy="43995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08823" y="3488262"/>
            <a:ext cx="249307" cy="249307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65463" y="3304947"/>
            <a:ext cx="322633" cy="322633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24759" y="3488262"/>
            <a:ext cx="249307" cy="249307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01490" y="3810895"/>
            <a:ext cx="850578" cy="65993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52359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蓝袍云浪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末</a:t>
            </a:r>
          </a:p>
        </p:txBody>
      </p:sp>
      <p:sp>
        <p:nvSpPr>
          <p:cNvPr id="48" name="Oval 47"/>
          <p:cNvSpPr/>
          <p:nvPr/>
        </p:nvSpPr>
        <p:spPr>
          <a:xfrm>
            <a:off x="10134386" y="2828330"/>
            <a:ext cx="1466514" cy="1466514"/>
          </a:xfrm>
          <a:prstGeom prst="ellipse">
            <a:avLst/>
          </a:prstGeom>
          <a:solidFill>
            <a:srgbClr val="51B85C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47666" y="3033642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40561" y="3246443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28685" y="3590762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66647" y="3590762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354771" y="3246443"/>
            <a:ext cx="439954" cy="4399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06327" y="3400271"/>
            <a:ext cx="322633" cy="322633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93224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绿衣团花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67544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纹样可独立用于印章、挂件、香囊与包装，也可与人物形象组合。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衣纹提取过程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图形推导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179576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4B9E"/>
                </a:solidFill>
                <a:latin typeface="Noto Sans CJK SC"/>
              </a:rPr>
              <a:t>从衣服局部到可复用的辅助图形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196596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F6F6"/>
                </a:solidFill>
                <a:latin typeface="Noto Sans CJK SC"/>
              </a:rPr>
              <a:t>原服饰局部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10512"/>
            <a:ext cx="182880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F6F6"/>
                </a:solidFill>
                <a:latin typeface="Noto Sans CJK SC"/>
              </a:rPr>
              <a:t>提炼动作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8" y="1810512"/>
            <a:ext cx="201168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F6F6"/>
                </a:solidFill>
                <a:latin typeface="Noto Sans CJK SC"/>
              </a:rPr>
              <a:t>辅助图形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2221992"/>
            <a:ext cx="10972800" cy="6675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8952" y="2286000"/>
            <a:ext cx="1170432" cy="539496"/>
          </a:xfrm>
          <a:prstGeom prst="roundRect">
            <a:avLst>
              <a:gd name="adj" fmla="val 9000"/>
            </a:avLst>
          </a:prstGeom>
          <a:solidFill>
            <a:srgbClr val="22232B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p_sheng.png"/>
          <p:cNvPicPr>
            <a:picLocks noChangeAspect="1"/>
          </p:cNvPicPr>
          <p:nvPr/>
        </p:nvPicPr>
        <p:blipFill>
          <a:blip r:embed="rId2"/>
          <a:srcRect l="30888" t="73723" r="38996" b="8979"/>
          <a:stretch>
            <a:fillRect/>
          </a:stretch>
        </p:blipFill>
        <p:spPr>
          <a:xfrm>
            <a:off x="768096" y="2290572"/>
            <a:ext cx="1143000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84831" y="2377440"/>
            <a:ext cx="3931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2340864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340864"/>
            <a:ext cx="317296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保留金色三瓣云头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2340864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7701351" y="2347539"/>
            <a:ext cx="416417" cy="416417"/>
          </a:xfrm>
          <a:prstGeom prst="ellipse">
            <a:avLst/>
          </a:prstGeom>
          <a:solidFill>
            <a:srgbClr val="4CE3D0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59649" y="2497449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28358" y="2432904"/>
            <a:ext cx="162402" cy="16240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38709" y="2497449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90880" y="2534927"/>
            <a:ext cx="70791" cy="7079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63754" y="2482874"/>
            <a:ext cx="91611" cy="9161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65776" y="2534927"/>
            <a:ext cx="70791" cy="7079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88798" y="2626539"/>
            <a:ext cx="241522" cy="1873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2359152"/>
            <a:ext cx="2542032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CE3D0"/>
                </a:solidFill>
                <a:latin typeface="Noto Sans CJK SC"/>
              </a:rPr>
              <a:t>青衣云纹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2944368"/>
            <a:ext cx="10972800" cy="6675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952" y="3008376"/>
            <a:ext cx="1170432" cy="539496"/>
          </a:xfrm>
          <a:prstGeom prst="roundRect">
            <a:avLst>
              <a:gd name="adj" fmla="val 9000"/>
            </a:avLst>
          </a:prstGeom>
          <a:solidFill>
            <a:srgbClr val="22232B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p_dan.png"/>
          <p:cNvPicPr>
            <a:picLocks noChangeAspect="1"/>
          </p:cNvPicPr>
          <p:nvPr/>
        </p:nvPicPr>
        <p:blipFill>
          <a:blip r:embed="rId3"/>
          <a:srcRect l="32944" t="55259" r="49541" b="31402"/>
          <a:stretch>
            <a:fillRect/>
          </a:stretch>
        </p:blipFill>
        <p:spPr>
          <a:xfrm>
            <a:off x="768096" y="3012948"/>
            <a:ext cx="1143000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84831" y="3099816"/>
            <a:ext cx="3931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824" y="3063240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063240"/>
            <a:ext cx="317296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提炼五瓣花心与瓣形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12864" y="3063240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35" name="Oval 34"/>
          <p:cNvSpPr/>
          <p:nvPr/>
        </p:nvSpPr>
        <p:spPr>
          <a:xfrm>
            <a:off x="7701351" y="3069915"/>
            <a:ext cx="416417" cy="416417"/>
          </a:xfrm>
          <a:prstGeom prst="ellipse">
            <a:avLst/>
          </a:prstGeom>
          <a:solidFill>
            <a:srgbClr val="FF4B9E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47097" y="3128213"/>
            <a:ext cx="124925" cy="124925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30265" y="3188638"/>
            <a:ext cx="124925" cy="124925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98497" y="3286408"/>
            <a:ext cx="124925" cy="124925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95696" y="3286408"/>
            <a:ext cx="124925" cy="124925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63929" y="3188638"/>
            <a:ext cx="124925" cy="124925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63754" y="3232318"/>
            <a:ext cx="91611" cy="91611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0224" y="3081528"/>
            <a:ext cx="2542032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4B9E"/>
                </a:solidFill>
                <a:latin typeface="Noto Sans CJK SC"/>
              </a:rPr>
              <a:t>粉袖花纹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" y="3666744"/>
            <a:ext cx="10972800" cy="6675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" y="3730752"/>
            <a:ext cx="1170432" cy="539496"/>
          </a:xfrm>
          <a:prstGeom prst="roundRect">
            <a:avLst>
              <a:gd name="adj" fmla="val 9000"/>
            </a:avLst>
          </a:prstGeom>
          <a:solidFill>
            <a:srgbClr val="22232B"/>
          </a:solidFill>
          <a:ln w="127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p_jing.png"/>
          <p:cNvPicPr>
            <a:picLocks noChangeAspect="1"/>
          </p:cNvPicPr>
          <p:nvPr/>
        </p:nvPicPr>
        <p:blipFill>
          <a:blip r:embed="rId4"/>
          <a:srcRect l="40199" t="70954" r="39127" b="9959"/>
          <a:stretch>
            <a:fillRect/>
          </a:stretch>
        </p:blipFill>
        <p:spPr>
          <a:xfrm>
            <a:off x="768096" y="3735324"/>
            <a:ext cx="1143000" cy="5303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084831" y="3822191"/>
            <a:ext cx="3931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3824" y="3785615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94176" y="3785615"/>
            <a:ext cx="317296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简化裙甲上的团云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3785615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50" name="Oval 49"/>
          <p:cNvSpPr/>
          <p:nvPr/>
        </p:nvSpPr>
        <p:spPr>
          <a:xfrm>
            <a:off x="7701351" y="3792291"/>
            <a:ext cx="416417" cy="416417"/>
          </a:xfrm>
          <a:prstGeom prst="ellipse">
            <a:avLst/>
          </a:prstGeom>
          <a:solidFill>
            <a:srgbClr val="A064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759649" y="3942201"/>
            <a:ext cx="124925" cy="124925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28358" y="3877656"/>
            <a:ext cx="162402" cy="162402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38709" y="3942201"/>
            <a:ext cx="124925" cy="124925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790880" y="3979679"/>
            <a:ext cx="70791" cy="7079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63754" y="3927626"/>
            <a:ext cx="91611" cy="9161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965776" y="3979679"/>
            <a:ext cx="70791" cy="7079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88798" y="4071291"/>
            <a:ext cx="241522" cy="18738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50224" y="3803904"/>
            <a:ext cx="2542032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954C"/>
                </a:solidFill>
                <a:latin typeface="Noto Sans CJK SC"/>
              </a:rPr>
              <a:t>紫袍云纹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389120"/>
            <a:ext cx="10972800" cy="6675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58952" y="4453128"/>
            <a:ext cx="1170432" cy="539496"/>
          </a:xfrm>
          <a:prstGeom prst="roundRect">
            <a:avLst>
              <a:gd name="adj" fmla="val 9000"/>
            </a:avLst>
          </a:prstGeom>
          <a:solidFill>
            <a:srgbClr val="22232B"/>
          </a:solidFill>
          <a:ln w="1270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p_mo.png"/>
          <p:cNvPicPr>
            <a:picLocks noChangeAspect="1"/>
          </p:cNvPicPr>
          <p:nvPr/>
        </p:nvPicPr>
        <p:blipFill>
          <a:blip r:embed="rId5"/>
          <a:srcRect l="23397" t="73368" r="51473" b="13059"/>
          <a:stretch>
            <a:fillRect/>
          </a:stretch>
        </p:blipFill>
        <p:spPr>
          <a:xfrm>
            <a:off x="768096" y="4457700"/>
            <a:ext cx="1143000" cy="53035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084831" y="4544568"/>
            <a:ext cx="3931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63824" y="4507992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4176" y="4507992"/>
            <a:ext cx="317296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抽取下摆云浪曲线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12864" y="4507992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66" name="Oval 65"/>
          <p:cNvSpPr/>
          <p:nvPr/>
        </p:nvSpPr>
        <p:spPr>
          <a:xfrm>
            <a:off x="7701351" y="4514667"/>
            <a:ext cx="416417" cy="416417"/>
          </a:xfrm>
          <a:prstGeom prst="ellipse">
            <a:avLst/>
          </a:prstGeom>
          <a:solidFill>
            <a:srgbClr val="58A9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759649" y="4664577"/>
            <a:ext cx="124925" cy="1249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828358" y="4600032"/>
            <a:ext cx="162402" cy="16240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938709" y="4664577"/>
            <a:ext cx="124925" cy="1249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790880" y="4702055"/>
            <a:ext cx="70791" cy="70791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863754" y="4650002"/>
            <a:ext cx="91611" cy="91611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965776" y="4702055"/>
            <a:ext cx="70791" cy="70791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88798" y="4793667"/>
            <a:ext cx="241522" cy="1873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50224" y="4526280"/>
            <a:ext cx="2542032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9FF"/>
                </a:solidFill>
                <a:latin typeface="Noto Sans CJK SC"/>
              </a:rPr>
              <a:t>蓝袍云浪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3504" y="5111496"/>
            <a:ext cx="10972800" cy="66751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58952" y="5175504"/>
            <a:ext cx="1170432" cy="539496"/>
          </a:xfrm>
          <a:prstGeom prst="roundRect">
            <a:avLst>
              <a:gd name="adj" fmla="val 9000"/>
            </a:avLst>
          </a:prstGeom>
          <a:solidFill>
            <a:srgbClr val="22232B"/>
          </a:solidFill>
          <a:ln w="127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p_chou.png"/>
          <p:cNvPicPr>
            <a:picLocks noChangeAspect="1"/>
          </p:cNvPicPr>
          <p:nvPr/>
        </p:nvPicPr>
        <p:blipFill>
          <a:blip r:embed="rId6"/>
          <a:srcRect l="26638" t="47671" r="58515" b="39592"/>
          <a:stretch>
            <a:fillRect/>
          </a:stretch>
        </p:blipFill>
        <p:spPr>
          <a:xfrm>
            <a:off x="768096" y="5180076"/>
            <a:ext cx="1143000" cy="53035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084831" y="5266944"/>
            <a:ext cx="3931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63824" y="5230368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94176" y="5230368"/>
            <a:ext cx="3172968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保留绿衣上的五瓣花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12864" y="5230368"/>
            <a:ext cx="45720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→</a:t>
            </a:r>
          </a:p>
        </p:txBody>
      </p:sp>
      <p:sp>
        <p:nvSpPr>
          <p:cNvPr id="82" name="Oval 81"/>
          <p:cNvSpPr/>
          <p:nvPr/>
        </p:nvSpPr>
        <p:spPr>
          <a:xfrm>
            <a:off x="7701351" y="5237043"/>
            <a:ext cx="416417" cy="416417"/>
          </a:xfrm>
          <a:prstGeom prst="ellipse">
            <a:avLst/>
          </a:prstGeom>
          <a:solidFill>
            <a:srgbClr val="51B85C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847097" y="5295341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30265" y="5355766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98497" y="5453536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795696" y="5453536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763929" y="5355766"/>
            <a:ext cx="124925" cy="1249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863754" y="5399446"/>
            <a:ext cx="91611" cy="91611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50224" y="5248656"/>
            <a:ext cx="2542032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E46A"/>
                </a:solidFill>
                <a:latin typeface="Noto Sans CJK SC"/>
              </a:rPr>
              <a:t>绿衣团花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7512" y="6071616"/>
            <a:ext cx="1090879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取形、简线、统一边框；不使用扇面竹叶、头饰或手持道具作为衣纹来源。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辅助元素展示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版式语言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16 /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" y="1481328"/>
            <a:ext cx="352044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1481328"/>
            <a:ext cx="480060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81328"/>
            <a:ext cx="2715768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172968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880360"/>
            <a:ext cx="3200400" cy="6492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2144" y="3831336"/>
            <a:ext cx="2176272" cy="6400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_quanzhou_city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528316"/>
            <a:ext cx="4663440" cy="15544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573768" y="2103120"/>
            <a:ext cx="1563624" cy="1563624"/>
          </a:xfrm>
          <a:prstGeom prst="rect">
            <a:avLst/>
          </a:prstGeom>
          <a:solidFill>
            <a:srgbClr val="08090D"/>
          </a:solidFill>
          <a:ln w="29209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10928" y="2240280"/>
            <a:ext cx="1289304" cy="1289304"/>
          </a:xfrm>
          <a:prstGeom prst="rect">
            <a:avLst/>
          </a:prstGeom>
          <a:solidFill>
            <a:srgbClr val="08090D"/>
          </a:solidFill>
          <a:ln w="1397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2459736"/>
            <a:ext cx="1088136" cy="9052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泉州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布袋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主标题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泉州城市插画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篆刻印章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6053328"/>
            <a:ext cx="10908792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字体与标识保持可编辑；城市插画融合东西塔、红砖古厝、海丝帆船与戏台。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CHARACTER TO EVERYDAY OBJECT</a:t>
            </a:r>
          </a:p>
        </p:txBody>
      </p:sp>
      <p:pic>
        <p:nvPicPr>
          <p:cNvPr id="6" name="Picture 5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744524"/>
            <a:ext cx="2340864" cy="219444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产品延展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文创矩阵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18 /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纸品系列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书签 / 明信片 / 邮票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轻便收藏，传递角色故事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随身系列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钥匙扣 / 香囊 / 帆布袋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让戏偶融入日常出行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收藏系列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角色摆件 / 盲盒包装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建立五角成套的收藏体验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展陈系列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角色立牌 / 展板 / 礼盒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适用于文旅空间与研学活动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角色书签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19 / 35</a:t>
            </a:r>
          </a:p>
        </p:txBody>
      </p:sp>
      <p:pic>
        <p:nvPicPr>
          <p:cNvPr id="8" name="Picture 7" descr="03_full_book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084" y="1344168"/>
            <a:ext cx="8383638" cy="4718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" y="6062472"/>
            <a:ext cx="107442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一角一签：完整人物与衣饰纹样组合成系列纸品，可独立收藏，也可成套陈列。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香囊设计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20 / 35</a:t>
            </a:r>
          </a:p>
        </p:txBody>
      </p:sp>
      <p:pic>
        <p:nvPicPr>
          <p:cNvPr id="8" name="Picture 7" descr="09_costume_sachets.png"/>
          <p:cNvPicPr>
            <a:picLocks noChangeAspect="1"/>
          </p:cNvPicPr>
          <p:nvPr/>
        </p:nvPicPr>
        <p:blipFill>
          <a:blip r:embed="rId2"/>
          <a:srcRect t="12000" b="16000"/>
          <a:stretch>
            <a:fillRect/>
          </a:stretch>
        </p:blipFill>
        <p:spPr>
          <a:xfrm>
            <a:off x="603504" y="1463040"/>
            <a:ext cx="10972800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952744"/>
            <a:ext cx="1036015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香囊展示五角色系列配色；量产图形以衣纹提取页的五款辅助图形为准。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邮票设计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21 / 35</a:t>
            </a:r>
          </a:p>
        </p:txBody>
      </p:sp>
      <p:pic>
        <p:nvPicPr>
          <p:cNvPr id="8" name="Picture 7" descr="08_full_sta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171" y="1344168"/>
            <a:ext cx="8334896" cy="469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062472"/>
            <a:ext cx="1038758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五枚邮票均保留人物从冠帽到鞋履的完整形象，并以衣饰纹样作边框。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桌面角色摆件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收藏系列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22 / 35</a:t>
            </a:r>
          </a:p>
        </p:txBody>
      </p:sp>
      <p:pic>
        <p:nvPicPr>
          <p:cNvPr id="8" name="Picture 7" descr="05_figur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869" y="1280160"/>
            <a:ext cx="9049780" cy="5093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6181344"/>
            <a:ext cx="9665208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五角成套收藏，底座延续各角色的专属辅助纹样。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角色钥匙扣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23 / 35</a:t>
            </a:r>
          </a:p>
        </p:txBody>
      </p:sp>
      <p:pic>
        <p:nvPicPr>
          <p:cNvPr id="8" name="Picture 7" descr="04_full_keych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228" y="1344168"/>
            <a:ext cx="8383638" cy="4718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6053328"/>
            <a:ext cx="107899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完整人物挂件配套衣饰纹样小牌与流苏，适合单件购买或成套礼赠。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帆布袋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24 / 35</a:t>
            </a:r>
          </a:p>
        </p:txBody>
      </p:sp>
      <p:pic>
        <p:nvPicPr>
          <p:cNvPr id="8" name="Picture 7" descr="06_full_tote_b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475" y="1307592"/>
            <a:ext cx="8351144" cy="4700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044184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五款帆布袋完整呈现人物，从帽饰、衣袖到鞋履均保留在图案内。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随身镜与系列礼盒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礼赠系列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25 / 35</a:t>
            </a:r>
          </a:p>
        </p:txBody>
      </p:sp>
      <p:pic>
        <p:nvPicPr>
          <p:cNvPr id="8" name="Picture 7" descr="10_costume_mirrors.png"/>
          <p:cNvPicPr>
            <a:picLocks noChangeAspect="1"/>
          </p:cNvPicPr>
          <p:nvPr/>
        </p:nvPicPr>
        <p:blipFill>
          <a:blip r:embed="rId2"/>
          <a:srcRect t="14000" b="20000"/>
          <a:stretch>
            <a:fillRect/>
          </a:stretch>
        </p:blipFill>
        <p:spPr>
          <a:xfrm>
            <a:off x="585216" y="1572768"/>
            <a:ext cx="10972800" cy="40782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33872"/>
            <a:ext cx="10753344" cy="4663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随身镜外壳使用五款衣饰辅助纹样；可与书签、挂件组合为「五角成戏」礼盒。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617220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概念效果图 · 实物图案以衣纹提取规范为准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重点文创打样规范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工艺方案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225296"/>
            <a:ext cx="10808208" cy="4663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4B9E"/>
                </a:solidFill>
                <a:latin typeface="Noto Sans CJK SC"/>
              </a:rPr>
              <a:t>从效果图进入打样：先确认尺寸、材质与图案边界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01952"/>
            <a:ext cx="5376672" cy="4224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778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148840"/>
            <a:ext cx="4855464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CE3D0"/>
                </a:solidFill>
                <a:latin typeface="Noto Sans CJK SC"/>
              </a:rPr>
              <a:t>角色书签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34640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建议尺寸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807208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55 × 160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54787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材料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3520440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350 g 铜版卡 / 哑膜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26110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制作工艺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4233672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四色印刷、圆角、4 mm 穿孔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97433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打样检查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946903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人物完整留边 ≥ 5 mm；检查挂绳与孔位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901952"/>
            <a:ext cx="5376672" cy="4224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778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2148840"/>
            <a:ext cx="4855464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4B9E"/>
                </a:solidFill>
                <a:latin typeface="Noto Sans CJK SC"/>
              </a:rPr>
              <a:t>衣纹香囊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建议尺寸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2807208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85 × 110 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4787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3520440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棉布外袋 / 独立内袋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6110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制作工艺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6096" y="4233672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数码印花、车缝、抽绳封口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7433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A6AF"/>
                </a:solidFill>
                <a:latin typeface="Noto Sans CJK SC"/>
              </a:rPr>
              <a:t>打样检查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6096" y="4946903"/>
            <a:ext cx="3648456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衣纹居中；先做洗涤与色牢度样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6291072"/>
            <a:ext cx="1065276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以上为设计规格建议，尚未取得供应商报价或实物打样；产品页为效果图。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空间展示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27 /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709928"/>
            <a:ext cx="310896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文化溯源</a:t>
            </a:r>
          </a:p>
        </p:txBody>
      </p:sp>
      <p:pic>
        <p:nvPicPr>
          <p:cNvPr id="11" name="Picture 10" descr="02_quanzhou_city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731008"/>
            <a:ext cx="3200400" cy="1066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4133087"/>
            <a:ext cx="29443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指尖之间，山海入戏</a:t>
            </a:r>
          </a:p>
        </p:txBody>
      </p:sp>
      <p:pic>
        <p:nvPicPr>
          <p:cNvPr id="13" name="Picture 12" descr="ip_she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1" y="4608576"/>
            <a:ext cx="1375328" cy="12893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52544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1709928"/>
            <a:ext cx="310896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五角成戏</a:t>
            </a:r>
          </a:p>
        </p:txBody>
      </p:sp>
      <p:pic>
        <p:nvPicPr>
          <p:cNvPr id="17" name="Picture 16" descr="ip_she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366721"/>
            <a:ext cx="640080" cy="600044"/>
          </a:xfrm>
          <a:prstGeom prst="rect">
            <a:avLst/>
          </a:prstGeom>
        </p:spPr>
      </p:pic>
      <p:pic>
        <p:nvPicPr>
          <p:cNvPr id="18" name="Picture 17" descr="ip_d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316541"/>
            <a:ext cx="640080" cy="700404"/>
          </a:xfrm>
          <a:prstGeom prst="rect">
            <a:avLst/>
          </a:prstGeom>
        </p:spPr>
      </p:pic>
      <p:pic>
        <p:nvPicPr>
          <p:cNvPr id="19" name="Picture 18" descr="ip_j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371454"/>
            <a:ext cx="640080" cy="590579"/>
          </a:xfrm>
          <a:prstGeom prst="rect">
            <a:avLst/>
          </a:prstGeom>
        </p:spPr>
      </p:pic>
      <p:pic>
        <p:nvPicPr>
          <p:cNvPr id="20" name="Picture 19" descr="ip_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944" y="3288741"/>
            <a:ext cx="640080" cy="756004"/>
          </a:xfrm>
          <a:prstGeom prst="rect">
            <a:avLst/>
          </a:prstGeom>
        </p:spPr>
      </p:pic>
      <p:pic>
        <p:nvPicPr>
          <p:cNvPr id="21" name="Picture 20" descr="ip_cho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9168" y="3282696"/>
            <a:ext cx="640080" cy="768095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4622840" y="4897160"/>
            <a:ext cx="410382" cy="410382"/>
          </a:xfrm>
          <a:prstGeom prst="ellipse">
            <a:avLst/>
          </a:prstGeom>
          <a:solidFill>
            <a:srgbClr val="4CE3D0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80294" y="5044898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48007" y="4981289"/>
            <a:ext cx="160049" cy="16004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56758" y="5044898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11072" y="5081832"/>
            <a:ext cx="69765" cy="6976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82889" y="5030535"/>
            <a:ext cx="90284" cy="9028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83433" y="5081832"/>
            <a:ext cx="69765" cy="6976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09021" y="5172117"/>
            <a:ext cx="238021" cy="18467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53776" y="4897160"/>
            <a:ext cx="410382" cy="410382"/>
          </a:xfrm>
          <a:prstGeom prst="ellipse">
            <a:avLst/>
          </a:prstGeom>
          <a:solidFill>
            <a:srgbClr val="FF4B9E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97410" y="4954614"/>
            <a:ext cx="123114" cy="12311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479372" y="5014163"/>
            <a:ext cx="123114" cy="12311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48066" y="5110515"/>
            <a:ext cx="123114" cy="12311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46755" y="5110515"/>
            <a:ext cx="123114" cy="12311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315448" y="5014163"/>
            <a:ext cx="123114" cy="123114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13825" y="5057209"/>
            <a:ext cx="90284" cy="9028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884712" y="4897160"/>
            <a:ext cx="410382" cy="410382"/>
          </a:xfrm>
          <a:prstGeom prst="ellipse">
            <a:avLst/>
          </a:prstGeom>
          <a:solidFill>
            <a:srgbClr val="A064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42166" y="5044898"/>
            <a:ext cx="123114" cy="12311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9879" y="4981289"/>
            <a:ext cx="160049" cy="160049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18630" y="5044898"/>
            <a:ext cx="123114" cy="12311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72944" y="5081832"/>
            <a:ext cx="69765" cy="6976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44761" y="5030535"/>
            <a:ext cx="90284" cy="9028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45305" y="5081832"/>
            <a:ext cx="69765" cy="6976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70893" y="5172117"/>
            <a:ext cx="238021" cy="18467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15648" y="4897160"/>
            <a:ext cx="410382" cy="410382"/>
          </a:xfrm>
          <a:prstGeom prst="ellipse">
            <a:avLst/>
          </a:prstGeom>
          <a:solidFill>
            <a:srgbClr val="58A9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73102" y="5044898"/>
            <a:ext cx="123114" cy="12311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640815" y="4981289"/>
            <a:ext cx="160049" cy="160049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49566" y="5044898"/>
            <a:ext cx="123114" cy="12311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03880" y="5081832"/>
            <a:ext cx="69765" cy="69765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75697" y="5030535"/>
            <a:ext cx="90284" cy="90284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76241" y="5081832"/>
            <a:ext cx="69765" cy="69765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829" y="5172117"/>
            <a:ext cx="238021" cy="18467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46584" y="4897160"/>
            <a:ext cx="410382" cy="410382"/>
          </a:xfrm>
          <a:prstGeom prst="ellipse">
            <a:avLst/>
          </a:prstGeom>
          <a:solidFill>
            <a:srgbClr val="51B85C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290218" y="4954614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72180" y="5014163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40874" y="5110515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239563" y="5110515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208256" y="5014163"/>
            <a:ext cx="123114" cy="12311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06633" y="5057209"/>
            <a:ext cx="90284" cy="9028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08576" y="566928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人物 × 衣饰纹样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421624" y="1709928"/>
            <a:ext cx="310896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30768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064FF"/>
                </a:solidFill>
                <a:latin typeface="Noto Sans CJK SC"/>
              </a:rPr>
              <a:t>文创应用</a:t>
            </a:r>
          </a:p>
        </p:txBody>
      </p:sp>
      <p:pic>
        <p:nvPicPr>
          <p:cNvPr id="64" name="Picture 63" descr="03_full_bookmark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0908" y="2514600"/>
            <a:ext cx="2859535" cy="1609344"/>
          </a:xfrm>
          <a:prstGeom prst="rect">
            <a:avLst/>
          </a:prstGeom>
        </p:spPr>
      </p:pic>
      <p:pic>
        <p:nvPicPr>
          <p:cNvPr id="65" name="Picture 64" descr="09_costume_sache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9031" y="4123944"/>
            <a:ext cx="2843288" cy="16002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21624" y="5705856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从戏台走入生活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E46A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EXHIBITION · PRESENTATION · APPLICATION</a:t>
            </a:r>
          </a:p>
        </p:txBody>
      </p:sp>
      <p:pic>
        <p:nvPicPr>
          <p:cNvPr id="6" name="Picture 5" descr="ip_ch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437229"/>
            <a:ext cx="2340864" cy="28090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192256" cy="41148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713232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掌上乾坤  /  泉州布袋戏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197864"/>
            <a:ext cx="6665976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8F6F6"/>
                </a:solidFill>
                <a:latin typeface="Noto Sans CJK SC"/>
              </a:rPr>
              <a:t>掌中有戏，指尖传情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39696"/>
            <a:ext cx="4736592" cy="11795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8F6F6"/>
                </a:solidFill>
                <a:latin typeface="Noto Sans CJK SC"/>
              </a:rPr>
              <a:t>布袋木偶由偶头、织物衣身与双臂组成；艺人以手指驱动转头、挥袖和举手，让小戏台容纳鲜活的故事。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3758184"/>
            <a:ext cx="4443984" cy="4114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977639"/>
            <a:ext cx="15453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一只手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4389120"/>
            <a:ext cx="154533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操演动作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2576" y="3977639"/>
            <a:ext cx="15453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一方台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4389120"/>
            <a:ext cx="154533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凝聚故事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504" y="3977639"/>
            <a:ext cx="1545336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一座城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2504" y="4389120"/>
            <a:ext cx="154533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展开想象</a:t>
            </a:r>
          </a:p>
        </p:txBody>
      </p:sp>
      <p:pic>
        <p:nvPicPr>
          <p:cNvPr id="13" name="Picture 12" descr="02_quanzhou_city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2127504"/>
            <a:ext cx="6519672" cy="2173224"/>
          </a:xfrm>
          <a:prstGeom prst="rect">
            <a:avLst/>
          </a:prstGeom>
        </p:spPr>
      </p:pic>
      <p:pic>
        <p:nvPicPr>
          <p:cNvPr id="14" name="Picture 13" descr="ip_she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704" y="3767328"/>
            <a:ext cx="2701886" cy="25328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" y="5897880"/>
            <a:ext cx="7744968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E46A"/>
                </a:solidFill>
                <a:latin typeface="Noto Sans CJK SC"/>
              </a:rPr>
              <a:t>泉州城市意象：东西塔 · 红砖古厝 · 海丝帆船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6355080"/>
            <a:ext cx="7763256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7A6AF"/>
                </a:solidFill>
                <a:latin typeface="Noto Sans CJK SC"/>
              </a:rPr>
              <a:t>城市文创概念设计 · 非传统戏偶实物复原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192256" cy="4114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713232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掌上乾坤  /  五角成戏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152144"/>
            <a:ext cx="4443984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8F6F6"/>
                </a:solidFill>
                <a:latin typeface="Noto Sans CJK SC"/>
              </a:rPr>
              <a:t>一眼识五角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07224" y="1353312"/>
            <a:ext cx="4050791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生 · 旦 · 净 · 末 · 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965960"/>
            <a:ext cx="2221992" cy="41148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143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2353203"/>
            <a:ext cx="2148840" cy="2014433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114379" y="4744547"/>
            <a:ext cx="669889" cy="669889"/>
          </a:xfrm>
          <a:prstGeom prst="ellipse">
            <a:avLst/>
          </a:prstGeom>
          <a:solidFill>
            <a:srgbClr val="4CE3D0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08163" y="4985707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18695" y="4881874"/>
            <a:ext cx="261256" cy="26125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96216" y="4985707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58405" y="5045997"/>
            <a:ext cx="113881" cy="11388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75636" y="4962261"/>
            <a:ext cx="147375" cy="14737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39759" y="5045997"/>
            <a:ext cx="113881" cy="11388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55056" y="5193373"/>
            <a:ext cx="388535" cy="30145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5669280"/>
            <a:ext cx="125272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6624" y="1965960"/>
            <a:ext cx="2221992" cy="41148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143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184741"/>
            <a:ext cx="2148840" cy="2351357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3482675" y="4744547"/>
            <a:ext cx="669889" cy="669889"/>
          </a:xfrm>
          <a:prstGeom prst="ellipse">
            <a:avLst/>
          </a:prstGeom>
          <a:solidFill>
            <a:srgbClr val="FF4B9E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17136" y="4838331"/>
            <a:ext cx="200966" cy="200966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50928" y="4935537"/>
            <a:ext cx="200966" cy="200966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9824" y="5092818"/>
            <a:ext cx="200966" cy="200966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4448" y="5092818"/>
            <a:ext cx="200966" cy="200966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83345" y="4935537"/>
            <a:ext cx="200966" cy="200966"/>
          </a:xfrm>
          <a:prstGeom prst="ellipse">
            <a:avLst/>
          </a:prstGeom>
          <a:solidFill>
            <a:srgbClr val="FF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43932" y="5005804"/>
            <a:ext cx="147375" cy="14737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5669280"/>
            <a:ext cx="125272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74920" y="1965960"/>
            <a:ext cx="2221992" cy="41148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143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2369090"/>
            <a:ext cx="2148840" cy="1982658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5850971" y="4744547"/>
            <a:ext cx="669889" cy="669889"/>
          </a:xfrm>
          <a:prstGeom prst="ellipse">
            <a:avLst/>
          </a:prstGeom>
          <a:solidFill>
            <a:srgbClr val="A064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44755" y="4985707"/>
            <a:ext cx="200966" cy="200966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5287" y="4881874"/>
            <a:ext cx="261256" cy="261256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2808" y="4985707"/>
            <a:ext cx="200966" cy="200966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994997" y="5045997"/>
            <a:ext cx="113881" cy="11388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12228" y="4962261"/>
            <a:ext cx="147375" cy="14737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276351" y="5045997"/>
            <a:ext cx="113881" cy="11388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91648" y="5193373"/>
            <a:ext cx="388535" cy="30145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68696" y="5669280"/>
            <a:ext cx="125272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3215" y="1965960"/>
            <a:ext cx="2221992" cy="41148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1430">
            <a:solidFill>
              <a:srgbClr val="58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p_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1962" y="2093976"/>
            <a:ext cx="2144499" cy="2532888"/>
          </a:xfrm>
          <a:prstGeom prst="rect">
            <a:avLst/>
          </a:prstGeom>
        </p:spPr>
      </p:pic>
      <p:sp>
        <p:nvSpPr>
          <p:cNvPr id="40" name="Oval 39"/>
          <p:cNvSpPr/>
          <p:nvPr/>
        </p:nvSpPr>
        <p:spPr>
          <a:xfrm>
            <a:off x="8219267" y="4744547"/>
            <a:ext cx="669889" cy="669889"/>
          </a:xfrm>
          <a:prstGeom prst="ellipse">
            <a:avLst/>
          </a:prstGeom>
          <a:solidFill>
            <a:srgbClr val="58A9FF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13051" y="4985707"/>
            <a:ext cx="200966" cy="200966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23583" y="4881874"/>
            <a:ext cx="261256" cy="261256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01104" y="4985707"/>
            <a:ext cx="200966" cy="200966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63293" y="5045997"/>
            <a:ext cx="113881" cy="113881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80524" y="4962261"/>
            <a:ext cx="147375" cy="147375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644647" y="5045997"/>
            <a:ext cx="113881" cy="113881"/>
          </a:xfrm>
          <a:prstGeom prst="ellipse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59944" y="5193373"/>
            <a:ext cx="388535" cy="30145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36992" y="5669280"/>
            <a:ext cx="125272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11511" y="1965960"/>
            <a:ext cx="2221992" cy="4114800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143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p_ch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7137" y="2093976"/>
            <a:ext cx="2110740" cy="2532888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0587563" y="4744547"/>
            <a:ext cx="669889" cy="669889"/>
          </a:xfrm>
          <a:prstGeom prst="ellipse">
            <a:avLst/>
          </a:prstGeom>
          <a:solidFill>
            <a:srgbClr val="51B85C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822024" y="4838331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955816" y="4935537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904712" y="5092818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39336" y="5092818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688233" y="4935537"/>
            <a:ext cx="200966" cy="200966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848820" y="5005804"/>
            <a:ext cx="147375" cy="147375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05288" y="5669280"/>
            <a:ext cx="125272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345936"/>
            <a:ext cx="1102766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7A6AF"/>
                </a:solidFill>
                <a:latin typeface="Noto Sans CJK SC"/>
              </a:rPr>
              <a:t>五位人物均以完整形象展示；下方图形只从各自的衣服纹样提炼。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192256" cy="41148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713232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064FF"/>
                </a:solidFill>
                <a:latin typeface="Noto Sans CJK SC"/>
              </a:rPr>
              <a:t>掌上乾坤  /  文创应用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115568"/>
            <a:ext cx="5760720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8F6F6"/>
                </a:solidFill>
                <a:latin typeface="Noto Sans CJK SC"/>
              </a:rPr>
              <a:t>从舞台到日常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88352" y="1344168"/>
            <a:ext cx="41239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五角色系列文创 · 产品效果图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02536"/>
            <a:ext cx="5413248" cy="19842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full_book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886" y="2093976"/>
            <a:ext cx="2583330" cy="1453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" y="3602736"/>
            <a:ext cx="514807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书签与邮票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002536"/>
            <a:ext cx="5413248" cy="19842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costume_sach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022" y="2093976"/>
            <a:ext cx="2583330" cy="1453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3602736"/>
            <a:ext cx="514807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衣纹香囊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42231"/>
            <a:ext cx="5413248" cy="19842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5_figuri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886" y="4233671"/>
            <a:ext cx="2583330" cy="1453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" y="5742431"/>
            <a:ext cx="514807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064FF"/>
                </a:solidFill>
                <a:latin typeface="Noto Sans CJK SC"/>
              </a:rPr>
              <a:t>桌面摆件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4142231"/>
            <a:ext cx="5413248" cy="198424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0_costume_mirr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2022" y="4233671"/>
            <a:ext cx="2583330" cy="1453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5080" y="5742431"/>
            <a:ext cx="5148072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衣纹随身镜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28232"/>
            <a:ext cx="1094536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7A6AF"/>
                </a:solidFill>
                <a:latin typeface="Noto Sans CJK SC"/>
              </a:rPr>
              <a:t>人物与图形可分别应用；制作规格以打样页为准。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展板空间效果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场景应用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32 / 35</a:t>
            </a:r>
          </a:p>
        </p:txBody>
      </p:sp>
      <p:pic>
        <p:nvPicPr>
          <p:cNvPr id="8" name="Picture 7" descr="07_exhibition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37" y="1261872"/>
            <a:ext cx="9033533" cy="5084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336792"/>
            <a:ext cx="99669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7A6AF"/>
                </a:solidFill>
                <a:latin typeface="Noto Sans CJK SC"/>
              </a:rPr>
              <a:t>空间效果为氛围示意；正式展示内容以三张展板设计稿为准。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三联展板输出规范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落地说明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33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97864"/>
            <a:ext cx="1069848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E46A"/>
                </a:solidFill>
                <a:latin typeface="Noto Sans CJK SC"/>
              </a:rPr>
              <a:t>三张横向展板 · 统一尺寸与阅读层级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1984248"/>
            <a:ext cx="11018520" cy="94183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139696"/>
            <a:ext cx="213055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4B9E"/>
                </a:solidFill>
                <a:latin typeface="Noto Sans CJK SC"/>
              </a:rPr>
              <a:t>01 版面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2148840"/>
            <a:ext cx="837590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单板成品 900 × 506 mm；四周各留 3 mm 出血。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3172968"/>
            <a:ext cx="11018520" cy="94183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328415"/>
            <a:ext cx="213055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CE3D0"/>
                </a:solidFill>
                <a:latin typeface="Noto Sans CJK SC"/>
              </a:rPr>
              <a:t>02 阅读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3337560"/>
            <a:ext cx="837590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标题、导语、图注三级；重点文字在 1 m 外可辨。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" y="4361688"/>
            <a:ext cx="11018520" cy="94183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517136"/>
            <a:ext cx="213055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064FF"/>
                </a:solidFill>
                <a:latin typeface="Noto Sans CJK SC"/>
              </a:rPr>
              <a:t>03 输出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6" y="4526279"/>
            <a:ext cx="837590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文字保持矢量；图片按实际版面核对有效分辨率。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852160"/>
            <a:ext cx="1063447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另附三联展板 PDF 方案稿。正式大幅面印刷前，请按输出设备要求完成 CMYK 色彩、图片清晰度与实物打样检查。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系列总览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设计成果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34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307592"/>
            <a:ext cx="10661904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8F6F6"/>
                </a:solidFill>
                <a:latin typeface="Noto Sans CJK SC"/>
              </a:rPr>
              <a:t>五位角色 · 五套纹样 · 多元文创 · 三组展板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ull_book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15415"/>
            <a:ext cx="2523744" cy="142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8096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纸品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9_costume_sach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2915415"/>
            <a:ext cx="2523744" cy="14203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75888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衣纹香囊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_figuri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915415"/>
            <a:ext cx="2523744" cy="14203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0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角色摆件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0_costume_mirr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2915415"/>
            <a:ext cx="2523744" cy="142036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491472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衣纹随身镜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3464" y="91439"/>
            <a:ext cx="1078992" cy="107899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0354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654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6282" y="7483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4910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210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910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282" y="3201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654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904" y="561880"/>
            <a:ext cx="138110" cy="13811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791" y="382767"/>
            <a:ext cx="496336" cy="49633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3615" y="571591"/>
            <a:ext cx="118689" cy="11868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87584" y="137160"/>
            <a:ext cx="896112" cy="89611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33136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81063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55348" y="682712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9632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77559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29632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55348" y="327135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81063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8288" y="527864"/>
            <a:ext cx="114702" cy="11470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29534" y="379110"/>
            <a:ext cx="412211" cy="4122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86353" y="535929"/>
            <a:ext cx="98572" cy="9857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1033271"/>
            <a:ext cx="813816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2002536"/>
            <a:ext cx="809244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2962656"/>
            <a:ext cx="768096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8F6F6"/>
                </a:solidFill>
                <a:latin typeface="Noto Sans CJK SC"/>
              </a:rPr>
              <a:t>让一出掌中戏，走进更多人的生活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0016" y="3657600"/>
            <a:ext cx="278892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p_sh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664" y="4510318"/>
            <a:ext cx="1682496" cy="1577258"/>
          </a:xfrm>
          <a:prstGeom prst="rect">
            <a:avLst/>
          </a:prstGeom>
        </p:spPr>
      </p:pic>
      <p:pic>
        <p:nvPicPr>
          <p:cNvPr id="31" name="Picture 30" descr="ip_d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4378416"/>
            <a:ext cx="1682496" cy="1841063"/>
          </a:xfrm>
          <a:prstGeom prst="rect">
            <a:avLst/>
          </a:prstGeom>
        </p:spPr>
      </p:pic>
      <p:pic>
        <p:nvPicPr>
          <p:cNvPr id="32" name="Picture 31" descr="ip_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4522758"/>
            <a:ext cx="1682496" cy="1552379"/>
          </a:xfrm>
          <a:prstGeom prst="rect">
            <a:avLst/>
          </a:prstGeom>
        </p:spPr>
      </p:pic>
      <p:pic>
        <p:nvPicPr>
          <p:cNvPr id="33" name="Picture 32" descr="ip_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4305342"/>
            <a:ext cx="1682496" cy="1987211"/>
          </a:xfrm>
          <a:prstGeom prst="rect">
            <a:avLst/>
          </a:prstGeom>
        </p:spPr>
      </p:pic>
      <p:pic>
        <p:nvPicPr>
          <p:cNvPr id="34" name="Picture 33" descr="ip_ch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28" y="4289450"/>
            <a:ext cx="1682496" cy="201899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984248" y="6473952"/>
            <a:ext cx="8229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7A6AF"/>
                </a:solidFill>
                <a:latin typeface="Noto Sans CJK SC"/>
              </a:rPr>
              <a:t>QUANZHOU GLOVE PUPPET THEATRE · CULTURAL CREATIVE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