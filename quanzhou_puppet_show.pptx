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5447" y="-173736"/>
            <a:ext cx="1005840" cy="100584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7803" y="23906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09354" y="38017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8244" y="438619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7135" y="38017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8686" y="23906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27135" y="97951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8244" y="39502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9354" y="97951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3994" y="264810"/>
            <a:ext cx="128747" cy="12874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024" y="97840"/>
            <a:ext cx="462686" cy="462686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3046" y="273862"/>
            <a:ext cx="110642" cy="11064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80776" y="45719"/>
            <a:ext cx="841248" cy="841248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92927" y="390968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44042" y="508986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26024" y="557871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8005" y="508986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59120" y="390968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08005" y="272949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26024" y="224064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44042" y="272949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47560" y="412504"/>
            <a:ext cx="107679" cy="107679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07912" y="272856"/>
            <a:ext cx="386974" cy="386974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55131" y="420075"/>
            <a:ext cx="92537" cy="9253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76104" y="5285232"/>
            <a:ext cx="1170432" cy="117043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8663" y="57655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20649" y="59297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56449" y="5997791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292249" y="59297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4235" y="57655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92249" y="56013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56449" y="5533363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20649" y="56013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486412" y="5795540"/>
            <a:ext cx="149815" cy="14981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92120" y="5601248"/>
            <a:ext cx="538398" cy="53839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496946" y="5806074"/>
            <a:ext cx="128747" cy="12874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03120" y="429768"/>
            <a:ext cx="795527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E46A"/>
                </a:solidFill>
                <a:latin typeface="Noto Sans CJK SC"/>
              </a:rPr>
              <a:t>掌上乾坤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170432"/>
            <a:ext cx="8321040" cy="7772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1947672"/>
            <a:ext cx="84124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QUANZHOU GLOVE PUPPET THEATRE · CULTURAL CREATIVE DESIGN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56048" y="2304288"/>
            <a:ext cx="2286000" cy="36576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219456" y="2724912"/>
            <a:ext cx="2331720" cy="3493008"/>
          </a:xfrm>
          <a:prstGeom prst="rect">
            <a:avLst/>
          </a:prstGeom>
        </p:spPr>
      </p:pic>
      <p:pic>
        <p:nvPicPr>
          <p:cNvPr id="43" name="Picture 42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2606039" y="2724912"/>
            <a:ext cx="2331720" cy="3493008"/>
          </a:xfrm>
          <a:prstGeom prst="rect">
            <a:avLst/>
          </a:prstGeom>
        </p:spPr>
      </p:pic>
      <p:pic>
        <p:nvPicPr>
          <p:cNvPr id="44" name="Picture 43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4992624" y="2724912"/>
            <a:ext cx="2331720" cy="3493008"/>
          </a:xfrm>
          <a:prstGeom prst="rect">
            <a:avLst/>
          </a:prstGeom>
        </p:spPr>
      </p:pic>
      <p:pic>
        <p:nvPicPr>
          <p:cNvPr id="45" name="Picture 44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379208" y="2724912"/>
            <a:ext cx="2331720" cy="3493008"/>
          </a:xfrm>
          <a:prstGeom prst="rect">
            <a:avLst/>
          </a:prstGeom>
        </p:spPr>
      </p:pic>
      <p:pic>
        <p:nvPicPr>
          <p:cNvPr id="46" name="Picture 45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9765792" y="2724912"/>
            <a:ext cx="2331720" cy="34930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10896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97479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84064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0648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7232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29768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4B9E"/>
                </a:solidFill>
                <a:latin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3392" y="512064"/>
            <a:ext cx="27432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93942"/>
                </a:solidFill>
                <a:latin typeface="Noto Sans CJK SC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155680" cy="13716"/>
          </a:xfrm>
          <a:prstGeom prst="rect">
            <a:avLst/>
          </a:prstGeom>
          <a:solidFill>
            <a:srgbClr val="3E3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4B9E"/>
                </a:solidFill>
                <a:latin typeface="Noto Sans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创意溯源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与文化背景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4736592"/>
            <a:ext cx="2267712" cy="22860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4CE3D0"/>
                </a:solidFill>
                <a:latin typeface="Noto Sans CJK S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核心视觉设计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与规范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4736592"/>
            <a:ext cx="2267712" cy="22860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A064FF"/>
                </a:solidFill>
                <a:latin typeface="Noto Sans CJK S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文创衍生品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开发应用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4736592"/>
            <a:ext cx="2267712" cy="22860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9136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58A9FF"/>
                </a:solidFill>
                <a:latin typeface="Noto Sans CJK SC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9136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展板设计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与成果展示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89136" y="4736592"/>
            <a:ext cx="2267712" cy="22860"/>
          </a:xfrm>
          <a:prstGeom prst="rect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502920" y="5074920"/>
            <a:ext cx="859536" cy="1325880"/>
          </a:xfrm>
          <a:prstGeom prst="rect">
            <a:avLst/>
          </a:prstGeom>
        </p:spPr>
      </p:pic>
      <p:pic>
        <p:nvPicPr>
          <p:cNvPr id="18" name="Picture 17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1344168" y="5074920"/>
            <a:ext cx="859536" cy="1325880"/>
          </a:xfrm>
          <a:prstGeom prst="rect">
            <a:avLst/>
          </a:prstGeom>
        </p:spPr>
      </p:pic>
      <p:pic>
        <p:nvPicPr>
          <p:cNvPr id="19" name="Picture 18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2185416" y="5074920"/>
            <a:ext cx="859536" cy="1325880"/>
          </a:xfrm>
          <a:prstGeom prst="rect">
            <a:avLst/>
          </a:prstGeom>
        </p:spPr>
      </p:pic>
      <p:pic>
        <p:nvPicPr>
          <p:cNvPr id="20" name="Picture 19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3026664" y="5074920"/>
            <a:ext cx="859536" cy="1325880"/>
          </a:xfrm>
          <a:prstGeom prst="rect">
            <a:avLst/>
          </a:prstGeom>
        </p:spPr>
      </p:pic>
      <p:pic>
        <p:nvPicPr>
          <p:cNvPr id="21" name="Picture 20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3867912" y="5074920"/>
            <a:ext cx="859536" cy="1325880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10442448" y="4690872"/>
            <a:ext cx="731520" cy="73152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887797" y="4991087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45288" y="509371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42663" y="5136221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40038" y="509371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97530" y="4991087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40038" y="488846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742663" y="4845954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845288" y="488846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1390" y="5009814"/>
            <a:ext cx="93634" cy="9363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639958" y="4888382"/>
            <a:ext cx="336499" cy="336499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767974" y="5016398"/>
            <a:ext cx="80467" cy="8046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FF4B9E"/>
                </a:solidFill>
                <a:latin typeface="Noto Sans CJK S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创意溯源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与文化背景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FROM FOLK STAGE TO CONTEMPORARY DESIGN</a:t>
            </a:r>
          </a:p>
        </p:txBody>
      </p:sp>
      <p:pic>
        <p:nvPicPr>
          <p:cNvPr id="6" name="Picture 5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429768" y="3172968"/>
            <a:ext cx="2340864" cy="33375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历史背景介绍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文化脉络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43584"/>
            <a:ext cx="6126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4B9E"/>
                </a:solidFill>
                <a:latin typeface="Noto Sans CJK SC"/>
              </a:rPr>
              <a:t>一方小戏台，一手演乾坤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993392"/>
            <a:ext cx="5623560" cy="12070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8F6F6"/>
                </a:solidFill>
                <a:latin typeface="Noto Sans CJK SC"/>
              </a:rPr>
              <a:t>泉州布袋戏流传于闽南地区。艺人将手伸入布偶的衣身，以手指操控头部与双臂，让木刻偶头、布制服饰和细腻动作在小戏台上相遇。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456432"/>
            <a:ext cx="5623560" cy="11064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8F6F6"/>
                </a:solidFill>
                <a:latin typeface="Noto Sans CJK SC"/>
              </a:rPr>
              <a:t>演出常以闽南语唱白、锣鼓节奏与戏曲程式推进情节，既能表现忠义豪情，也能讲述市井生活与民间趣事。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" y="5010912"/>
            <a:ext cx="5650992" cy="731520"/>
          </a:xfrm>
          <a:prstGeom prst="roundRect">
            <a:avLst>
              <a:gd name="adj" fmla="val 9000"/>
            </a:avLst>
          </a:prstGeom>
          <a:solidFill>
            <a:srgbClr val="1F1624"/>
          </a:solidFill>
          <a:ln w="127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166360"/>
            <a:ext cx="525780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4B9E"/>
                </a:solidFill>
                <a:latin typeface="Noto Sans CJK SC"/>
              </a:rPr>
              <a:t>设计切入点：以生、旦、净、末、丑五个角色，重构“掌中戏”的年轻表达。</a:t>
            </a:r>
          </a:p>
        </p:txBody>
      </p:sp>
      <p:pic>
        <p:nvPicPr>
          <p:cNvPr id="13" name="Picture 12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7315200" y="1325880"/>
            <a:ext cx="3063240" cy="479145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0250424" y="1481328"/>
            <a:ext cx="749808" cy="749808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06907" y="178904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63335" y="189423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58145" y="1937811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452954" y="189423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09383" y="178904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452954" y="1683858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558145" y="1640287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63335" y="1683858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77340" y="1808244"/>
            <a:ext cx="95975" cy="9597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52872" y="1683776"/>
            <a:ext cx="344911" cy="34491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84088" y="1814992"/>
            <a:ext cx="82478" cy="8247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选题介绍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项目背景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05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" y="1417320"/>
            <a:ext cx="3566160" cy="40782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81912"/>
            <a:ext cx="411480" cy="54864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4408" y="1490472"/>
            <a:ext cx="59436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4B9E"/>
                </a:solidFill>
                <a:latin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837944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4B9E"/>
                </a:solidFill>
                <a:latin typeface="Noto Sans CJK SC"/>
              </a:rPr>
              <a:t>项目背景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386584"/>
            <a:ext cx="3200400" cy="29809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城市文化与文旅体验不断融合，传统戏曲需要更鲜明、轻盈的视觉入口，让初次接触的观众愿意驻足与了解。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1417320"/>
            <a:ext cx="3566160" cy="40782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581912"/>
            <a:ext cx="411480" cy="54864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599" y="1490472"/>
            <a:ext cx="59436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4CE3D0"/>
                </a:solidFill>
                <a:latin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1837944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CE3D0"/>
                </a:solidFill>
                <a:latin typeface="Noto Sans CJK SC"/>
              </a:rPr>
              <a:t>设计说明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386584"/>
            <a:ext cx="3200400" cy="29809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提取木偶的冠帽、脸谱、衣饰和表演姿态，转化为五位可辨认的国潮角色，并延展到日常文创载体。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417320"/>
            <a:ext cx="3566160" cy="40782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1581912"/>
            <a:ext cx="411480" cy="54864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08792" y="1490472"/>
            <a:ext cx="59436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E46A"/>
                </a:solidFill>
                <a:latin typeface="Noto Sans CJK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1837944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E46A"/>
                </a:solidFill>
                <a:latin typeface="Noto Sans CJK SC"/>
              </a:rPr>
              <a:t>设计理念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2386584"/>
            <a:ext cx="3200400" cy="29809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以“一角一出戏”为核心，让收藏、使用和分享成为走近泉州布袋戏的连续体验。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8256" y="5833872"/>
            <a:ext cx="8110727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8F6F6"/>
                </a:solidFill>
                <a:latin typeface="Noto Sans CJK SC"/>
              </a:rPr>
              <a:t>文化识别 → 角色共鸣 → 场景使用 → 自发传播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受众人群与使用场景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目标人群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06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" y="1444752"/>
            <a:ext cx="3566160" cy="42428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09344"/>
            <a:ext cx="411480" cy="54864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865376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4B9E"/>
                </a:solidFill>
                <a:latin typeface="Noto Sans CJK SC"/>
              </a:rPr>
              <a:t>泉州游客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414016"/>
            <a:ext cx="3200400" cy="314553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希望带走轻便、具有地方辨识度的纪念品。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场景：景区、博物馆、古城街巷。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444752"/>
            <a:ext cx="3566160" cy="42428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609344"/>
            <a:ext cx="411480" cy="54864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4" y="1865376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CE3D0"/>
                </a:solidFill>
                <a:latin typeface="Noto Sans CJK SC"/>
              </a:rPr>
              <a:t>青年与亲子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2414016"/>
            <a:ext cx="3200400" cy="314553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偏好角色故事、成套收藏和互动体验。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场景：研学课堂、社交分享、礼赠。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6" y="1444752"/>
            <a:ext cx="3566160" cy="42428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02752" y="1609344"/>
            <a:ext cx="411480" cy="54864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1865376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064FF"/>
                </a:solidFill>
                <a:latin typeface="Noto Sans CJK SC"/>
              </a:rPr>
              <a:t>文旅机构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414016"/>
            <a:ext cx="3200400" cy="314553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需要能够代表在地文化、方便陈列与传播的系列礼品。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场景：展演活动、城市礼物、公共教育。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5989320"/>
            <a:ext cx="90525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接触戏偶 → 认识行当 → 收集角色 → 分享泉州故事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参考风格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风格定位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7" y="1353312"/>
            <a:ext cx="649224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8F6F6"/>
                </a:solidFill>
                <a:latin typeface="Noto Sans CJK SC"/>
              </a:rPr>
              <a:t>统一新中式国潮风格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886968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高饱和撞色 · 扁平插画 · 戏台层次 · 纹样点缀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" y="2660904"/>
            <a:ext cx="11228832" cy="33284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722376" y="2880360"/>
            <a:ext cx="1737360" cy="2606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2376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pic>
        <p:nvPicPr>
          <p:cNvPr id="13" name="Picture 12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2935224" y="2880360"/>
            <a:ext cx="1737360" cy="2606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35224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pic>
        <p:nvPicPr>
          <p:cNvPr id="15" name="Picture 14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148072" y="2880360"/>
            <a:ext cx="1737360" cy="2606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48072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pic>
        <p:nvPicPr>
          <p:cNvPr id="17" name="Picture 16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360920" y="2880360"/>
            <a:ext cx="1737360" cy="2606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60920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pic>
        <p:nvPicPr>
          <p:cNvPr id="19" name="Picture 18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9573767" y="2880360"/>
            <a:ext cx="1737360" cy="2606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573767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灵感创意来源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元素提取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08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7" y="1408176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8096" y="1965960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9114" y="2303702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21291" y="2419155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5838" y="2466978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385" y="2419155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563" y="2303702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385" y="2188249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5838" y="2140427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21291" y="2188249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6906" y="2324770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0295" y="2188159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4313" y="2332177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47088" y="1801368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4B9E"/>
                </a:solidFill>
                <a:latin typeface="Noto Sans CJK SC"/>
              </a:rPr>
              <a:t>冠帽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47088" y="2386584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角色身份的第一眼线索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1408176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6" y="1965960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938394" y="2303702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90571" y="2419155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75118" y="2466978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59665" y="2419155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11843" y="2303702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59665" y="2188249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75118" y="2140427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90571" y="2188249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96186" y="2324770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659575" y="2188159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03593" y="2332177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1801368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954C"/>
                </a:solidFill>
                <a:latin typeface="Noto Sans CJK SC"/>
              </a:rPr>
              <a:t>脸谱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386584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净角的性格张力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1207" y="3639312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68096" y="4197096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269114" y="4534838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21291" y="4650291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05838" y="4698114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90385" y="4650291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42563" y="4534838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90385" y="4419385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05838" y="4371563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21291" y="4419385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26906" y="4555906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0295" y="4419295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34313" y="4563313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47088" y="4032504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E3D0"/>
                </a:solidFill>
                <a:latin typeface="Noto Sans CJK SC"/>
              </a:rPr>
              <a:t>衣纹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47088" y="4617720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闽南戏曲的装饰节奏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0488" y="3639312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37376" y="4197096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938394" y="4534838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90571" y="4650291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775118" y="4698114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659665" y="4650291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611843" y="4534838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659665" y="4419385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775118" y="4371563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890571" y="4419385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796186" y="4555906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659575" y="4419295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803593" y="4563313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16368" y="4032504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064FF"/>
                </a:solidFill>
                <a:latin typeface="Noto Sans CJK SC"/>
              </a:rPr>
              <a:t>戏台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4617720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框景与层叠的表演空间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08760" y="6144768"/>
            <a:ext cx="93268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7A6AF"/>
                </a:solidFill>
                <a:latin typeface="Noto Sans CJK SC"/>
              </a:rPr>
              <a:t>不是复制传统戏偶，而是将其可识别的视觉语言转化为当代设计。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4CE3D0"/>
                </a:solidFill>
                <a:latin typeface="Noto Sans CJK S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核心视觉设计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与规范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CHARACTER SYSTEM · COLOR · ORNAMENT</a:t>
            </a:r>
          </a:p>
        </p:txBody>
      </p:sp>
      <p:pic>
        <p:nvPicPr>
          <p:cNvPr id="6" name="Picture 5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429768" y="3172968"/>
            <a:ext cx="2340864" cy="33375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核心主体视觉元素设计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五角成戏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10 / 30</a:t>
            </a:r>
          </a:p>
        </p:txBody>
      </p:sp>
      <p:pic>
        <p:nvPicPr>
          <p:cNvPr id="8" name="Picture 7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301752" y="1243584"/>
            <a:ext cx="2304288" cy="416966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生  SHENG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文雅机敏，启幕引戏</a:t>
            </a:r>
          </a:p>
        </p:txBody>
      </p:sp>
      <p:pic>
        <p:nvPicPr>
          <p:cNvPr id="12" name="Picture 11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2679192" y="1243584"/>
            <a:ext cx="2304288" cy="416966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88036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旦  DAN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柔美灵动，以情动人</a:t>
            </a:r>
          </a:p>
        </p:txBody>
      </p:sp>
      <p:pic>
        <p:nvPicPr>
          <p:cNvPr id="16" name="Picture 15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056632" y="1243584"/>
            <a:ext cx="2304288" cy="416966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25780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净  JING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浓墨重彩，气势如虹</a:t>
            </a:r>
          </a:p>
        </p:txBody>
      </p:sp>
      <p:pic>
        <p:nvPicPr>
          <p:cNvPr id="20" name="Picture 19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434072" y="1243584"/>
            <a:ext cx="2304288" cy="4169663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63524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末  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3465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沉稳慈和，阅尽世情</a:t>
            </a:r>
          </a:p>
        </p:txBody>
      </p:sp>
      <p:pic>
        <p:nvPicPr>
          <p:cNvPr id="24" name="Picture 23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9811512" y="1243584"/>
            <a:ext cx="2304288" cy="4169663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1001268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丑  CHOU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1209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诙谐俏皮，点亮戏台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色彩搭配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角色色谱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11 /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563624"/>
            <a:ext cx="1188720" cy="327355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#FF4B9E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胭脂粉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92808" y="1563624"/>
            <a:ext cx="1188720" cy="327355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280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#4CE3D0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海丝青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563624"/>
            <a:ext cx="1188720" cy="3273552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012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#FFE46A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戏台金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27448" y="1563624"/>
            <a:ext cx="1188720" cy="3273552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2744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#A064FF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华彩紫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563624"/>
            <a:ext cx="1188720" cy="3273552"/>
          </a:xfrm>
          <a:prstGeom prst="rect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4476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#58A9FF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靛蓝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62088" y="1563624"/>
            <a:ext cx="1188720" cy="3273552"/>
          </a:xfrm>
          <a:prstGeom prst="rect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08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#FF954C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208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朱橘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79408" y="1563624"/>
            <a:ext cx="1188720" cy="3273552"/>
          </a:xfrm>
          <a:prstGeom prst="rect">
            <a:avLst/>
          </a:prstGeom>
          <a:solidFill>
            <a:srgbClr val="F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7940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#F8F6F6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940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纸白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96728" y="1563624"/>
            <a:ext cx="1188720" cy="3273552"/>
          </a:xfrm>
          <a:prstGeom prst="rect">
            <a:avLst/>
          </a:prstGeom>
          <a:solidFill>
            <a:srgbClr val="141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9672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#14151E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9672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幕黑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" y="6044184"/>
            <a:ext cx="10762488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7A6AF"/>
                </a:solidFill>
                <a:latin typeface="Noto Sans CJK SC"/>
              </a:rPr>
              <a:t>从戏服与脸谱提取高饱和色彩，以黑色戏幕衬托角色；色彩随角色切换，系统保持统一。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辅助图形设计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纹样系统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234440"/>
            <a:ext cx="10680192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4B9E"/>
                </a:solidFill>
                <a:latin typeface="Noto Sans CJK SC"/>
              </a:rPr>
              <a:t>五角五纹 · 从冠帽、脸谱、衣饰与道具提炼</a:t>
            </a:r>
          </a:p>
        </p:txBody>
      </p:sp>
      <p:pic>
        <p:nvPicPr>
          <p:cNvPr id="9" name="Picture 8" descr="exec-738c4527-c582-403c-9853-5752480e1db7.png"/>
          <p:cNvPicPr>
            <a:picLocks noChangeAspect="1"/>
          </p:cNvPicPr>
          <p:nvPr/>
        </p:nvPicPr>
        <p:blipFill>
          <a:blip r:embed="rId2"/>
          <a:srcRect r="81085"/>
          <a:stretch>
            <a:fillRect/>
          </a:stretch>
        </p:blipFill>
        <p:spPr>
          <a:xfrm>
            <a:off x="393192" y="1911095"/>
            <a:ext cx="2221992" cy="3300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8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折扇竹云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生</a:t>
            </a:r>
          </a:p>
        </p:txBody>
      </p:sp>
      <p:pic>
        <p:nvPicPr>
          <p:cNvPr id="12" name="Picture 11" descr="exec-738c4527-c582-403c-9853-5752480e1db7.png"/>
          <p:cNvPicPr>
            <a:picLocks noChangeAspect="1"/>
          </p:cNvPicPr>
          <p:nvPr/>
        </p:nvPicPr>
        <p:blipFill>
          <a:blip r:embed="rId2"/>
          <a:srcRect l="18915" r="61521"/>
          <a:stretch>
            <a:fillRect/>
          </a:stretch>
        </p:blipFill>
        <p:spPr>
          <a:xfrm>
            <a:off x="2734056" y="1911095"/>
            <a:ext cx="2221992" cy="3300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770632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4B9E"/>
                </a:solidFill>
                <a:latin typeface="Noto Sans CJK SC"/>
              </a:rPr>
              <a:t>簪花流苏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2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旦</a:t>
            </a:r>
          </a:p>
        </p:txBody>
      </p:sp>
      <p:pic>
        <p:nvPicPr>
          <p:cNvPr id="15" name="Picture 14" descr="exec-738c4527-c582-403c-9853-5752480e1db7.png"/>
          <p:cNvPicPr>
            <a:picLocks noChangeAspect="1"/>
          </p:cNvPicPr>
          <p:nvPr/>
        </p:nvPicPr>
        <p:blipFill>
          <a:blip r:embed="rId2"/>
          <a:srcRect l="38479" r="41586"/>
          <a:stretch>
            <a:fillRect/>
          </a:stretch>
        </p:blipFill>
        <p:spPr>
          <a:xfrm>
            <a:off x="5074920" y="1911095"/>
            <a:ext cx="2221992" cy="3300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11496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954C"/>
                </a:solidFill>
                <a:latin typeface="Noto Sans CJK SC"/>
              </a:rPr>
              <a:t>脸谱甲纹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6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净</a:t>
            </a:r>
          </a:p>
        </p:txBody>
      </p:sp>
      <p:pic>
        <p:nvPicPr>
          <p:cNvPr id="18" name="Picture 17" descr="exec-738c4527-c582-403c-9853-5752480e1db7.png"/>
          <p:cNvPicPr>
            <a:picLocks noChangeAspect="1"/>
          </p:cNvPicPr>
          <p:nvPr/>
        </p:nvPicPr>
        <p:blipFill>
          <a:blip r:embed="rId2"/>
          <a:srcRect l="58414" r="23041"/>
          <a:stretch>
            <a:fillRect/>
          </a:stretch>
        </p:blipFill>
        <p:spPr>
          <a:xfrm>
            <a:off x="7415783" y="1911095"/>
            <a:ext cx="2221992" cy="33009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452359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9FF"/>
                </a:solidFill>
                <a:latin typeface="Noto Sans CJK SC"/>
              </a:rPr>
              <a:t>书卷祥云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末</a:t>
            </a:r>
          </a:p>
        </p:txBody>
      </p:sp>
      <p:pic>
        <p:nvPicPr>
          <p:cNvPr id="21" name="Picture 20" descr="exec-738c4527-c582-403c-9853-5752480e1db7.png"/>
          <p:cNvPicPr>
            <a:picLocks noChangeAspect="1"/>
          </p:cNvPicPr>
          <p:nvPr/>
        </p:nvPicPr>
        <p:blipFill>
          <a:blip r:embed="rId2"/>
          <a:srcRect l="76959"/>
          <a:stretch>
            <a:fillRect/>
          </a:stretch>
        </p:blipFill>
        <p:spPr>
          <a:xfrm>
            <a:off x="9756648" y="1911095"/>
            <a:ext cx="2221992" cy="33009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93224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E46A"/>
                </a:solidFill>
                <a:latin typeface="Noto Sans CJK SC"/>
              </a:rPr>
              <a:t>团花彩珠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67544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44768"/>
            <a:ext cx="1083564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纹样可独立用于印章、挂件、香囊与包装，也可与人物形象组合。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辅助元素展示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版式语言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13 /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" y="1481328"/>
            <a:ext cx="3520440" cy="3630168"/>
          </a:xfrm>
          <a:prstGeom prst="rect">
            <a:avLst/>
          </a:prstGeom>
          <a:solidFill>
            <a:srgbClr val="101117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1481328"/>
            <a:ext cx="4800600" cy="3630168"/>
          </a:xfrm>
          <a:prstGeom prst="rect">
            <a:avLst/>
          </a:prstGeom>
          <a:solidFill>
            <a:srgbClr val="101117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81328"/>
            <a:ext cx="2715768" cy="3630168"/>
          </a:xfrm>
          <a:prstGeom prst="rect">
            <a:avLst/>
          </a:prstGeom>
          <a:solidFill>
            <a:srgbClr val="101117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3172968" cy="7132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E46A"/>
                </a:solidFill>
                <a:latin typeface="Noto Sans CJK SC"/>
              </a:rPr>
              <a:t>掌上乾坤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2880360"/>
            <a:ext cx="3200400" cy="6492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52144" y="3831336"/>
            <a:ext cx="2176272" cy="64008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ec-3060a3fc-5c59-4d39-bdc4-b9acccbfe6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528316"/>
            <a:ext cx="4663440" cy="155448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9573768" y="2103120"/>
            <a:ext cx="1563624" cy="1563624"/>
          </a:xfrm>
          <a:prstGeom prst="rect">
            <a:avLst/>
          </a:prstGeom>
          <a:solidFill>
            <a:srgbClr val="08090D"/>
          </a:solidFill>
          <a:ln w="29209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10928" y="2240280"/>
            <a:ext cx="1289304" cy="1289304"/>
          </a:xfrm>
          <a:prstGeom prst="rect">
            <a:avLst/>
          </a:prstGeom>
          <a:solidFill>
            <a:srgbClr val="08090D"/>
          </a:solidFill>
          <a:ln w="1397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2459736"/>
            <a:ext cx="1088136" cy="9052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4B9E"/>
                </a:solidFill>
                <a:latin typeface="Noto Sans CJK SC"/>
              </a:rPr>
              <a:t>泉州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4B9E"/>
                </a:solidFill>
                <a:latin typeface="Noto Sans CJK SC"/>
              </a:rPr>
              <a:t>布袋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340096"/>
            <a:ext cx="228600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E46A"/>
                </a:solidFill>
                <a:latin typeface="Noto Sans CJK SC"/>
              </a:rPr>
              <a:t>主标题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5340096"/>
            <a:ext cx="228600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泉州城市插画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5340096"/>
            <a:ext cx="228600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4B9E"/>
                </a:solidFill>
                <a:latin typeface="Noto Sans CJK SC"/>
              </a:rPr>
              <a:t>篆刻印章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6053328"/>
            <a:ext cx="10908792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字体与标识保持可编辑；城市插画融合东西塔、红砖古厝、海丝帆船与戏台。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A064FF"/>
                </a:solidFill>
                <a:latin typeface="Noto Sans CJK S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文创衍生品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开发应用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FROM CHARACTER TO EVERYDAY OBJECT</a:t>
            </a:r>
          </a:p>
        </p:txBody>
      </p:sp>
      <p:pic>
        <p:nvPicPr>
          <p:cNvPr id="6" name="Picture 5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429768" y="3172968"/>
            <a:ext cx="2340864" cy="33375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产品延展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文创矩阵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15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426464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6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4B9E"/>
                </a:solidFill>
                <a:latin typeface="Noto Sans CJK SC"/>
              </a:rPr>
              <a:t>纸品系列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49424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书签 / 明信片 / 邮票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807208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轻便收藏，传递角色故事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426464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82496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E3D0"/>
                </a:solidFill>
                <a:latin typeface="Noto Sans CJK SC"/>
              </a:rPr>
              <a:t>随身系列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49424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钥匙扣 / 香囊 / 帆布袋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07208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让戏偶融入日常出行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" y="3657600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913632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064FF"/>
                </a:solidFill>
                <a:latin typeface="Noto Sans CJK SC"/>
              </a:rPr>
              <a:t>收藏系列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480560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角色摆件 / 盲盒包装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038344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建立五角成套的收藏体验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3657600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913632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E46A"/>
                </a:solidFill>
                <a:latin typeface="Noto Sans CJK SC"/>
              </a:rPr>
              <a:t>展陈系列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80560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角色立牌 / 展板 / 礼盒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38344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适用于文旅空间与研学活动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书签与明信片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纸品系列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16 / 30</a:t>
            </a:r>
          </a:p>
        </p:txBody>
      </p:sp>
      <p:pic>
        <p:nvPicPr>
          <p:cNvPr id="8" name="Picture 7" descr="exec-9f22b80b-b3f1-4da7-a465-a7b3e1e1fa24.png"/>
          <p:cNvPicPr>
            <a:picLocks noChangeAspect="1"/>
          </p:cNvPicPr>
          <p:nvPr/>
        </p:nvPicPr>
        <p:blipFill>
          <a:blip r:embed="rId2"/>
          <a:srcRect b="40000"/>
          <a:stretch>
            <a:fillRect/>
          </a:stretch>
        </p:blipFill>
        <p:spPr>
          <a:xfrm>
            <a:off x="603504" y="1453896"/>
            <a:ext cx="10972800" cy="3703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2376" y="5449824"/>
            <a:ext cx="107442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一角一签：人物、角色色与花纹组合成系列纸品，可独立收藏，也可成套陈列。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5971032"/>
            <a:ext cx="1426464" cy="64008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82112" y="5971032"/>
            <a:ext cx="1426464" cy="64008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21224" y="5971032"/>
            <a:ext cx="1426464" cy="64008"/>
          </a:xfrm>
          <a:prstGeom prst="rect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60336" y="5971032"/>
            <a:ext cx="1426464" cy="64008"/>
          </a:xfrm>
          <a:prstGeom prst="rect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299448" y="5971032"/>
            <a:ext cx="1426464" cy="64008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香囊设计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随身系列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17 / 30</a:t>
            </a:r>
          </a:p>
        </p:txBody>
      </p:sp>
      <p:pic>
        <p:nvPicPr>
          <p:cNvPr id="8" name="Picture 7" descr="exec-00ef1bbf-d591-40aa-9138-826d8358f057.png"/>
          <p:cNvPicPr>
            <a:picLocks noChangeAspect="1"/>
          </p:cNvPicPr>
          <p:nvPr/>
        </p:nvPicPr>
        <p:blipFill>
          <a:blip r:embed="rId2"/>
          <a:srcRect t="58000"/>
          <a:stretch>
            <a:fillRect/>
          </a:stretch>
        </p:blipFill>
        <p:spPr>
          <a:xfrm>
            <a:off x="603504" y="1883664"/>
            <a:ext cx="10972800" cy="2651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5084064"/>
            <a:ext cx="9811512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香囊以五角冠帽纹样做主体，搭配角色色丝绳、珠饰与流苏。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6816" y="5641848"/>
            <a:ext cx="8339327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适合包袋、车内、书桌等日常场景。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邮票设计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纸品系列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18 / 30</a:t>
            </a:r>
          </a:p>
        </p:txBody>
      </p:sp>
      <p:pic>
        <p:nvPicPr>
          <p:cNvPr id="8" name="Picture 7" descr="exec-9f22b80b-b3f1-4da7-a465-a7b3e1e1fa24.png"/>
          <p:cNvPicPr>
            <a:picLocks noChangeAspect="1"/>
          </p:cNvPicPr>
          <p:nvPr/>
        </p:nvPicPr>
        <p:blipFill>
          <a:blip r:embed="rId2"/>
          <a:srcRect t="62000"/>
          <a:stretch>
            <a:fillRect/>
          </a:stretch>
        </p:blipFill>
        <p:spPr>
          <a:xfrm>
            <a:off x="566928" y="2048256"/>
            <a:ext cx="11027664" cy="2368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148072"/>
            <a:ext cx="10387584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邮票将完整人物与饰纹纳入同一画面，五枚联作呈现五种行当的形象与情绪。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桌面角色摆件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收藏系列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19 / 30</a:t>
            </a:r>
          </a:p>
        </p:txBody>
      </p:sp>
      <p:pic>
        <p:nvPicPr>
          <p:cNvPr id="8" name="Picture 7" descr="exec-1d04c57d-b66a-4d30-8c00-51786940d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869" y="1280160"/>
            <a:ext cx="9049780" cy="5093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7592" y="6181344"/>
            <a:ext cx="9665208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五角成套收藏，底座延续各角色的专属辅助纹样。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角色钥匙扣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随身系列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20 / 30</a:t>
            </a:r>
          </a:p>
        </p:txBody>
      </p:sp>
      <p:pic>
        <p:nvPicPr>
          <p:cNvPr id="8" name="Picture 7" descr="exec-00ef1bbf-d591-40aa-9138-826d8358f057.png"/>
          <p:cNvPicPr>
            <a:picLocks noChangeAspect="1"/>
          </p:cNvPicPr>
          <p:nvPr/>
        </p:nvPicPr>
        <p:blipFill>
          <a:blip r:embed="rId2"/>
          <a:srcRect b="44000"/>
          <a:stretch>
            <a:fillRect/>
          </a:stretch>
        </p:blipFill>
        <p:spPr>
          <a:xfrm>
            <a:off x="612648" y="1600200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5477256"/>
            <a:ext cx="1078992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金属描边的角色挂件配套花纹小牌与流苏，适合单件购买或成套礼赠。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帆布袋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随身系列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21 / 30</a:t>
            </a:r>
          </a:p>
        </p:txBody>
      </p:sp>
      <p:pic>
        <p:nvPicPr>
          <p:cNvPr id="8" name="Picture 7" descr="exec-0d1ca634-2110-45c9-a548-21778b029998.png"/>
          <p:cNvPicPr>
            <a:picLocks noChangeAspect="1"/>
          </p:cNvPicPr>
          <p:nvPr/>
        </p:nvPicPr>
        <p:blipFill>
          <a:blip r:embed="rId2"/>
          <a:srcRect b="37000"/>
          <a:stretch>
            <a:fillRect/>
          </a:stretch>
        </p:blipFill>
        <p:spPr>
          <a:xfrm>
            <a:off x="612648" y="1527048"/>
            <a:ext cx="10972800" cy="3904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5669280"/>
            <a:ext cx="10058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素色帆布突出人物轮廓，彩色团花与祥云补充戏服细节。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随身镜与系列礼盒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礼赠系列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22 / 30</a:t>
            </a:r>
          </a:p>
        </p:txBody>
      </p:sp>
      <p:pic>
        <p:nvPicPr>
          <p:cNvPr id="8" name="Picture 7" descr="exec-0d1ca634-2110-45c9-a548-21778b029998.png"/>
          <p:cNvPicPr>
            <a:picLocks noChangeAspect="1"/>
          </p:cNvPicPr>
          <p:nvPr/>
        </p:nvPicPr>
        <p:blipFill>
          <a:blip r:embed="rId2"/>
          <a:srcRect t="62000"/>
          <a:stretch>
            <a:fillRect/>
          </a:stretch>
        </p:blipFill>
        <p:spPr>
          <a:xfrm>
            <a:off x="585216" y="1956816"/>
            <a:ext cx="10972800" cy="26791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230368"/>
            <a:ext cx="10753344" cy="4663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随身镜背面使用五款辅助纹样；可与书签、挂件组合为「五角成戏」礼盒。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展板设计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空间展示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23 /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444752"/>
            <a:ext cx="3493008" cy="4709160"/>
          </a:xfrm>
          <a:prstGeom prst="rect">
            <a:avLst/>
          </a:prstGeom>
          <a:solidFill>
            <a:srgbClr val="08090D"/>
          </a:solidFill>
          <a:ln w="1651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" y="1709928"/>
            <a:ext cx="3108960" cy="54864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901952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4B9E"/>
                </a:solidFill>
                <a:latin typeface="Noto Sans CJK SC"/>
              </a:rPr>
              <a:t>文化溯源</a:t>
            </a:r>
          </a:p>
        </p:txBody>
      </p:sp>
      <p:pic>
        <p:nvPicPr>
          <p:cNvPr id="11" name="Picture 10" descr="exec-3060a3fc-5c59-4d39-bdc4-b9acccbfe6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731008"/>
            <a:ext cx="3200400" cy="1066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4133087"/>
            <a:ext cx="2944368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8F6F6"/>
                </a:solidFill>
                <a:latin typeface="Noto Sans CJK SC"/>
              </a:rPr>
              <a:t>指尖之间，山海入戏</a:t>
            </a:r>
          </a:p>
        </p:txBody>
      </p:sp>
      <p:pic>
        <p:nvPicPr>
          <p:cNvPr id="13" name="Picture 12" descr="exec-961be45b-f16d-45f8-9d91-8d4e7fec6944.png"/>
          <p:cNvPicPr>
            <a:picLocks noChangeAspect="1"/>
          </p:cNvPicPr>
          <p:nvPr/>
        </p:nvPicPr>
        <p:blipFill>
          <a:blip r:embed="rId3"/>
          <a:srcRect r="79576"/>
          <a:stretch>
            <a:fillRect/>
          </a:stretch>
        </p:blipFill>
        <p:spPr>
          <a:xfrm>
            <a:off x="1508760" y="4608576"/>
            <a:ext cx="1399032" cy="128930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52544" y="1444752"/>
            <a:ext cx="3493008" cy="4709160"/>
          </a:xfrm>
          <a:prstGeom prst="rect">
            <a:avLst/>
          </a:prstGeom>
          <a:solidFill>
            <a:srgbClr val="08090D"/>
          </a:solidFill>
          <a:ln w="1651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44568" y="1709928"/>
            <a:ext cx="3108960" cy="54864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901952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CE3D0"/>
                </a:solidFill>
                <a:latin typeface="Noto Sans CJK SC"/>
              </a:rPr>
              <a:t>五角成戏</a:t>
            </a:r>
          </a:p>
        </p:txBody>
      </p:sp>
      <p:pic>
        <p:nvPicPr>
          <p:cNvPr id="17" name="Picture 16" descr="exec-961be45b-f16d-45f8-9d91-8d4e7fec6944.png"/>
          <p:cNvPicPr>
            <a:picLocks noChangeAspect="1"/>
          </p:cNvPicPr>
          <p:nvPr/>
        </p:nvPicPr>
        <p:blipFill>
          <a:blip r:embed="rId3"/>
          <a:srcRect r="79576"/>
          <a:stretch>
            <a:fillRect/>
          </a:stretch>
        </p:blipFill>
        <p:spPr>
          <a:xfrm>
            <a:off x="4462272" y="2670048"/>
            <a:ext cx="640080" cy="1993392"/>
          </a:xfrm>
          <a:prstGeom prst="rect">
            <a:avLst/>
          </a:prstGeom>
        </p:spPr>
      </p:pic>
      <p:pic>
        <p:nvPicPr>
          <p:cNvPr id="18" name="Picture 17" descr="exec-961be45b-f16d-45f8-9d91-8d4e7fec6944.png"/>
          <p:cNvPicPr>
            <a:picLocks noChangeAspect="1"/>
          </p:cNvPicPr>
          <p:nvPr/>
        </p:nvPicPr>
        <p:blipFill>
          <a:blip r:embed="rId3"/>
          <a:srcRect l="20424" r="60161"/>
          <a:stretch>
            <a:fillRect/>
          </a:stretch>
        </p:blipFill>
        <p:spPr>
          <a:xfrm>
            <a:off x="5111496" y="2670048"/>
            <a:ext cx="640080" cy="1993392"/>
          </a:xfrm>
          <a:prstGeom prst="rect">
            <a:avLst/>
          </a:prstGeom>
        </p:spPr>
      </p:pic>
      <p:pic>
        <p:nvPicPr>
          <p:cNvPr id="19" name="Picture 18" descr="exec-961be45b-f16d-45f8-9d91-8d4e7fec6944.png"/>
          <p:cNvPicPr>
            <a:picLocks noChangeAspect="1"/>
          </p:cNvPicPr>
          <p:nvPr/>
        </p:nvPicPr>
        <p:blipFill>
          <a:blip r:embed="rId3"/>
          <a:srcRect l="39839" r="39788"/>
          <a:stretch>
            <a:fillRect/>
          </a:stretch>
        </p:blipFill>
        <p:spPr>
          <a:xfrm>
            <a:off x="5760720" y="2670048"/>
            <a:ext cx="640080" cy="1993392"/>
          </a:xfrm>
          <a:prstGeom prst="rect">
            <a:avLst/>
          </a:prstGeom>
        </p:spPr>
      </p:pic>
      <p:pic>
        <p:nvPicPr>
          <p:cNvPr id="20" name="Picture 19" descr="exec-961be45b-f16d-45f8-9d91-8d4e7fec6944.png"/>
          <p:cNvPicPr>
            <a:picLocks noChangeAspect="1"/>
          </p:cNvPicPr>
          <p:nvPr/>
        </p:nvPicPr>
        <p:blipFill>
          <a:blip r:embed="rId3"/>
          <a:srcRect l="60212" r="20323"/>
          <a:stretch>
            <a:fillRect/>
          </a:stretch>
        </p:blipFill>
        <p:spPr>
          <a:xfrm>
            <a:off x="6409944" y="2670048"/>
            <a:ext cx="640080" cy="1993392"/>
          </a:xfrm>
          <a:prstGeom prst="rect">
            <a:avLst/>
          </a:prstGeom>
        </p:spPr>
      </p:pic>
      <p:pic>
        <p:nvPicPr>
          <p:cNvPr id="21" name="Picture 20" descr="exec-961be45b-f16d-45f8-9d91-8d4e7fec6944.png"/>
          <p:cNvPicPr>
            <a:picLocks noChangeAspect="1"/>
          </p:cNvPicPr>
          <p:nvPr/>
        </p:nvPicPr>
        <p:blipFill>
          <a:blip r:embed="rId3"/>
          <a:srcRect l="79677"/>
          <a:stretch>
            <a:fillRect/>
          </a:stretch>
        </p:blipFill>
        <p:spPr>
          <a:xfrm>
            <a:off x="7059168" y="2670048"/>
            <a:ext cx="640080" cy="1993392"/>
          </a:xfrm>
          <a:prstGeom prst="rect">
            <a:avLst/>
          </a:prstGeom>
        </p:spPr>
      </p:pic>
      <p:pic>
        <p:nvPicPr>
          <p:cNvPr id="22" name="Picture 21" descr="exec-738c4527-c582-403c-9853-5752480e1db7.png"/>
          <p:cNvPicPr>
            <a:picLocks noChangeAspect="1"/>
          </p:cNvPicPr>
          <p:nvPr/>
        </p:nvPicPr>
        <p:blipFill>
          <a:blip r:embed="rId4"/>
          <a:srcRect r="81085"/>
          <a:stretch>
            <a:fillRect/>
          </a:stretch>
        </p:blipFill>
        <p:spPr>
          <a:xfrm>
            <a:off x="4517136" y="4654296"/>
            <a:ext cx="621792" cy="896112"/>
          </a:xfrm>
          <a:prstGeom prst="rect">
            <a:avLst/>
          </a:prstGeom>
        </p:spPr>
      </p:pic>
      <p:pic>
        <p:nvPicPr>
          <p:cNvPr id="23" name="Picture 22" descr="exec-738c4527-c582-403c-9853-5752480e1db7.png"/>
          <p:cNvPicPr>
            <a:picLocks noChangeAspect="1"/>
          </p:cNvPicPr>
          <p:nvPr/>
        </p:nvPicPr>
        <p:blipFill>
          <a:blip r:embed="rId4"/>
          <a:srcRect l="18915" r="61521"/>
          <a:stretch>
            <a:fillRect/>
          </a:stretch>
        </p:blipFill>
        <p:spPr>
          <a:xfrm>
            <a:off x="5148071" y="4654296"/>
            <a:ext cx="621792" cy="896112"/>
          </a:xfrm>
          <a:prstGeom prst="rect">
            <a:avLst/>
          </a:prstGeom>
        </p:spPr>
      </p:pic>
      <p:pic>
        <p:nvPicPr>
          <p:cNvPr id="24" name="Picture 23" descr="exec-738c4527-c582-403c-9853-5752480e1db7.png"/>
          <p:cNvPicPr>
            <a:picLocks noChangeAspect="1"/>
          </p:cNvPicPr>
          <p:nvPr/>
        </p:nvPicPr>
        <p:blipFill>
          <a:blip r:embed="rId4"/>
          <a:srcRect l="38479" r="41586"/>
          <a:stretch>
            <a:fillRect/>
          </a:stretch>
        </p:blipFill>
        <p:spPr>
          <a:xfrm>
            <a:off x="5779007" y="4654296"/>
            <a:ext cx="621792" cy="896112"/>
          </a:xfrm>
          <a:prstGeom prst="rect">
            <a:avLst/>
          </a:prstGeom>
        </p:spPr>
      </p:pic>
      <p:pic>
        <p:nvPicPr>
          <p:cNvPr id="25" name="Picture 24" descr="exec-738c4527-c582-403c-9853-5752480e1db7.png"/>
          <p:cNvPicPr>
            <a:picLocks noChangeAspect="1"/>
          </p:cNvPicPr>
          <p:nvPr/>
        </p:nvPicPr>
        <p:blipFill>
          <a:blip r:embed="rId4"/>
          <a:srcRect l="58414" r="23041"/>
          <a:stretch>
            <a:fillRect/>
          </a:stretch>
        </p:blipFill>
        <p:spPr>
          <a:xfrm>
            <a:off x="6409944" y="4654296"/>
            <a:ext cx="621792" cy="896112"/>
          </a:xfrm>
          <a:prstGeom prst="rect">
            <a:avLst/>
          </a:prstGeom>
        </p:spPr>
      </p:pic>
      <p:pic>
        <p:nvPicPr>
          <p:cNvPr id="26" name="Picture 25" descr="exec-738c4527-c582-403c-9853-5752480e1db7.png"/>
          <p:cNvPicPr>
            <a:picLocks noChangeAspect="1"/>
          </p:cNvPicPr>
          <p:nvPr/>
        </p:nvPicPr>
        <p:blipFill>
          <a:blip r:embed="rId4"/>
          <a:srcRect l="76959"/>
          <a:stretch>
            <a:fillRect/>
          </a:stretch>
        </p:blipFill>
        <p:spPr>
          <a:xfrm>
            <a:off x="7040879" y="4654296"/>
            <a:ext cx="621792" cy="8961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08576" y="5669280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人物 × 冠帽纹样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1444752"/>
            <a:ext cx="3493008" cy="4709160"/>
          </a:xfrm>
          <a:prstGeom prst="rect">
            <a:avLst/>
          </a:prstGeom>
          <a:solidFill>
            <a:srgbClr val="08090D"/>
          </a:solidFill>
          <a:ln w="1651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21624" y="1709928"/>
            <a:ext cx="3108960" cy="54864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1901952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A064FF"/>
                </a:solidFill>
                <a:latin typeface="Noto Sans CJK SC"/>
              </a:rPr>
              <a:t>文创应用</a:t>
            </a:r>
          </a:p>
        </p:txBody>
      </p:sp>
      <p:pic>
        <p:nvPicPr>
          <p:cNvPr id="31" name="Picture 30" descr="exec-9f22b80b-b3f1-4da7-a465-a7b3e1e1fa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9387" y="2514600"/>
            <a:ext cx="2862577" cy="1609344"/>
          </a:xfrm>
          <a:prstGeom prst="rect">
            <a:avLst/>
          </a:prstGeom>
        </p:spPr>
      </p:pic>
      <p:pic>
        <p:nvPicPr>
          <p:cNvPr id="32" name="Picture 31" descr="exec-00ef1bbf-d591-40aa-9138-826d8358f0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9031" y="4123944"/>
            <a:ext cx="2843288" cy="1600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21624" y="5705856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从戏台走入生活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FFE46A"/>
                </a:solidFill>
                <a:latin typeface="Noto Sans CJK S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展板设计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与成果展示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EXHIBITION · PRESENTATION · APPLICATION</a:t>
            </a:r>
          </a:p>
        </p:txBody>
      </p:sp>
      <p:pic>
        <p:nvPicPr>
          <p:cNvPr id="6" name="Picture 5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429768" y="3172968"/>
            <a:ext cx="2340864" cy="33375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文化展板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文化脉络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25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89888"/>
            <a:ext cx="11164824" cy="45354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600200"/>
            <a:ext cx="4617720" cy="6309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" y="2350008"/>
            <a:ext cx="4480560" cy="59436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606040"/>
            <a:ext cx="4700016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8F6F6"/>
                </a:solidFill>
                <a:latin typeface="Noto Sans CJK SC"/>
              </a:rPr>
              <a:t>掌中有戏，指尖传情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218688"/>
            <a:ext cx="4334256" cy="12710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以掌为台，以偶为角。木刻偶头与织物衣身在艺人手中获得生命，唱白、锣鼓与身段共同构成闽南戏曲的独特景观。</a:t>
            </a:r>
          </a:p>
        </p:txBody>
      </p:sp>
      <p:pic>
        <p:nvPicPr>
          <p:cNvPr id="13" name="Picture 12" descr="exec-3060a3fc-5c59-4d39-bdc4-b9acccbfe6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952" y="2115312"/>
            <a:ext cx="5989320" cy="1996439"/>
          </a:xfrm>
          <a:prstGeom prst="rect">
            <a:avLst/>
          </a:prstGeom>
        </p:spPr>
      </p:pic>
      <p:pic>
        <p:nvPicPr>
          <p:cNvPr id="14" name="Picture 13" descr="exec-961be45b-f16d-45f8-9d91-8d4e7fec6944.png"/>
          <p:cNvPicPr>
            <a:picLocks noChangeAspect="1"/>
          </p:cNvPicPr>
          <p:nvPr/>
        </p:nvPicPr>
        <p:blipFill>
          <a:blip r:embed="rId3"/>
          <a:srcRect r="79576"/>
          <a:stretch>
            <a:fillRect/>
          </a:stretch>
        </p:blipFill>
        <p:spPr>
          <a:xfrm>
            <a:off x="9098280" y="3922776"/>
            <a:ext cx="1773936" cy="18745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2104" y="5074920"/>
            <a:ext cx="7799831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CE3D0"/>
                </a:solidFill>
                <a:latin typeface="Noto Sans CJK SC"/>
              </a:rPr>
              <a:t>东西塔 · 红砖古厝 · 海丝帆船 · 掌中戏台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角色展板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五角成戏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26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" y="1399032"/>
            <a:ext cx="11219688" cy="473659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664208"/>
            <a:ext cx="3867912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E46A"/>
                </a:solidFill>
                <a:latin typeface="Noto Sans CJK SC"/>
              </a:rPr>
              <a:t>一眼识五角</a:t>
            </a:r>
          </a:p>
        </p:txBody>
      </p:sp>
      <p:pic>
        <p:nvPicPr>
          <p:cNvPr id="10" name="Picture 9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731520" y="2157984"/>
            <a:ext cx="2011680" cy="2560320"/>
          </a:xfrm>
          <a:prstGeom prst="rect">
            <a:avLst/>
          </a:prstGeom>
        </p:spPr>
      </p:pic>
      <p:pic>
        <p:nvPicPr>
          <p:cNvPr id="11" name="Picture 10" descr="exec-738c4527-c582-403c-9853-5752480e1db7.png"/>
          <p:cNvPicPr>
            <a:picLocks noChangeAspect="1"/>
          </p:cNvPicPr>
          <p:nvPr/>
        </p:nvPicPr>
        <p:blipFill>
          <a:blip r:embed="rId3"/>
          <a:srcRect r="81085"/>
          <a:stretch>
            <a:fillRect/>
          </a:stretch>
        </p:blipFill>
        <p:spPr>
          <a:xfrm>
            <a:off x="1060704" y="4626864"/>
            <a:ext cx="1353312" cy="1152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392" y="5779008"/>
            <a:ext cx="1773936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pic>
        <p:nvPicPr>
          <p:cNvPr id="13" name="Picture 12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2944368" y="2157984"/>
            <a:ext cx="2011680" cy="2560320"/>
          </a:xfrm>
          <a:prstGeom prst="rect">
            <a:avLst/>
          </a:prstGeom>
        </p:spPr>
      </p:pic>
      <p:pic>
        <p:nvPicPr>
          <p:cNvPr id="14" name="Picture 13" descr="exec-738c4527-c582-403c-9853-5752480e1db7.png"/>
          <p:cNvPicPr>
            <a:picLocks noChangeAspect="1"/>
          </p:cNvPicPr>
          <p:nvPr/>
        </p:nvPicPr>
        <p:blipFill>
          <a:blip r:embed="rId3"/>
          <a:srcRect l="18915" r="61521"/>
          <a:stretch>
            <a:fillRect/>
          </a:stretch>
        </p:blipFill>
        <p:spPr>
          <a:xfrm>
            <a:off x="3273551" y="4626864"/>
            <a:ext cx="1353312" cy="11521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063239" y="5779008"/>
            <a:ext cx="1773936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pic>
        <p:nvPicPr>
          <p:cNvPr id="16" name="Picture 15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157216" y="2157984"/>
            <a:ext cx="2011680" cy="2560320"/>
          </a:xfrm>
          <a:prstGeom prst="rect">
            <a:avLst/>
          </a:prstGeom>
        </p:spPr>
      </p:pic>
      <p:pic>
        <p:nvPicPr>
          <p:cNvPr id="17" name="Picture 16" descr="exec-738c4527-c582-403c-9853-5752480e1db7.png"/>
          <p:cNvPicPr>
            <a:picLocks noChangeAspect="1"/>
          </p:cNvPicPr>
          <p:nvPr/>
        </p:nvPicPr>
        <p:blipFill>
          <a:blip r:embed="rId3"/>
          <a:srcRect l="38479" r="41586"/>
          <a:stretch>
            <a:fillRect/>
          </a:stretch>
        </p:blipFill>
        <p:spPr>
          <a:xfrm>
            <a:off x="5486400" y="4626864"/>
            <a:ext cx="1353312" cy="1152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276088" y="5779008"/>
            <a:ext cx="1773936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pic>
        <p:nvPicPr>
          <p:cNvPr id="19" name="Picture 18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370064" y="2157984"/>
            <a:ext cx="2011680" cy="2560320"/>
          </a:xfrm>
          <a:prstGeom prst="rect">
            <a:avLst/>
          </a:prstGeom>
        </p:spPr>
      </p:pic>
      <p:pic>
        <p:nvPicPr>
          <p:cNvPr id="20" name="Picture 19" descr="exec-738c4527-c582-403c-9853-5752480e1db7.png"/>
          <p:cNvPicPr>
            <a:picLocks noChangeAspect="1"/>
          </p:cNvPicPr>
          <p:nvPr/>
        </p:nvPicPr>
        <p:blipFill>
          <a:blip r:embed="rId3"/>
          <a:srcRect l="58414" r="23041"/>
          <a:stretch>
            <a:fillRect/>
          </a:stretch>
        </p:blipFill>
        <p:spPr>
          <a:xfrm>
            <a:off x="7699248" y="4626864"/>
            <a:ext cx="1353312" cy="11521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88936" y="5779008"/>
            <a:ext cx="1773936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pic>
        <p:nvPicPr>
          <p:cNvPr id="22" name="Picture 21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9582912" y="2157984"/>
            <a:ext cx="2011680" cy="2560320"/>
          </a:xfrm>
          <a:prstGeom prst="rect">
            <a:avLst/>
          </a:prstGeom>
        </p:spPr>
      </p:pic>
      <p:pic>
        <p:nvPicPr>
          <p:cNvPr id="23" name="Picture 22" descr="exec-738c4527-c582-403c-9853-5752480e1db7.png"/>
          <p:cNvPicPr>
            <a:picLocks noChangeAspect="1"/>
          </p:cNvPicPr>
          <p:nvPr/>
        </p:nvPicPr>
        <p:blipFill>
          <a:blip r:embed="rId3"/>
          <a:srcRect l="76959"/>
          <a:stretch>
            <a:fillRect/>
          </a:stretch>
        </p:blipFill>
        <p:spPr>
          <a:xfrm>
            <a:off x="9912096" y="4626864"/>
            <a:ext cx="1353312" cy="11521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01784" y="5779008"/>
            <a:ext cx="1773936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文创陈列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礼品组合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27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08176"/>
            <a:ext cx="11183112" cy="4828032"/>
          </a:xfrm>
          <a:prstGeom prst="roundRect">
            <a:avLst>
              <a:gd name="adj" fmla="val 9000"/>
            </a:avLst>
          </a:prstGeom>
          <a:solidFill>
            <a:srgbClr val="17151C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655064"/>
            <a:ext cx="41148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4B9E"/>
                </a:solidFill>
                <a:latin typeface="Noto Sans CJK SC"/>
              </a:rPr>
              <a:t>从舞台到日常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258568"/>
            <a:ext cx="5193792" cy="1682496"/>
          </a:xfrm>
          <a:prstGeom prst="rect">
            <a:avLst/>
          </a:prstGeom>
          <a:solidFill>
            <a:srgbClr val="08090D"/>
          </a:solidFill>
          <a:ln w="127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xec-9f22b80b-b3f1-4da7-a465-a7b3e1e1fa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470" y="2304288"/>
            <a:ext cx="2293315" cy="12893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5528" y="3666744"/>
            <a:ext cx="50292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4B9E"/>
                </a:solidFill>
                <a:latin typeface="Noto Sans CJK SC"/>
              </a:rPr>
              <a:t>书签与邮票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258568"/>
            <a:ext cx="5193792" cy="1682496"/>
          </a:xfrm>
          <a:prstGeom prst="rect">
            <a:avLst/>
          </a:prstGeom>
          <a:solidFill>
            <a:srgbClr val="08090D"/>
          </a:solidFill>
          <a:ln w="127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ec-00ef1bbf-d591-40aa-9138-826d8358f0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096" y="2304288"/>
            <a:ext cx="2290878" cy="12893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45936" y="3666744"/>
            <a:ext cx="50292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CE3D0"/>
                </a:solidFill>
                <a:latin typeface="Noto Sans CJK SC"/>
              </a:rPr>
              <a:t>挂件与香囊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4050791"/>
            <a:ext cx="5193792" cy="1682496"/>
          </a:xfrm>
          <a:prstGeom prst="rect">
            <a:avLst/>
          </a:prstGeom>
          <a:solidFill>
            <a:srgbClr val="08090D"/>
          </a:solidFill>
          <a:ln w="127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xec-1d04c57d-b66a-4d30-8c00-51786940d3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4688" y="4096511"/>
            <a:ext cx="2290878" cy="12893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5528" y="5458968"/>
            <a:ext cx="50292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064FF"/>
                </a:solidFill>
                <a:latin typeface="Noto Sans CJK SC"/>
              </a:rPr>
              <a:t>桌面摆件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050791"/>
            <a:ext cx="5193792" cy="1682496"/>
          </a:xfrm>
          <a:prstGeom prst="rect">
            <a:avLst/>
          </a:prstGeom>
          <a:solidFill>
            <a:srgbClr val="08090D"/>
          </a:solidFill>
          <a:ln w="127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xec-0d1ca634-2110-45c9-a548-21778b02999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096" y="4096511"/>
            <a:ext cx="2290878" cy="12893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45936" y="5458968"/>
            <a:ext cx="50292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E46A"/>
                </a:solidFill>
                <a:latin typeface="Noto Sans CJK SC"/>
              </a:rPr>
              <a:t>帆布袋与随身镜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展板空间效果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场景应用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28 / 30</a:t>
            </a:r>
          </a:p>
        </p:txBody>
      </p:sp>
      <p:pic>
        <p:nvPicPr>
          <p:cNvPr id="8" name="Picture 7" descr="exec-a49ffbae-72c8-4b36-b18a-57893383e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137" y="1261872"/>
            <a:ext cx="9033533" cy="50840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系列总览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设计成果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1307592"/>
            <a:ext cx="10661904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8F6F6"/>
                </a:solidFill>
                <a:latin typeface="Noto Sans CJK SC"/>
              </a:rPr>
              <a:t>五位角色 · 五套纹样 · 多元文创 · 三组展板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130552"/>
            <a:ext cx="2670048" cy="348386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9f22b80b-b3f1-4da7-a465-a7b3e1e1fa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16170"/>
            <a:ext cx="2523744" cy="14188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8096" y="5120640"/>
            <a:ext cx="2075688" cy="411480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157216"/>
            <a:ext cx="2048256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纸品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130552"/>
            <a:ext cx="2670048" cy="348386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ec-00ef1bbf-d591-40aa-9138-826d8358f0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2915415"/>
            <a:ext cx="2523744" cy="14203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675888" y="5120640"/>
            <a:ext cx="2075688" cy="411480"/>
          </a:xfrm>
          <a:prstGeom prst="roundRect">
            <a:avLst>
              <a:gd name="adj" fmla="val 9000"/>
            </a:avLst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5157216"/>
            <a:ext cx="2048256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随身配饰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2130552"/>
            <a:ext cx="2670048" cy="348386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xec-1d04c57d-b66a-4d30-8c00-51786940d3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2915415"/>
            <a:ext cx="2523744" cy="14203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0" y="5120640"/>
            <a:ext cx="2075688" cy="411480"/>
          </a:xfrm>
          <a:prstGeom prst="roundRect">
            <a:avLst>
              <a:gd name="adj" fmla="val 9000"/>
            </a:avLst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2824" y="5157216"/>
            <a:ext cx="2048256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角色摆件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98864" y="2130552"/>
            <a:ext cx="2670048" cy="348386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xec-0d1ca634-2110-45c9-a548-21778b02999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2915415"/>
            <a:ext cx="2523744" cy="142036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9491472" y="5120640"/>
            <a:ext cx="2075688" cy="411480"/>
          </a:xfrm>
          <a:prstGeom prst="roundRect">
            <a:avLst>
              <a:gd name="adj" fmla="val 9000"/>
            </a:avLst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0616" y="5157216"/>
            <a:ext cx="2048256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家居与出行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3464" y="91439"/>
            <a:ext cx="1078992" cy="107899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0354" y="534258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654" y="685630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6282" y="748330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4910" y="685630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2210" y="534258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910" y="382886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6282" y="320186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654" y="382886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3904" y="561880"/>
            <a:ext cx="138110" cy="13811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4791" y="382767"/>
            <a:ext cx="496336" cy="496336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3615" y="571591"/>
            <a:ext cx="118689" cy="118689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87584" y="137160"/>
            <a:ext cx="896112" cy="89611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33136" y="504924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81063" y="630639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55348" y="682712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29632" y="630639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77559" y="504924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29632" y="379208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55348" y="327135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881063" y="379208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778288" y="527864"/>
            <a:ext cx="114702" cy="11470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29534" y="379110"/>
            <a:ext cx="412211" cy="41221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86353" y="535929"/>
            <a:ext cx="98572" cy="9857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1033271"/>
            <a:ext cx="8138160" cy="8412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E46A"/>
                </a:solidFill>
                <a:latin typeface="Noto Sans CJK SC"/>
              </a:rPr>
              <a:t>掌上乾坤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2002536"/>
            <a:ext cx="8092440" cy="8046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8568" y="2962656"/>
            <a:ext cx="768096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8F6F6"/>
                </a:solidFill>
                <a:latin typeface="Noto Sans CJK SC"/>
              </a:rPr>
              <a:t>让一出掌中戏，走进更多人的生活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0016" y="3657600"/>
            <a:ext cx="278892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ec-961be45b-f16d-45f8-9d91-8d4e7fec6944.png"/>
          <p:cNvPicPr>
            <a:picLocks noChangeAspect="1"/>
          </p:cNvPicPr>
          <p:nvPr/>
        </p:nvPicPr>
        <p:blipFill>
          <a:blip r:embed="rId2"/>
          <a:srcRect r="79576"/>
          <a:stretch>
            <a:fillRect/>
          </a:stretch>
        </p:blipFill>
        <p:spPr>
          <a:xfrm>
            <a:off x="1883664" y="4187952"/>
            <a:ext cx="1682496" cy="2221992"/>
          </a:xfrm>
          <a:prstGeom prst="rect">
            <a:avLst/>
          </a:prstGeom>
        </p:spPr>
      </p:pic>
      <p:pic>
        <p:nvPicPr>
          <p:cNvPr id="31" name="Picture 30" descr="exec-961be45b-f16d-45f8-9d91-8d4e7fec6944.png"/>
          <p:cNvPicPr>
            <a:picLocks noChangeAspect="1"/>
          </p:cNvPicPr>
          <p:nvPr/>
        </p:nvPicPr>
        <p:blipFill>
          <a:blip r:embed="rId2"/>
          <a:srcRect l="20424" r="60161"/>
          <a:stretch>
            <a:fillRect/>
          </a:stretch>
        </p:blipFill>
        <p:spPr>
          <a:xfrm>
            <a:off x="3611880" y="4187952"/>
            <a:ext cx="1682496" cy="2221992"/>
          </a:xfrm>
          <a:prstGeom prst="rect">
            <a:avLst/>
          </a:prstGeom>
        </p:spPr>
      </p:pic>
      <p:pic>
        <p:nvPicPr>
          <p:cNvPr id="32" name="Picture 31" descr="exec-961be45b-f16d-45f8-9d91-8d4e7fec6944.png"/>
          <p:cNvPicPr>
            <a:picLocks noChangeAspect="1"/>
          </p:cNvPicPr>
          <p:nvPr/>
        </p:nvPicPr>
        <p:blipFill>
          <a:blip r:embed="rId2"/>
          <a:srcRect l="39839" r="39788"/>
          <a:stretch>
            <a:fillRect/>
          </a:stretch>
        </p:blipFill>
        <p:spPr>
          <a:xfrm>
            <a:off x="5340096" y="4187952"/>
            <a:ext cx="1682496" cy="2221992"/>
          </a:xfrm>
          <a:prstGeom prst="rect">
            <a:avLst/>
          </a:prstGeom>
        </p:spPr>
      </p:pic>
      <p:pic>
        <p:nvPicPr>
          <p:cNvPr id="33" name="Picture 32" descr="exec-961be45b-f16d-45f8-9d91-8d4e7fec6944.png"/>
          <p:cNvPicPr>
            <a:picLocks noChangeAspect="1"/>
          </p:cNvPicPr>
          <p:nvPr/>
        </p:nvPicPr>
        <p:blipFill>
          <a:blip r:embed="rId2"/>
          <a:srcRect l="60212" r="20323"/>
          <a:stretch>
            <a:fillRect/>
          </a:stretch>
        </p:blipFill>
        <p:spPr>
          <a:xfrm>
            <a:off x="7068312" y="4187952"/>
            <a:ext cx="1682496" cy="2221992"/>
          </a:xfrm>
          <a:prstGeom prst="rect">
            <a:avLst/>
          </a:prstGeom>
        </p:spPr>
      </p:pic>
      <p:pic>
        <p:nvPicPr>
          <p:cNvPr id="34" name="Picture 33" descr="exec-961be45b-f16d-45f8-9d91-8d4e7fec6944.png"/>
          <p:cNvPicPr>
            <a:picLocks noChangeAspect="1"/>
          </p:cNvPicPr>
          <p:nvPr/>
        </p:nvPicPr>
        <p:blipFill>
          <a:blip r:embed="rId2"/>
          <a:srcRect l="79677"/>
          <a:stretch>
            <a:fillRect/>
          </a:stretch>
        </p:blipFill>
        <p:spPr>
          <a:xfrm>
            <a:off x="8796528" y="4187952"/>
            <a:ext cx="1682496" cy="222199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984248" y="6473952"/>
            <a:ext cx="82296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7A6AF"/>
                </a:solidFill>
                <a:latin typeface="Noto Sans CJK SC"/>
              </a:rPr>
              <a:t>QUANZHOU GLOVE PUPPET THEATRE · CULTURAL CREATIVE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