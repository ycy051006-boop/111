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1.png"/><Relationship Id="rId5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1.png"/><Relationship Id="rId5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5447" y="-173736"/>
            <a:ext cx="1005840" cy="100584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7803" y="23906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09354" y="38017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8244" y="438619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7135" y="38017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68686" y="239060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7135" y="97951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8244" y="39502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9354" y="97951"/>
            <a:ext cx="180246" cy="180246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3994" y="264810"/>
            <a:ext cx="128747" cy="12874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024" y="97840"/>
            <a:ext cx="462686" cy="462686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3046" y="273862"/>
            <a:ext cx="110642" cy="11064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80776" y="45719"/>
            <a:ext cx="841248" cy="841248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92927" y="390968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44042" y="508986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26024" y="557871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8005" y="508986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59120" y="390968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08005" y="272949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26024" y="224064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44042" y="272949"/>
            <a:ext cx="150751" cy="150751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47560" y="412504"/>
            <a:ext cx="107679" cy="107679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07912" y="272856"/>
            <a:ext cx="386974" cy="386974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55131" y="420075"/>
            <a:ext cx="92537" cy="9253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76104" y="5285232"/>
            <a:ext cx="1170432" cy="117043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8663" y="57655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20649" y="59297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56449" y="5997791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92249" y="59297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224235" y="57655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92249" y="56013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56449" y="5533363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20649" y="5601377"/>
            <a:ext cx="209741" cy="209741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486412" y="5795540"/>
            <a:ext cx="149815" cy="14981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92120" y="5601248"/>
            <a:ext cx="538398" cy="53839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496946" y="5806074"/>
            <a:ext cx="128747" cy="12874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03120" y="429768"/>
            <a:ext cx="7955279" cy="758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170432"/>
            <a:ext cx="8321040" cy="7772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1947672"/>
            <a:ext cx="84124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QUANZHOU GLOVE PUPPET THEATRE · CULTURAL CREATIVE DESIGN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56048" y="2304288"/>
            <a:ext cx="2286000" cy="36576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exec-0a66db98-67e1-4821-96ff-26317fb37f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3378478"/>
            <a:ext cx="2331720" cy="2185874"/>
          </a:xfrm>
          <a:prstGeom prst="rect">
            <a:avLst/>
          </a:prstGeom>
        </p:spPr>
      </p:pic>
      <p:pic>
        <p:nvPicPr>
          <p:cNvPr id="43" name="Picture 42" descr="exec-d656a48c-2ecb-40db-bcec-3c73c2670f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39" y="3195679"/>
            <a:ext cx="2331720" cy="2551473"/>
          </a:xfrm>
          <a:prstGeom prst="rect">
            <a:avLst/>
          </a:prstGeom>
        </p:spPr>
      </p:pic>
      <p:pic>
        <p:nvPicPr>
          <p:cNvPr id="44" name="Picture 43" descr="exec-9076d6d8-f3fe-4ead-9b81-32e7221ed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624" y="3395718"/>
            <a:ext cx="2331720" cy="2151395"/>
          </a:xfrm>
          <a:prstGeom prst="rect">
            <a:avLst/>
          </a:prstGeom>
        </p:spPr>
      </p:pic>
      <p:pic>
        <p:nvPicPr>
          <p:cNvPr id="45" name="Picture 44" descr="exec-448f65af-04da-4473-9eeb-686a54cdf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9208" y="3094408"/>
            <a:ext cx="2331720" cy="2754015"/>
          </a:xfrm>
          <a:prstGeom prst="rect">
            <a:avLst/>
          </a:prstGeom>
        </p:spPr>
      </p:pic>
      <p:pic>
        <p:nvPicPr>
          <p:cNvPr id="46" name="Picture 45" descr="exec-af3f417a-05e3-4a8a-b2bf-e495e2a83f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5792" y="3072384"/>
            <a:ext cx="2331720" cy="2798063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10896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97479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4064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0648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7232" y="6153912"/>
            <a:ext cx="196596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29768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4B9E"/>
                </a:solidFill>
                <a:latin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3392" y="512064"/>
            <a:ext cx="2743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93942"/>
                </a:solidFill>
                <a:latin typeface="Noto Sans CJK SC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11155680" cy="13716"/>
          </a:xfrm>
          <a:prstGeom prst="rect">
            <a:avLst/>
          </a:prstGeom>
          <a:solidFill>
            <a:srgbClr val="3E3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创意溯源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与文化背景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4736592"/>
            <a:ext cx="2267712" cy="22860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核心视觉设计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与规范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4736592"/>
            <a:ext cx="2267712" cy="22860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A064FF"/>
                </a:solidFill>
                <a:latin typeface="Noto Sans CJK S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文创衍生品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开发应用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4736592"/>
            <a:ext cx="2267712" cy="22860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9136" y="2121408"/>
            <a:ext cx="25603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58A9FF"/>
                </a:solidFill>
                <a:latin typeface="Noto Sans CJK SC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9136" y="3200400"/>
            <a:ext cx="246888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展板设计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与成果展示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89136" y="4736592"/>
            <a:ext cx="2267712" cy="22860"/>
          </a:xfrm>
          <a:prstGeom prst="rect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xec-0a66db98-67e1-4821-96ff-26317fb37f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334973"/>
            <a:ext cx="859536" cy="805773"/>
          </a:xfrm>
          <a:prstGeom prst="rect">
            <a:avLst/>
          </a:prstGeom>
        </p:spPr>
      </p:pic>
      <p:pic>
        <p:nvPicPr>
          <p:cNvPr id="18" name="Picture 17" descr="exec-d656a48c-2ecb-40db-bcec-3c73c2670f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5267588"/>
            <a:ext cx="859536" cy="940543"/>
          </a:xfrm>
          <a:prstGeom prst="rect">
            <a:avLst/>
          </a:prstGeom>
        </p:spPr>
      </p:pic>
      <p:pic>
        <p:nvPicPr>
          <p:cNvPr id="19" name="Picture 18" descr="exec-9076d6d8-f3fe-4ead-9b81-32e7221ed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416" y="5341328"/>
            <a:ext cx="859536" cy="793063"/>
          </a:xfrm>
          <a:prstGeom prst="rect">
            <a:avLst/>
          </a:prstGeom>
        </p:spPr>
      </p:pic>
      <p:pic>
        <p:nvPicPr>
          <p:cNvPr id="20" name="Picture 19" descr="exec-448f65af-04da-4473-9eeb-686a54cdf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6664" y="5230257"/>
            <a:ext cx="859536" cy="1015205"/>
          </a:xfrm>
          <a:prstGeom prst="rect">
            <a:avLst/>
          </a:prstGeom>
        </p:spPr>
      </p:pic>
      <p:pic>
        <p:nvPicPr>
          <p:cNvPr id="21" name="Picture 20" descr="exec-af3f417a-05e3-4a8a-b2bf-e495e2a83f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7912" y="5222138"/>
            <a:ext cx="859536" cy="1031443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10442448" y="4690872"/>
            <a:ext cx="731520" cy="73152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887797" y="4991087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45288" y="509371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42663" y="5136221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40038" y="509371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97530" y="4991087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40038" y="488846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742663" y="4845954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45288" y="4888462"/>
            <a:ext cx="131088" cy="131088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1390" y="5009814"/>
            <a:ext cx="93634" cy="9363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639958" y="4888382"/>
            <a:ext cx="336499" cy="336499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767974" y="5016398"/>
            <a:ext cx="80467" cy="80467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创意溯源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与文化背景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FROM FOLK STAGE TO CONTEMPORARY DESIGN</a:t>
            </a:r>
          </a:p>
        </p:txBody>
      </p:sp>
      <p:pic>
        <p:nvPicPr>
          <p:cNvPr id="6" name="Picture 5" descr="exec-d656a48c-2ecb-40db-bcec-3c73c2670f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3561008"/>
            <a:ext cx="2340864" cy="2561479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历史背景介绍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文化脉络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43584"/>
            <a:ext cx="6126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4B9E"/>
                </a:solidFill>
                <a:latin typeface="Noto Sans CJK SC"/>
              </a:rPr>
              <a:t>一方小戏台，一手演乾坤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993392"/>
            <a:ext cx="5623560" cy="12070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8F6F6"/>
                </a:solidFill>
                <a:latin typeface="Noto Sans CJK SC"/>
              </a:rPr>
              <a:t>泉州布袋戏流传于闽南地区。艺人将手伸入布偶的衣身，以手指操控头部与双臂，让木刻偶头、布制服饰和细腻动作在小戏台上相遇。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456432"/>
            <a:ext cx="5623560" cy="11064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8F6F6"/>
                </a:solidFill>
                <a:latin typeface="Noto Sans CJK SC"/>
              </a:rPr>
              <a:t>演出常以闽南语唱白、锣鼓节奏与戏曲程式推进情节，既能表现忠义豪情，也能讲述市井生活与民间趣事。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" y="5010912"/>
            <a:ext cx="5650992" cy="731520"/>
          </a:xfrm>
          <a:prstGeom prst="roundRect">
            <a:avLst>
              <a:gd name="adj" fmla="val 9000"/>
            </a:avLst>
          </a:prstGeom>
          <a:solidFill>
            <a:srgbClr val="1F1624"/>
          </a:solidFill>
          <a:ln w="127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166360"/>
            <a:ext cx="525780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4B9E"/>
                </a:solidFill>
                <a:latin typeface="Noto Sans CJK SC"/>
              </a:rPr>
              <a:t>设计切入点：以生、旦、净、末、丑五个角色，重构“掌中戏”的年轻表达。</a:t>
            </a:r>
          </a:p>
        </p:txBody>
      </p:sp>
      <p:pic>
        <p:nvPicPr>
          <p:cNvPr id="13" name="Picture 12" descr="exec-9076d6d8-f3fe-4ead-9b81-32e7221ed6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308436"/>
            <a:ext cx="3063240" cy="2826343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0250424" y="1481328"/>
            <a:ext cx="749808" cy="749808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06907" y="178904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63335" y="189423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58145" y="1937811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52954" y="189423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09383" y="1789049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452954" y="1683858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558145" y="1640287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63335" y="1683858"/>
            <a:ext cx="134365" cy="13436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77340" y="1808244"/>
            <a:ext cx="95975" cy="9597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52872" y="1683776"/>
            <a:ext cx="344911" cy="34491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84088" y="1814992"/>
            <a:ext cx="82478" cy="8247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选题介绍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项目背景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05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581912"/>
            <a:ext cx="41148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4B9E"/>
                </a:solidFill>
                <a:latin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项目背景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城市文化与文旅体验不断融合，传统戏曲需要更鲜明、轻盈的视觉入口，让初次接触的观众愿意驻足与了解。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581912"/>
            <a:ext cx="41148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599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CE3D0"/>
                </a:solidFill>
                <a:latin typeface="Noto Sans CJK SC"/>
              </a:rPr>
              <a:t>设计说明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提取木偶的冠帽、脸谱、衣饰和表演姿态，转化为五位可辨认的国潮角色，并延展到日常文创载体。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417320"/>
            <a:ext cx="3566160" cy="40782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1581912"/>
            <a:ext cx="411480" cy="54864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08792" y="1490472"/>
            <a:ext cx="59436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E46A"/>
                </a:solidFill>
                <a:latin typeface="Noto Sans CJK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1837944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E46A"/>
                </a:solidFill>
                <a:latin typeface="Noto Sans CJK SC"/>
              </a:rPr>
              <a:t>设计理念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386584"/>
            <a:ext cx="3200400" cy="2980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以“一角一出戏”为核心，让收藏、使用和分享成为走近泉州布袋戏的连续体验。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8256" y="5833872"/>
            <a:ext cx="8110727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文化识别 → 角色共鸣 → 场景使用 → 自发传播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受众人群与使用场景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目标人群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06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09344"/>
            <a:ext cx="41148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泉州游客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希望带走轻便、具有地方辨识度的纪念品。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场景：景区、博物馆、古城街巷。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609344"/>
            <a:ext cx="41148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4CE3D0"/>
                </a:solidFill>
                <a:latin typeface="Noto Sans CJK SC"/>
              </a:rPr>
              <a:t>青年与亲子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偏好角色故事、成套收藏和互动体验。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场景：研学课堂、社交分享、礼赠。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6" y="1444752"/>
            <a:ext cx="3566160" cy="42428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02752" y="1609344"/>
            <a:ext cx="411480" cy="54864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1865376"/>
            <a:ext cx="32004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064FF"/>
                </a:solidFill>
                <a:latin typeface="Noto Sans CJK SC"/>
              </a:rPr>
              <a:t>文旅机构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414016"/>
            <a:ext cx="3200400" cy="314553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需要能够代表在地文化、方便陈列与传播的系列礼品。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场景：展演活动、城市礼物、公共教育。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5989320"/>
            <a:ext cx="90525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接触戏偶 → 认识行当 → 收集角色 → 分享泉州故事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参考风格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风格定位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353312"/>
            <a:ext cx="649224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8F6F6"/>
                </a:solidFill>
                <a:latin typeface="Noto Sans CJK SC"/>
              </a:rPr>
              <a:t>统一新中式国潮风格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8869680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高饱和撞色 · 扁平插画 · 戏台层次 · 纹样点缀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" y="2660904"/>
            <a:ext cx="11228832" cy="332841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ec-0a66db98-67e1-4821-96ff-26317fb37f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369034"/>
            <a:ext cx="1737360" cy="16286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2376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pic>
        <p:nvPicPr>
          <p:cNvPr id="13" name="Picture 12" descr="exec-d656a48c-2ecb-40db-bcec-3c73c2670f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24" y="3232831"/>
            <a:ext cx="1737360" cy="19010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35224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pic>
        <p:nvPicPr>
          <p:cNvPr id="15" name="Picture 14" descr="exec-9076d6d8-f3fe-4ead-9b81-32e7221ed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3381879"/>
            <a:ext cx="1737360" cy="160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48072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pic>
        <p:nvPicPr>
          <p:cNvPr id="17" name="Picture 16" descr="exec-448f65af-04da-4473-9eeb-686a54cdf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3157374"/>
            <a:ext cx="1737360" cy="205201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60920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pic>
        <p:nvPicPr>
          <p:cNvPr id="19" name="Picture 18" descr="exec-af3f417a-05e3-4a8a-b2bf-e495e2a83f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3767" y="3140964"/>
            <a:ext cx="1737360" cy="208483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573767" y="5522976"/>
            <a:ext cx="1737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灵感创意来源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01 / 元素提取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08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7" y="1408176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8096" y="1965960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9114" y="2303702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21291" y="2419155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5838" y="2466978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0385" y="2419155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563" y="2303702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385" y="2188249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5838" y="2140427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21291" y="2188249"/>
            <a:ext cx="147474" cy="147474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6906" y="2324770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0295" y="2188159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4313" y="2332177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47088" y="1801368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冠帽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7088" y="2386584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角色身份的第一眼线索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1408176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7376" y="1965960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38394" y="2303702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90571" y="2419155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75118" y="2466978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59665" y="2419155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11843" y="2303702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665" y="2188249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75118" y="2140427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90571" y="2188249"/>
            <a:ext cx="147474" cy="147474"/>
          </a:xfrm>
          <a:prstGeom prst="ellipse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96186" y="2324770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659575" y="2188159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03593" y="2332177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801368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954C"/>
                </a:solidFill>
                <a:latin typeface="Noto Sans CJK SC"/>
              </a:rPr>
              <a:t>脸谱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6368" y="2386584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净角的性格张力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1207" y="3639312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68096" y="4197096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269114" y="4534838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21291" y="4650291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05838" y="4698114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90385" y="4650291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2563" y="4534838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90385" y="4419385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05838" y="4371563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21291" y="4419385"/>
            <a:ext cx="147474" cy="147474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26906" y="4555906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0295" y="4419295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34313" y="4563313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47088" y="4032504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衣纹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47088" y="4617720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闽南戏曲的装饰节奏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0488" y="3639312"/>
            <a:ext cx="5431536" cy="1938528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37376" y="4197096"/>
            <a:ext cx="822960" cy="82296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938394" y="4534838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90571" y="4650291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775118" y="4698114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59665" y="4650291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611843" y="4534838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659665" y="4419385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775118" y="4371563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890571" y="4419385"/>
            <a:ext cx="147474" cy="147474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796186" y="4555906"/>
            <a:ext cx="105338" cy="105338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659575" y="4419295"/>
            <a:ext cx="378561" cy="37856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593" y="4563313"/>
            <a:ext cx="90525" cy="905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16368" y="4032504"/>
            <a:ext cx="3749039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064FF"/>
                </a:solidFill>
                <a:latin typeface="Noto Sans CJK SC"/>
              </a:rPr>
              <a:t>戏台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4617720"/>
            <a:ext cx="3694176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框景与层叠的表演空间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8760" y="6144768"/>
            <a:ext cx="93268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7A6AF"/>
                </a:solidFill>
                <a:latin typeface="Noto Sans CJK SC"/>
              </a:rPr>
              <a:t>不是复制传统戏偶，而是将其可识别的视觉语言转化为当代设计。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4CE3D0"/>
                </a:solidFill>
                <a:latin typeface="Noto Sans CJK S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核心视觉设计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与规范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CHARACTER SYSTEM · COLOR · ORNAMENT</a:t>
            </a:r>
          </a:p>
        </p:txBody>
      </p:sp>
      <p:pic>
        <p:nvPicPr>
          <p:cNvPr id="6" name="Picture 5" descr="exec-9076d6d8-f3fe-4ead-9b81-32e7221ed6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3761831"/>
            <a:ext cx="2340864" cy="215983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核心主体视觉元素设计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五角成戏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10 / 30</a:t>
            </a:r>
          </a:p>
        </p:txBody>
      </p:sp>
      <p:pic>
        <p:nvPicPr>
          <p:cNvPr id="8" name="Picture 7" descr="exec-0a66db98-67e1-4821-96ff-26317fb37f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2248336"/>
            <a:ext cx="2304288" cy="216015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生  SHENG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文雅机敏，启幕引戏</a:t>
            </a:r>
          </a:p>
        </p:txBody>
      </p:sp>
      <p:pic>
        <p:nvPicPr>
          <p:cNvPr id="12" name="Picture 11" descr="exec-d656a48c-2ecb-40db-bcec-3c73c2670f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9192" y="2067687"/>
            <a:ext cx="2304288" cy="252145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8036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旦  DAN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柔美灵动，以情动人</a:t>
            </a:r>
          </a:p>
        </p:txBody>
      </p:sp>
      <p:pic>
        <p:nvPicPr>
          <p:cNvPr id="16" name="Picture 15" descr="exec-9076d6d8-f3fe-4ead-9b81-32e7221ed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2265373"/>
            <a:ext cx="2304288" cy="212608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25780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净  JING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浓墨重彩，气势如虹</a:t>
            </a:r>
          </a:p>
        </p:txBody>
      </p:sp>
      <p:pic>
        <p:nvPicPr>
          <p:cNvPr id="20" name="Picture 19" descr="exec-448f65af-04da-4473-9eeb-686a54cdf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4072" y="1967608"/>
            <a:ext cx="2304288" cy="2721615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63524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末  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465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沉稳慈和，阅尽世情</a:t>
            </a:r>
          </a:p>
        </p:txBody>
      </p:sp>
      <p:pic>
        <p:nvPicPr>
          <p:cNvPr id="24" name="Picture 23" descr="exec-af3f417a-05e3-4a8a-b2bf-e495e2a83f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1512" y="1945843"/>
            <a:ext cx="2304288" cy="2765145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10012680" y="5413248"/>
            <a:ext cx="1901952" cy="457200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5468112"/>
            <a:ext cx="19019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丑  CHOU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12096" y="5989320"/>
            <a:ext cx="21031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8F6F6"/>
                </a:solidFill>
                <a:latin typeface="Noto Sans CJK SC"/>
              </a:rPr>
              <a:t>诙谐俏皮，点亮戏台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色彩搭配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角色色谱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11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563624"/>
            <a:ext cx="1188720" cy="327355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#FF4B9E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胭脂粉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92808" y="1563624"/>
            <a:ext cx="1188720" cy="327355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280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#4CE3D0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海丝青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563624"/>
            <a:ext cx="1188720" cy="3273552"/>
          </a:xfrm>
          <a:prstGeom prst="rect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012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#FFE46A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戏台金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27448" y="1563624"/>
            <a:ext cx="1188720" cy="3273552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2744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#A064FF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华彩紫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563624"/>
            <a:ext cx="1188720" cy="3273552"/>
          </a:xfrm>
          <a:prstGeom prst="rect">
            <a:avLst/>
          </a:prstGeom>
          <a:solidFill>
            <a:srgbClr val="5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#58A9FF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靛蓝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62088" y="1563624"/>
            <a:ext cx="1188720" cy="3273552"/>
          </a:xfrm>
          <a:prstGeom prst="rect">
            <a:avLst/>
          </a:prstGeom>
          <a:solidFill>
            <a:srgbClr val="FF9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#FF954C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08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朱橘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9408" y="1563624"/>
            <a:ext cx="1188720" cy="3273552"/>
          </a:xfrm>
          <a:prstGeom prst="rect">
            <a:avLst/>
          </a:prstGeom>
          <a:solidFill>
            <a:srgbClr val="F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940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#F8F6F6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纸白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96728" y="1563624"/>
            <a:ext cx="1188720" cy="3273552"/>
          </a:xfrm>
          <a:prstGeom prst="rect">
            <a:avLst/>
          </a:prstGeom>
          <a:solidFill>
            <a:srgbClr val="141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96728" y="4937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F6F6"/>
                </a:solidFill>
                <a:latin typeface="Noto Sans CJK SC"/>
              </a:rPr>
              <a:t>#14151E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96728" y="5367528"/>
            <a:ext cx="1188720" cy="3383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幕黑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" y="6044184"/>
            <a:ext cx="10762488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7A6AF"/>
                </a:solidFill>
                <a:latin typeface="Noto Sans CJK SC"/>
              </a:rPr>
              <a:t>从戏服与脸谱提取高饱和色彩，以黑色戏幕衬托角色；色彩随角色切换，系统保持统一。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辅助图形设计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纹样系统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234440"/>
            <a:ext cx="10680192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4B9E"/>
                </a:solidFill>
                <a:latin typeface="Noto Sans CJK SC"/>
              </a:rPr>
              <a:t>五角五纹 · 只从五位人物的衣服图案提取</a:t>
            </a:r>
          </a:p>
        </p:txBody>
      </p:sp>
      <p:pic>
        <p:nvPicPr>
          <p:cNvPr id="9" name="Picture 8" descr="exec-a514f65f-ba45-439c-8cd4-ace2b8368847.png"/>
          <p:cNvPicPr>
            <a:picLocks noChangeAspect="1"/>
          </p:cNvPicPr>
          <p:nvPr/>
        </p:nvPicPr>
        <p:blipFill>
          <a:blip r:embed="rId2"/>
          <a:srcRect r="79236"/>
          <a:stretch>
            <a:fillRect/>
          </a:stretch>
        </p:blipFill>
        <p:spPr>
          <a:xfrm>
            <a:off x="393192" y="1911095"/>
            <a:ext cx="2221992" cy="3300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8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竹叶祥云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生</a:t>
            </a:r>
          </a:p>
        </p:txBody>
      </p:sp>
      <p:pic>
        <p:nvPicPr>
          <p:cNvPr id="12" name="Picture 11" descr="exec-a514f65f-ba45-439c-8cd4-ace2b8368847.png"/>
          <p:cNvPicPr>
            <a:picLocks noChangeAspect="1"/>
          </p:cNvPicPr>
          <p:nvPr/>
        </p:nvPicPr>
        <p:blipFill>
          <a:blip r:embed="rId2"/>
          <a:srcRect l="20764" r="59576"/>
          <a:stretch>
            <a:fillRect/>
          </a:stretch>
        </p:blipFill>
        <p:spPr>
          <a:xfrm>
            <a:off x="2734056" y="1911095"/>
            <a:ext cx="2221992" cy="3300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70632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4B9E"/>
                </a:solidFill>
                <a:latin typeface="Noto Sans CJK SC"/>
              </a:rPr>
              <a:t>牡丹衣纹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旦</a:t>
            </a:r>
          </a:p>
        </p:txBody>
      </p:sp>
      <p:pic>
        <p:nvPicPr>
          <p:cNvPr id="15" name="Picture 14" descr="exec-a514f65f-ba45-439c-8cd4-ace2b8368847.png"/>
          <p:cNvPicPr>
            <a:picLocks noChangeAspect="1"/>
          </p:cNvPicPr>
          <p:nvPr/>
        </p:nvPicPr>
        <p:blipFill>
          <a:blip r:embed="rId2"/>
          <a:srcRect l="40424" r="38214"/>
          <a:stretch>
            <a:fillRect/>
          </a:stretch>
        </p:blipFill>
        <p:spPr>
          <a:xfrm>
            <a:off x="5074920" y="1911095"/>
            <a:ext cx="2221992" cy="3300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11496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954C"/>
                </a:solidFill>
                <a:latin typeface="Noto Sans CJK SC"/>
              </a:rPr>
              <a:t>甲胄云纹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净</a:t>
            </a:r>
          </a:p>
        </p:txBody>
      </p:sp>
      <p:pic>
        <p:nvPicPr>
          <p:cNvPr id="18" name="Picture 17" descr="exec-a514f65f-ba45-439c-8cd4-ace2b8368847.png"/>
          <p:cNvPicPr>
            <a:picLocks noChangeAspect="1"/>
          </p:cNvPicPr>
          <p:nvPr/>
        </p:nvPicPr>
        <p:blipFill>
          <a:blip r:embed="rId2"/>
          <a:srcRect l="61786" r="18324"/>
          <a:stretch>
            <a:fillRect/>
          </a:stretch>
        </p:blipFill>
        <p:spPr>
          <a:xfrm>
            <a:off x="7415783" y="1911095"/>
            <a:ext cx="2221992" cy="33009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452359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58A9FF"/>
                </a:solidFill>
                <a:latin typeface="Noto Sans CJK SC"/>
              </a:rPr>
              <a:t>云浪锦纹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末</a:t>
            </a:r>
          </a:p>
        </p:txBody>
      </p:sp>
      <p:pic>
        <p:nvPicPr>
          <p:cNvPr id="21" name="Picture 20" descr="exec-a514f65f-ba45-439c-8cd4-ace2b8368847.png"/>
          <p:cNvPicPr>
            <a:picLocks noChangeAspect="1"/>
          </p:cNvPicPr>
          <p:nvPr/>
        </p:nvPicPr>
        <p:blipFill>
          <a:blip r:embed="rId2"/>
          <a:srcRect l="81676"/>
          <a:stretch>
            <a:fillRect/>
          </a:stretch>
        </p:blipFill>
        <p:spPr>
          <a:xfrm>
            <a:off x="9756648" y="1911095"/>
            <a:ext cx="2221992" cy="33009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93224" y="5212080"/>
            <a:ext cx="2139696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E46A"/>
                </a:solidFill>
                <a:latin typeface="Noto Sans CJK SC"/>
              </a:rPr>
              <a:t>花卉衣纹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67544" y="5641848"/>
            <a:ext cx="1591056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8F6F6"/>
                </a:solidFill>
                <a:latin typeface="Noto Sans CJK SC"/>
              </a:rPr>
              <a:t>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44768"/>
            <a:ext cx="1083564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纹样可独立用于印章、挂件、香囊与包装，也可与人物形象组合。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辅助元素展示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02 / 版式语言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13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" y="1481328"/>
            <a:ext cx="3520440" cy="3630168"/>
          </a:xfrm>
          <a:prstGeom prst="rect">
            <a:avLst/>
          </a:prstGeom>
          <a:solidFill>
            <a:srgbClr val="101117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1481328"/>
            <a:ext cx="4800600" cy="3630168"/>
          </a:xfrm>
          <a:prstGeom prst="rect">
            <a:avLst/>
          </a:prstGeom>
          <a:solidFill>
            <a:srgbClr val="101117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6840" y="1481328"/>
            <a:ext cx="2715768" cy="3630168"/>
          </a:xfrm>
          <a:prstGeom prst="rect">
            <a:avLst/>
          </a:prstGeom>
          <a:solidFill>
            <a:srgbClr val="101117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3172968" cy="7132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880360"/>
            <a:ext cx="3200400" cy="6492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2144" y="3831336"/>
            <a:ext cx="2176272" cy="64008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ec-3060a3fc-5c59-4d39-bdc4-b9acccbfe6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528316"/>
            <a:ext cx="4663440" cy="15544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9573768" y="2103120"/>
            <a:ext cx="1563624" cy="1563624"/>
          </a:xfrm>
          <a:prstGeom prst="rect">
            <a:avLst/>
          </a:prstGeom>
          <a:solidFill>
            <a:srgbClr val="08090D"/>
          </a:solidFill>
          <a:ln w="29209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10928" y="2240280"/>
            <a:ext cx="1289304" cy="1289304"/>
          </a:xfrm>
          <a:prstGeom prst="rect">
            <a:avLst/>
          </a:prstGeom>
          <a:solidFill>
            <a:srgbClr val="08090D"/>
          </a:solidFill>
          <a:ln w="1397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2459736"/>
            <a:ext cx="1088136" cy="9052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泉州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布袋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340096"/>
            <a:ext cx="22860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E46A"/>
                </a:solidFill>
                <a:latin typeface="Noto Sans CJK SC"/>
              </a:rPr>
              <a:t>主标题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5340096"/>
            <a:ext cx="22860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CE3D0"/>
                </a:solidFill>
                <a:latin typeface="Noto Sans CJK SC"/>
              </a:rPr>
              <a:t>泉州城市插画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5340096"/>
            <a:ext cx="22860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4B9E"/>
                </a:solidFill>
                <a:latin typeface="Noto Sans CJK SC"/>
              </a:rPr>
              <a:t>篆刻印章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6053328"/>
            <a:ext cx="10908792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字体与标识保持可编辑；城市插画融合东西塔、红砖古厝、海丝帆船与戏台。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A064FF"/>
                </a:solidFill>
                <a:latin typeface="Noto Sans CJK S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文创衍生品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开发应用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FROM CHARACTER TO EVERYDAY OBJECT</a:t>
            </a:r>
          </a:p>
        </p:txBody>
      </p:sp>
      <p:pic>
        <p:nvPicPr>
          <p:cNvPr id="6" name="Picture 5" descr="exec-0a66db98-67e1-4821-96ff-26317fb37f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3744524"/>
            <a:ext cx="2340864" cy="2194447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产品延展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文创矩阵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15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426464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6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4B9E"/>
                </a:solidFill>
                <a:latin typeface="Noto Sans CJK SC"/>
              </a:rPr>
              <a:t>纸品系列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49424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书签 / 明信片 / 邮票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807208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轻便收藏，传递角色故事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426464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82496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CE3D0"/>
                </a:solidFill>
                <a:latin typeface="Noto Sans CJK SC"/>
              </a:rPr>
              <a:t>随身系列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49424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钥匙扣 / 香囊 / 帆布袋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07208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让戏偶融入日常出行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" y="3657600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913632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064FF"/>
                </a:solidFill>
                <a:latin typeface="Noto Sans CJK SC"/>
              </a:rPr>
              <a:t>收藏系列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480560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角色摆件 / 盲盒包装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038344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建立五角成套的收藏体验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3657600"/>
            <a:ext cx="5413248" cy="2002536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913632"/>
            <a:ext cx="480060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E46A"/>
                </a:solidFill>
                <a:latin typeface="Noto Sans CJK SC"/>
              </a:rPr>
              <a:t>展陈系列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80560"/>
            <a:ext cx="480060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8F6F6"/>
                </a:solidFill>
                <a:latin typeface="Noto Sans CJK SC"/>
              </a:rPr>
              <a:t>角色立牌 / 展板 / 礼盒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38344"/>
            <a:ext cx="48646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适用于文旅空间与研学活动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角色书签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纸品系列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16 / 30</a:t>
            </a:r>
          </a:p>
        </p:txBody>
      </p:sp>
      <p:pic>
        <p:nvPicPr>
          <p:cNvPr id="8" name="Picture 7" descr="exec-7103b747-3b10-4929-92ce-6b6ca182f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084" y="1344168"/>
            <a:ext cx="8383638" cy="47183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" y="6062472"/>
            <a:ext cx="107442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一角一签：完整人物与衣饰纹样组合成系列纸品，可独立收藏，也可成套陈列。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香囊设计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17 / 30</a:t>
            </a:r>
          </a:p>
        </p:txBody>
      </p:sp>
      <p:pic>
        <p:nvPicPr>
          <p:cNvPr id="8" name="Picture 7" descr="exec-a74c04d4-710e-4b1e-8676-ee7ed7d8c6ef.png"/>
          <p:cNvPicPr>
            <a:picLocks noChangeAspect="1"/>
          </p:cNvPicPr>
          <p:nvPr/>
        </p:nvPicPr>
        <p:blipFill>
          <a:blip r:embed="rId2"/>
          <a:srcRect t="12000" b="16000"/>
          <a:stretch>
            <a:fillRect/>
          </a:stretch>
        </p:blipFill>
        <p:spPr>
          <a:xfrm>
            <a:off x="603504" y="1463040"/>
            <a:ext cx="10972800" cy="443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952744"/>
            <a:ext cx="1036015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香囊直接使用五位人物衣服上的竹云、牡丹、甲纹、云浪与小花图案。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邮票设计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纸品系列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18 / 30</a:t>
            </a:r>
          </a:p>
        </p:txBody>
      </p:sp>
      <p:pic>
        <p:nvPicPr>
          <p:cNvPr id="8" name="Picture 7" descr="exec-4fd7cc14-b95a-483e-8b0a-58bbcba2d0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171" y="1344168"/>
            <a:ext cx="8334896" cy="469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062472"/>
            <a:ext cx="1038758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五枚邮票均保留人物从冠帽到鞋履的完整形象，并以衣饰纹样作边框。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桌面角色摆件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收藏系列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19 / 30</a:t>
            </a:r>
          </a:p>
        </p:txBody>
      </p:sp>
      <p:pic>
        <p:nvPicPr>
          <p:cNvPr id="8" name="Picture 7" descr="exec-1d04c57d-b66a-4d30-8c00-51786940d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869" y="1280160"/>
            <a:ext cx="9049780" cy="5093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6181344"/>
            <a:ext cx="9665208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7A6AF"/>
                </a:solidFill>
                <a:latin typeface="Noto Sans CJK SC"/>
              </a:rPr>
              <a:t>五角成套收藏，底座延续各角色的专属辅助纹样。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角色钥匙扣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20 / 30</a:t>
            </a:r>
          </a:p>
        </p:txBody>
      </p:sp>
      <p:pic>
        <p:nvPicPr>
          <p:cNvPr id="8" name="Picture 7" descr="exec-596f8ca4-e890-433f-ace0-b8f971f0d2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228" y="1344168"/>
            <a:ext cx="8383638" cy="47183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6053328"/>
            <a:ext cx="107899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完整人物挂件配套衣饰纹样小牌与流苏，适合单件购买或成套礼赠。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帆布袋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随身系列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21 / 30</a:t>
            </a:r>
          </a:p>
        </p:txBody>
      </p:sp>
      <p:pic>
        <p:nvPicPr>
          <p:cNvPr id="8" name="Picture 7" descr="exec-dbd40439-65f2-48e0-8c40-92cfef5e0b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475" y="1307592"/>
            <a:ext cx="8351144" cy="4700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044184"/>
            <a:ext cx="100584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8F6F6"/>
                </a:solidFill>
                <a:latin typeface="Noto Sans CJK SC"/>
              </a:rPr>
              <a:t>五款帆布袋完整呈现人物，从帽饰、衣袖到鞋履均保留在图案内。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设计延展 —— 随身镜与系列礼盒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礼赠系列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22 / 30</a:t>
            </a:r>
          </a:p>
        </p:txBody>
      </p:sp>
      <p:pic>
        <p:nvPicPr>
          <p:cNvPr id="8" name="Picture 7" descr="exec-e0916041-80d2-42b4-b898-13983c60c35e.png"/>
          <p:cNvPicPr>
            <a:picLocks noChangeAspect="1"/>
          </p:cNvPicPr>
          <p:nvPr/>
        </p:nvPicPr>
        <p:blipFill>
          <a:blip r:embed="rId2"/>
          <a:srcRect t="14000" b="20000"/>
          <a:stretch>
            <a:fillRect/>
          </a:stretch>
        </p:blipFill>
        <p:spPr>
          <a:xfrm>
            <a:off x="585216" y="1572768"/>
            <a:ext cx="10972800" cy="40782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833872"/>
            <a:ext cx="10753344" cy="4663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8F6F6"/>
                </a:solidFill>
                <a:latin typeface="Noto Sans CJK SC"/>
              </a:rPr>
              <a:t>随身镜外壳使用五款衣饰辅助纹样；可与书签、挂件组合为「五角成戏」礼盒。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展板设计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03 / 空间展示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23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444752"/>
            <a:ext cx="3493008" cy="4709160"/>
          </a:xfrm>
          <a:prstGeom prst="rect">
            <a:avLst/>
          </a:prstGeom>
          <a:solidFill>
            <a:srgbClr val="08090D"/>
          </a:solidFill>
          <a:ln w="1651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" y="1709928"/>
            <a:ext cx="3108960" cy="54864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01952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4B9E"/>
                </a:solidFill>
                <a:latin typeface="Noto Sans CJK SC"/>
              </a:rPr>
              <a:t>文化溯源</a:t>
            </a:r>
          </a:p>
        </p:txBody>
      </p:sp>
      <p:pic>
        <p:nvPicPr>
          <p:cNvPr id="11" name="Picture 10" descr="exec-3060a3fc-5c59-4d39-bdc4-b9acccbfe6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731008"/>
            <a:ext cx="3200400" cy="1066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4133087"/>
            <a:ext cx="294436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8F6F6"/>
                </a:solidFill>
                <a:latin typeface="Noto Sans CJK SC"/>
              </a:rPr>
              <a:t>指尖之间，山海入戏</a:t>
            </a:r>
          </a:p>
        </p:txBody>
      </p:sp>
      <p:pic>
        <p:nvPicPr>
          <p:cNvPr id="13" name="Picture 12" descr="exec-0a66db98-67e1-4821-96ff-26317fb37f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611" y="4608576"/>
            <a:ext cx="1375328" cy="128930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52544" y="1444752"/>
            <a:ext cx="3493008" cy="4709160"/>
          </a:xfrm>
          <a:prstGeom prst="rect">
            <a:avLst/>
          </a:prstGeom>
          <a:solidFill>
            <a:srgbClr val="08090D"/>
          </a:solidFill>
          <a:ln w="1651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44568" y="1709928"/>
            <a:ext cx="3108960" cy="54864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901952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4CE3D0"/>
                </a:solidFill>
                <a:latin typeface="Noto Sans CJK SC"/>
              </a:rPr>
              <a:t>五角成戏</a:t>
            </a:r>
          </a:p>
        </p:txBody>
      </p:sp>
      <p:pic>
        <p:nvPicPr>
          <p:cNvPr id="17" name="Picture 16" descr="exec-0a66db98-67e1-4821-96ff-26317fb37f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3366721"/>
            <a:ext cx="640080" cy="600044"/>
          </a:xfrm>
          <a:prstGeom prst="rect">
            <a:avLst/>
          </a:prstGeom>
        </p:spPr>
      </p:pic>
      <p:pic>
        <p:nvPicPr>
          <p:cNvPr id="18" name="Picture 17" descr="exec-d656a48c-2ecb-40db-bcec-3c73c2670f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316541"/>
            <a:ext cx="640080" cy="700404"/>
          </a:xfrm>
          <a:prstGeom prst="rect">
            <a:avLst/>
          </a:prstGeom>
        </p:spPr>
      </p:pic>
      <p:pic>
        <p:nvPicPr>
          <p:cNvPr id="19" name="Picture 18" descr="exec-9076d6d8-f3fe-4ead-9b81-32e7221ed6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3371454"/>
            <a:ext cx="640080" cy="590579"/>
          </a:xfrm>
          <a:prstGeom prst="rect">
            <a:avLst/>
          </a:prstGeom>
        </p:spPr>
      </p:pic>
      <p:pic>
        <p:nvPicPr>
          <p:cNvPr id="20" name="Picture 19" descr="exec-448f65af-04da-4473-9eeb-686a54cdf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9944" y="3288741"/>
            <a:ext cx="640080" cy="756004"/>
          </a:xfrm>
          <a:prstGeom prst="rect">
            <a:avLst/>
          </a:prstGeom>
        </p:spPr>
      </p:pic>
      <p:pic>
        <p:nvPicPr>
          <p:cNvPr id="21" name="Picture 20" descr="exec-af3f417a-05e3-4a8a-b2bf-e495e2a83f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9168" y="3282696"/>
            <a:ext cx="640080" cy="768095"/>
          </a:xfrm>
          <a:prstGeom prst="rect">
            <a:avLst/>
          </a:prstGeom>
        </p:spPr>
      </p:pic>
      <p:pic>
        <p:nvPicPr>
          <p:cNvPr id="22" name="Picture 21" descr="exec-a514f65f-ba45-439c-8cd4-ace2b8368847.png"/>
          <p:cNvPicPr>
            <a:picLocks noChangeAspect="1"/>
          </p:cNvPicPr>
          <p:nvPr/>
        </p:nvPicPr>
        <p:blipFill>
          <a:blip r:embed="rId8"/>
          <a:srcRect r="79236"/>
          <a:stretch>
            <a:fillRect/>
          </a:stretch>
        </p:blipFill>
        <p:spPr>
          <a:xfrm>
            <a:off x="4517136" y="4654296"/>
            <a:ext cx="621792" cy="896112"/>
          </a:xfrm>
          <a:prstGeom prst="rect">
            <a:avLst/>
          </a:prstGeom>
        </p:spPr>
      </p:pic>
      <p:pic>
        <p:nvPicPr>
          <p:cNvPr id="23" name="Picture 22" descr="exec-a514f65f-ba45-439c-8cd4-ace2b8368847.png"/>
          <p:cNvPicPr>
            <a:picLocks noChangeAspect="1"/>
          </p:cNvPicPr>
          <p:nvPr/>
        </p:nvPicPr>
        <p:blipFill>
          <a:blip r:embed="rId8"/>
          <a:srcRect l="20764" r="59576"/>
          <a:stretch>
            <a:fillRect/>
          </a:stretch>
        </p:blipFill>
        <p:spPr>
          <a:xfrm>
            <a:off x="5148071" y="4654296"/>
            <a:ext cx="621792" cy="896112"/>
          </a:xfrm>
          <a:prstGeom prst="rect">
            <a:avLst/>
          </a:prstGeom>
        </p:spPr>
      </p:pic>
      <p:pic>
        <p:nvPicPr>
          <p:cNvPr id="24" name="Picture 23" descr="exec-a514f65f-ba45-439c-8cd4-ace2b8368847.png"/>
          <p:cNvPicPr>
            <a:picLocks noChangeAspect="1"/>
          </p:cNvPicPr>
          <p:nvPr/>
        </p:nvPicPr>
        <p:blipFill>
          <a:blip r:embed="rId8"/>
          <a:srcRect l="40424" r="38214"/>
          <a:stretch>
            <a:fillRect/>
          </a:stretch>
        </p:blipFill>
        <p:spPr>
          <a:xfrm>
            <a:off x="5779007" y="4654296"/>
            <a:ext cx="621792" cy="896112"/>
          </a:xfrm>
          <a:prstGeom prst="rect">
            <a:avLst/>
          </a:prstGeom>
        </p:spPr>
      </p:pic>
      <p:pic>
        <p:nvPicPr>
          <p:cNvPr id="25" name="Picture 24" descr="exec-a514f65f-ba45-439c-8cd4-ace2b8368847.png"/>
          <p:cNvPicPr>
            <a:picLocks noChangeAspect="1"/>
          </p:cNvPicPr>
          <p:nvPr/>
        </p:nvPicPr>
        <p:blipFill>
          <a:blip r:embed="rId8"/>
          <a:srcRect l="61786" r="18324"/>
          <a:stretch>
            <a:fillRect/>
          </a:stretch>
        </p:blipFill>
        <p:spPr>
          <a:xfrm>
            <a:off x="6409944" y="4654296"/>
            <a:ext cx="621792" cy="896112"/>
          </a:xfrm>
          <a:prstGeom prst="rect">
            <a:avLst/>
          </a:prstGeom>
        </p:spPr>
      </p:pic>
      <p:pic>
        <p:nvPicPr>
          <p:cNvPr id="26" name="Picture 25" descr="exec-a514f65f-ba45-439c-8cd4-ace2b8368847.png"/>
          <p:cNvPicPr>
            <a:picLocks noChangeAspect="1"/>
          </p:cNvPicPr>
          <p:nvPr/>
        </p:nvPicPr>
        <p:blipFill>
          <a:blip r:embed="rId8"/>
          <a:srcRect l="81676"/>
          <a:stretch>
            <a:fillRect/>
          </a:stretch>
        </p:blipFill>
        <p:spPr>
          <a:xfrm>
            <a:off x="7040879" y="4654296"/>
            <a:ext cx="621792" cy="8961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08576" y="5669280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人物 × 衣饰纹样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1444752"/>
            <a:ext cx="3493008" cy="4709160"/>
          </a:xfrm>
          <a:prstGeom prst="rect">
            <a:avLst/>
          </a:prstGeom>
          <a:solidFill>
            <a:srgbClr val="08090D"/>
          </a:solidFill>
          <a:ln w="1651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21624" y="1709928"/>
            <a:ext cx="3108960" cy="54864"/>
          </a:xfrm>
          <a:prstGeom prst="rect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1901952"/>
            <a:ext cx="304495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A064FF"/>
                </a:solidFill>
                <a:latin typeface="Noto Sans CJK SC"/>
              </a:rPr>
              <a:t>文创应用</a:t>
            </a:r>
          </a:p>
        </p:txBody>
      </p:sp>
      <p:pic>
        <p:nvPicPr>
          <p:cNvPr id="31" name="Picture 30" descr="exec-7103b747-3b10-4929-92ce-6b6ca182f22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0908" y="2514600"/>
            <a:ext cx="2859535" cy="1609344"/>
          </a:xfrm>
          <a:prstGeom prst="rect">
            <a:avLst/>
          </a:prstGeom>
        </p:spPr>
      </p:pic>
      <p:pic>
        <p:nvPicPr>
          <p:cNvPr id="32" name="Picture 31" descr="exec-a74c04d4-710e-4b1e-8676-ee7ed7d8c6e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59031" y="4123944"/>
            <a:ext cx="2843288" cy="1600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21624" y="5705856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8F6F6"/>
                </a:solidFill>
                <a:latin typeface="Noto Sans CJK SC"/>
              </a:rPr>
              <a:t>从戏台走入生活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92608"/>
            <a:ext cx="11430000" cy="10972"/>
          </a:xfrm>
          <a:prstGeom prst="rect">
            <a:avLst/>
          </a:prstGeom>
          <a:solidFill>
            <a:srgbClr val="464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566928"/>
            <a:ext cx="2194560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FE46A"/>
                </a:solidFill>
                <a:latin typeface="Noto Sans CJK S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1362456"/>
            <a:ext cx="813816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展板设计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8F6F6"/>
                </a:solidFill>
                <a:latin typeface="Noto Sans CJK SC"/>
              </a:rPr>
              <a:t>与成果展示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2953512"/>
            <a:ext cx="65836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7A6AF"/>
                </a:solidFill>
                <a:latin typeface="Noto Sans CJK SC"/>
              </a:rPr>
              <a:t>EXHIBITION · PRESENTATION · APPLICATION</a:t>
            </a:r>
          </a:p>
        </p:txBody>
      </p:sp>
      <p:pic>
        <p:nvPicPr>
          <p:cNvPr id="6" name="Picture 5" descr="exec-af3f417a-05e3-4a8a-b2bf-e495e2a83f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3437229"/>
            <a:ext cx="2340864" cy="28090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340596" y="553212"/>
            <a:ext cx="1143000" cy="114300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36454" y="1022299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70034" y="118265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09683" y="124907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49331" y="1182650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2912" y="1022299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9331" y="861947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09683" y="795528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70034" y="861947"/>
            <a:ext cx="204825" cy="204825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38944" y="1051560"/>
            <a:ext cx="146304" cy="14630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49206" y="861821"/>
            <a:ext cx="525780" cy="525780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49231" y="1061847"/>
            <a:ext cx="125730" cy="12573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09276" y="4741164"/>
            <a:ext cx="868680" cy="8686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738128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87649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565782" y="5270016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443915" y="5219537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93436" y="5097670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43915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65782" y="4925324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687649" y="4975803"/>
            <a:ext cx="155667" cy="155667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88020" y="5119908"/>
            <a:ext cx="111191" cy="11119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443819" y="4975707"/>
            <a:ext cx="399592" cy="399592"/>
          </a:xfrm>
          <a:prstGeom prst="ellipse">
            <a:avLst/>
          </a:prstGeom>
          <a:solidFill>
            <a:srgbClr val="08090D"/>
          </a:solidFill>
          <a:ln w="1905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95838" y="5127726"/>
            <a:ext cx="95554" cy="95554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5744" y="5522976"/>
            <a:ext cx="1097280" cy="1097280"/>
          </a:xfrm>
          <a:prstGeom prst="ellipse">
            <a:avLst/>
          </a:prstGeom>
          <a:solidFill>
            <a:srgbClr val="08090D"/>
          </a:solidFill>
          <a:ln w="254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768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00005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46067" y="6191000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92130" y="6127237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8367" y="59732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92130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46067" y="5755599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00005" y="5819362"/>
            <a:ext cx="196632" cy="196632"/>
          </a:xfrm>
          <a:prstGeom prst="ellipse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74158" y="6001390"/>
            <a:ext cx="140451" cy="140451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92009" y="5819241"/>
            <a:ext cx="504748" cy="504748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9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84033" y="6011265"/>
            <a:ext cx="120700" cy="12070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文化展板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文化脉络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25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89888"/>
            <a:ext cx="11164824" cy="453542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600200"/>
            <a:ext cx="4617720" cy="6309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" y="2350008"/>
            <a:ext cx="4480560" cy="59436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606040"/>
            <a:ext cx="4700016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8F6F6"/>
                </a:solidFill>
                <a:latin typeface="Noto Sans CJK SC"/>
              </a:rPr>
              <a:t>掌中有戏，指尖传情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218688"/>
            <a:ext cx="4334256" cy="12710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8F6F6"/>
                </a:solidFill>
                <a:latin typeface="Noto Sans CJK SC"/>
              </a:rPr>
              <a:t>以掌为台，以偶为角。木刻偶头与织物衣身在艺人手中获得生命，唱白、锣鼓与身段共同构成闽南戏曲的独特景观。</a:t>
            </a:r>
          </a:p>
        </p:txBody>
      </p:sp>
      <p:pic>
        <p:nvPicPr>
          <p:cNvPr id="13" name="Picture 12" descr="exec-3060a3fc-5c59-4d39-bdc4-b9acccbfe6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952" y="2115312"/>
            <a:ext cx="5989320" cy="1996439"/>
          </a:xfrm>
          <a:prstGeom prst="rect">
            <a:avLst/>
          </a:prstGeom>
        </p:spPr>
      </p:pic>
      <p:pic>
        <p:nvPicPr>
          <p:cNvPr id="14" name="Picture 13" descr="exec-0a66db98-67e1-4821-96ff-26317fb37f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4028546"/>
            <a:ext cx="1773936" cy="166297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" y="5074920"/>
            <a:ext cx="7799831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CE3D0"/>
                </a:solidFill>
                <a:latin typeface="Noto Sans CJK SC"/>
              </a:rPr>
              <a:t>东西塔 · 红砖古厝 · 海丝帆船 · 掌中戏台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角色展板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五角成戏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26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" y="1399032"/>
            <a:ext cx="11219688" cy="4736592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664208"/>
            <a:ext cx="3867912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E46A"/>
                </a:solidFill>
                <a:latin typeface="Noto Sans CJK SC"/>
              </a:rPr>
              <a:t>一眼识五角</a:t>
            </a:r>
          </a:p>
        </p:txBody>
      </p:sp>
      <p:pic>
        <p:nvPicPr>
          <p:cNvPr id="10" name="Picture 9" descr="exec-0a66db98-67e1-4821-96ff-26317fb37f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95217"/>
            <a:ext cx="2011680" cy="1885852"/>
          </a:xfrm>
          <a:prstGeom prst="rect">
            <a:avLst/>
          </a:prstGeom>
        </p:spPr>
      </p:pic>
      <p:pic>
        <p:nvPicPr>
          <p:cNvPr id="11" name="Picture 10" descr="exec-a514f65f-ba45-439c-8cd4-ace2b8368847.png"/>
          <p:cNvPicPr>
            <a:picLocks noChangeAspect="1"/>
          </p:cNvPicPr>
          <p:nvPr/>
        </p:nvPicPr>
        <p:blipFill>
          <a:blip r:embed="rId3"/>
          <a:srcRect r="79236"/>
          <a:stretch>
            <a:fillRect/>
          </a:stretch>
        </p:blipFill>
        <p:spPr>
          <a:xfrm>
            <a:off x="1362456" y="4608576"/>
            <a:ext cx="768096" cy="1143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392" y="5779008"/>
            <a:ext cx="1773936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CE3D0"/>
                </a:solidFill>
                <a:latin typeface="Noto Sans CJK SC"/>
              </a:rPr>
              <a:t>生</a:t>
            </a:r>
          </a:p>
        </p:txBody>
      </p:sp>
      <p:pic>
        <p:nvPicPr>
          <p:cNvPr id="13" name="Picture 12" descr="exec-d656a48c-2ecb-40db-bcec-3c73c2670f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68" y="2337508"/>
            <a:ext cx="2011680" cy="2201271"/>
          </a:xfrm>
          <a:prstGeom prst="rect">
            <a:avLst/>
          </a:prstGeom>
        </p:spPr>
      </p:pic>
      <p:pic>
        <p:nvPicPr>
          <p:cNvPr id="14" name="Picture 13" descr="exec-a514f65f-ba45-439c-8cd4-ace2b8368847.png"/>
          <p:cNvPicPr>
            <a:picLocks noChangeAspect="1"/>
          </p:cNvPicPr>
          <p:nvPr/>
        </p:nvPicPr>
        <p:blipFill>
          <a:blip r:embed="rId3"/>
          <a:srcRect l="20764" r="59576"/>
          <a:stretch>
            <a:fillRect/>
          </a:stretch>
        </p:blipFill>
        <p:spPr>
          <a:xfrm>
            <a:off x="3575303" y="4608576"/>
            <a:ext cx="768096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063239" y="5779008"/>
            <a:ext cx="1773936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4B9E"/>
                </a:solidFill>
                <a:latin typeface="Noto Sans CJK SC"/>
              </a:rPr>
              <a:t>旦</a:t>
            </a:r>
          </a:p>
        </p:txBody>
      </p:sp>
      <p:pic>
        <p:nvPicPr>
          <p:cNvPr id="16" name="Picture 15" descr="exec-9076d6d8-f3fe-4ead-9b81-32e7221ed6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216" y="2510091"/>
            <a:ext cx="2011680" cy="1856105"/>
          </a:xfrm>
          <a:prstGeom prst="rect">
            <a:avLst/>
          </a:prstGeom>
        </p:spPr>
      </p:pic>
      <p:pic>
        <p:nvPicPr>
          <p:cNvPr id="17" name="Picture 16" descr="exec-a514f65f-ba45-439c-8cd4-ace2b8368847.png"/>
          <p:cNvPicPr>
            <a:picLocks noChangeAspect="1"/>
          </p:cNvPicPr>
          <p:nvPr/>
        </p:nvPicPr>
        <p:blipFill>
          <a:blip r:embed="rId3"/>
          <a:srcRect l="40424" r="38214"/>
          <a:stretch>
            <a:fillRect/>
          </a:stretch>
        </p:blipFill>
        <p:spPr>
          <a:xfrm>
            <a:off x="5788152" y="4608576"/>
            <a:ext cx="768096" cy="1143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276088" y="5779008"/>
            <a:ext cx="1773936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954C"/>
                </a:solidFill>
                <a:latin typeface="Noto Sans CJK SC"/>
              </a:rPr>
              <a:t>净</a:t>
            </a:r>
          </a:p>
        </p:txBody>
      </p:sp>
      <p:pic>
        <p:nvPicPr>
          <p:cNvPr id="19" name="Picture 18" descr="exec-448f65af-04da-4473-9eeb-686a54cdf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4" y="2250137"/>
            <a:ext cx="2011680" cy="2376013"/>
          </a:xfrm>
          <a:prstGeom prst="rect">
            <a:avLst/>
          </a:prstGeom>
        </p:spPr>
      </p:pic>
      <p:pic>
        <p:nvPicPr>
          <p:cNvPr id="20" name="Picture 19" descr="exec-a514f65f-ba45-439c-8cd4-ace2b8368847.png"/>
          <p:cNvPicPr>
            <a:picLocks noChangeAspect="1"/>
          </p:cNvPicPr>
          <p:nvPr/>
        </p:nvPicPr>
        <p:blipFill>
          <a:blip r:embed="rId3"/>
          <a:srcRect l="61786" r="18324"/>
          <a:stretch>
            <a:fillRect/>
          </a:stretch>
        </p:blipFill>
        <p:spPr>
          <a:xfrm>
            <a:off x="8001000" y="4608576"/>
            <a:ext cx="768096" cy="1143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88936" y="5779008"/>
            <a:ext cx="1773936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9FF"/>
                </a:solidFill>
                <a:latin typeface="Noto Sans CJK SC"/>
              </a:rPr>
              <a:t>末</a:t>
            </a:r>
          </a:p>
        </p:txBody>
      </p:sp>
      <p:pic>
        <p:nvPicPr>
          <p:cNvPr id="22" name="Picture 21" descr="exec-af3f417a-05e3-4a8a-b2bf-e495e2a83f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2912" y="2231135"/>
            <a:ext cx="2011680" cy="2414016"/>
          </a:xfrm>
          <a:prstGeom prst="rect">
            <a:avLst/>
          </a:prstGeom>
        </p:spPr>
      </p:pic>
      <p:pic>
        <p:nvPicPr>
          <p:cNvPr id="23" name="Picture 22" descr="exec-a514f65f-ba45-439c-8cd4-ace2b8368847.png"/>
          <p:cNvPicPr>
            <a:picLocks noChangeAspect="1"/>
          </p:cNvPicPr>
          <p:nvPr/>
        </p:nvPicPr>
        <p:blipFill>
          <a:blip r:embed="rId3"/>
          <a:srcRect l="81676"/>
          <a:stretch>
            <a:fillRect/>
          </a:stretch>
        </p:blipFill>
        <p:spPr>
          <a:xfrm>
            <a:off x="10213848" y="4608576"/>
            <a:ext cx="768096" cy="1143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01784" y="5779008"/>
            <a:ext cx="1773936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E46A"/>
                </a:solidFill>
                <a:latin typeface="Noto Sans CJK SC"/>
              </a:rPr>
              <a:t>丑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文创陈列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礼品组合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27 /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08176"/>
            <a:ext cx="11183112" cy="4828032"/>
          </a:xfrm>
          <a:prstGeom prst="roundRect">
            <a:avLst>
              <a:gd name="adj" fmla="val 9000"/>
            </a:avLst>
          </a:prstGeom>
          <a:solidFill>
            <a:srgbClr val="17151C"/>
          </a:solidFill>
          <a:ln w="12700">
            <a:solidFill>
              <a:srgbClr val="393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655064"/>
            <a:ext cx="41148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4B9E"/>
                </a:solidFill>
                <a:latin typeface="Noto Sans CJK SC"/>
              </a:rPr>
              <a:t>从舞台到日常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258568"/>
            <a:ext cx="5193792" cy="1682496"/>
          </a:xfrm>
          <a:prstGeom prst="rect">
            <a:avLst/>
          </a:prstGeom>
          <a:solidFill>
            <a:srgbClr val="08090D"/>
          </a:solidFill>
          <a:ln w="127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ec-7103b747-3b10-4929-92ce-6b6ca182f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688" y="2304288"/>
            <a:ext cx="2290878" cy="12893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5528" y="3666744"/>
            <a:ext cx="50292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4B9E"/>
                </a:solidFill>
                <a:latin typeface="Noto Sans CJK SC"/>
              </a:rPr>
              <a:t>书签与邮票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258568"/>
            <a:ext cx="5193792" cy="1682496"/>
          </a:xfrm>
          <a:prstGeom prst="rect">
            <a:avLst/>
          </a:prstGeom>
          <a:solidFill>
            <a:srgbClr val="08090D"/>
          </a:solidFill>
          <a:ln w="1270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ec-a74c04d4-710e-4b1e-8676-ee7ed7d8c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096" y="2304288"/>
            <a:ext cx="2290878" cy="12893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45936" y="3666744"/>
            <a:ext cx="50292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CE3D0"/>
                </a:solidFill>
                <a:latin typeface="Noto Sans CJK SC"/>
              </a:rPr>
              <a:t>衣纹香囊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050791"/>
            <a:ext cx="5193792" cy="1682496"/>
          </a:xfrm>
          <a:prstGeom prst="rect">
            <a:avLst/>
          </a:prstGeom>
          <a:solidFill>
            <a:srgbClr val="08090D"/>
          </a:solidFill>
          <a:ln w="127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xec-1d04c57d-b66a-4d30-8c00-51786940d3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4688" y="4096511"/>
            <a:ext cx="2290878" cy="12893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5528" y="5458968"/>
            <a:ext cx="50292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064FF"/>
                </a:solidFill>
                <a:latin typeface="Noto Sans CJK SC"/>
              </a:rPr>
              <a:t>桌面摆件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050791"/>
            <a:ext cx="5193792" cy="1682496"/>
          </a:xfrm>
          <a:prstGeom prst="rect">
            <a:avLst/>
          </a:prstGeom>
          <a:solidFill>
            <a:srgbClr val="08090D"/>
          </a:solidFill>
          <a:ln w="1270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xec-e0916041-80d2-42b4-b898-13983c60c3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096" y="4096511"/>
            <a:ext cx="2290878" cy="12893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458968"/>
            <a:ext cx="50292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E46A"/>
                </a:solidFill>
                <a:latin typeface="Noto Sans CJK SC"/>
              </a:rPr>
              <a:t>衣纹随身镜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展板空间效果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场景应用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28 / 30</a:t>
            </a:r>
          </a:p>
        </p:txBody>
      </p:sp>
      <p:pic>
        <p:nvPicPr>
          <p:cNvPr id="8" name="Picture 7" descr="exec-0ff8ace1-5ce0-4609-8b94-02d83a6ac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137" y="1261872"/>
            <a:ext cx="9033533" cy="50840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11420856" cy="10972"/>
          </a:xfrm>
          <a:prstGeom prst="rect">
            <a:avLst/>
          </a:prstGeom>
          <a:solidFill>
            <a:srgbClr val="4944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84048"/>
            <a:ext cx="978408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8F6F6"/>
                </a:solidFill>
                <a:latin typeface="Noto Sans CJK SC"/>
              </a:rPr>
              <a:t>成果展示 —— 系列总览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393192" y="941832"/>
            <a:ext cx="292608" cy="50292"/>
          </a:xfrm>
          <a:prstGeom prst="rect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" y="941832"/>
            <a:ext cx="18288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411480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04 / 设计成果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8208" y="6464808"/>
            <a:ext cx="960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7A6AF"/>
                </a:solidFill>
                <a:latin typeface="Noto Sans CJK SC"/>
              </a:rPr>
              <a:t>29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1307592"/>
            <a:ext cx="10661904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8F6F6"/>
                </a:solidFill>
                <a:latin typeface="Noto Sans CJK SC"/>
              </a:rPr>
              <a:t>五位角色 · 五套纹样 · 多元文创 · 三组展板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7103b747-3b10-4929-92ce-6b6ca182f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15415"/>
            <a:ext cx="2523744" cy="14203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8096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纸品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ec-a74c04d4-710e-4b1e-8676-ee7ed7d8c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2915415"/>
            <a:ext cx="2523744" cy="14203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675888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衣纹香囊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xec-1d04c57d-b66a-4d30-8c00-51786940d3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2915415"/>
            <a:ext cx="2523744" cy="14203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0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2824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角色摆件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98864" y="2130552"/>
            <a:ext cx="2670048" cy="3483864"/>
          </a:xfrm>
          <a:prstGeom prst="roundRect">
            <a:avLst>
              <a:gd name="adj" fmla="val 9000"/>
            </a:avLst>
          </a:prstGeom>
          <a:solidFill>
            <a:srgbClr val="14151E"/>
          </a:solidFill>
          <a:ln w="15240">
            <a:solidFill>
              <a:srgbClr val="FFE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xec-e0916041-80d2-42b4-b898-13983c60c3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2915415"/>
            <a:ext cx="2523744" cy="142036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491472" y="5120640"/>
            <a:ext cx="2075688" cy="411480"/>
          </a:xfrm>
          <a:prstGeom prst="roundRect">
            <a:avLst>
              <a:gd name="adj" fmla="val 9000"/>
            </a:avLst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0616" y="5157216"/>
            <a:ext cx="2048256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090D"/>
                </a:solidFill>
                <a:latin typeface="Noto Sans CJK SC"/>
              </a:rPr>
              <a:t>衣纹随身镜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3464" y="91439"/>
            <a:ext cx="1078992" cy="107899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0354" y="534258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654" y="6856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6282" y="7483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4910" y="685630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12210" y="534258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910" y="3828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6282" y="3201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7654" y="382886"/>
            <a:ext cx="193355" cy="193355"/>
          </a:xfrm>
          <a:prstGeom prst="ellipse">
            <a:avLst/>
          </a:prstGeom>
          <a:solidFill>
            <a:srgbClr val="FF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3904" y="561880"/>
            <a:ext cx="138110" cy="138110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4791" y="382767"/>
            <a:ext cx="496336" cy="496336"/>
          </a:xfrm>
          <a:prstGeom prst="ellipse">
            <a:avLst/>
          </a:prstGeom>
          <a:solidFill>
            <a:srgbClr val="08090D"/>
          </a:solidFill>
          <a:ln w="19050">
            <a:solidFill>
              <a:srgbClr val="4CE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3615" y="571591"/>
            <a:ext cx="118689" cy="118689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87584" y="137160"/>
            <a:ext cx="896112" cy="896112"/>
          </a:xfrm>
          <a:prstGeom prst="ellipse">
            <a:avLst/>
          </a:prstGeom>
          <a:solidFill>
            <a:srgbClr val="08090D"/>
          </a:solidFill>
          <a:ln w="25400">
            <a:solidFill>
              <a:srgbClr val="A0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33136" y="504924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81063" y="630639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55348" y="682712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29632" y="630639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77559" y="504924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29632" y="379208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55348" y="327135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881063" y="379208"/>
            <a:ext cx="160583" cy="160583"/>
          </a:xfrm>
          <a:prstGeom prst="ellipse">
            <a:avLst/>
          </a:prstGeom>
          <a:solidFill>
            <a:srgbClr val="A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778288" y="527864"/>
            <a:ext cx="114702" cy="11470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29534" y="379110"/>
            <a:ext cx="412211" cy="412211"/>
          </a:xfrm>
          <a:prstGeom prst="ellipse">
            <a:avLst/>
          </a:prstGeom>
          <a:solidFill>
            <a:srgbClr val="08090D"/>
          </a:solidFill>
          <a:ln w="19050">
            <a:solidFill>
              <a:srgbClr val="FF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86353" y="535929"/>
            <a:ext cx="98572" cy="98572"/>
          </a:xfrm>
          <a:prstGeom prst="ellipse">
            <a:avLst/>
          </a:prstGeom>
          <a:solidFill>
            <a:srgbClr val="FFE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1033271"/>
            <a:ext cx="813816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FFE46A"/>
                </a:solidFill>
                <a:latin typeface="Noto Sans CJK SC"/>
              </a:rPr>
              <a:t>掌上乾坤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9112" y="2002536"/>
            <a:ext cx="809244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4B9E"/>
                </a:solidFill>
                <a:latin typeface="Noto Sans CJK SC"/>
              </a:rPr>
              <a:t>泉州布袋戏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8568" y="2962656"/>
            <a:ext cx="768096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8F6F6"/>
                </a:solidFill>
                <a:latin typeface="Noto Sans CJK SC"/>
              </a:rPr>
              <a:t>让一出掌中戏，走进更多人的生活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0016" y="3657600"/>
            <a:ext cx="2788920" cy="50292"/>
          </a:xfrm>
          <a:prstGeom prst="rect">
            <a:avLst/>
          </a:prstGeom>
          <a:solidFill>
            <a:srgbClr val="4CE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ec-0a66db98-67e1-4821-96ff-26317fb37f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664" y="4510318"/>
            <a:ext cx="1682496" cy="1577258"/>
          </a:xfrm>
          <a:prstGeom prst="rect">
            <a:avLst/>
          </a:prstGeom>
        </p:spPr>
      </p:pic>
      <p:pic>
        <p:nvPicPr>
          <p:cNvPr id="31" name="Picture 30" descr="exec-d656a48c-2ecb-40db-bcec-3c73c2670f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4378416"/>
            <a:ext cx="1682496" cy="1841063"/>
          </a:xfrm>
          <a:prstGeom prst="rect">
            <a:avLst/>
          </a:prstGeom>
        </p:spPr>
      </p:pic>
      <p:pic>
        <p:nvPicPr>
          <p:cNvPr id="32" name="Picture 31" descr="exec-9076d6d8-f3fe-4ead-9b81-32e7221ed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6" y="4522758"/>
            <a:ext cx="1682496" cy="1552379"/>
          </a:xfrm>
          <a:prstGeom prst="rect">
            <a:avLst/>
          </a:prstGeom>
        </p:spPr>
      </p:pic>
      <p:pic>
        <p:nvPicPr>
          <p:cNvPr id="33" name="Picture 32" descr="exec-448f65af-04da-4473-9eeb-686a54cdf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4305342"/>
            <a:ext cx="1682496" cy="1987211"/>
          </a:xfrm>
          <a:prstGeom prst="rect">
            <a:avLst/>
          </a:prstGeom>
        </p:spPr>
      </p:pic>
      <p:pic>
        <p:nvPicPr>
          <p:cNvPr id="34" name="Picture 33" descr="exec-af3f417a-05e3-4a8a-b2bf-e495e2a83f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6528" y="4289450"/>
            <a:ext cx="1682496" cy="201899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984248" y="6473952"/>
            <a:ext cx="82296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7A6AF"/>
                </a:solidFill>
                <a:latin typeface="Noto Sans CJK SC"/>
              </a:rPr>
              <a:t>QUANZHOU GLOVE PUPPET THEATRE · CULTURAL CREATIVE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