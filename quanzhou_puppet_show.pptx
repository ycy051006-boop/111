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5447" y="-173736"/>
            <a:ext cx="1005840" cy="100584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7803" y="23906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09354" y="38017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8244" y="438619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7135" y="38017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8686" y="23906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27135" y="97951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8244" y="39502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9354" y="97951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3994" y="264810"/>
            <a:ext cx="128747" cy="12874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024" y="97840"/>
            <a:ext cx="462686" cy="462686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3046" y="273862"/>
            <a:ext cx="110642" cy="11064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80776" y="45719"/>
            <a:ext cx="841248" cy="841248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92927" y="390968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44042" y="508986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26024" y="557871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8005" y="508986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59120" y="390968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08005" y="272949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26024" y="224064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44042" y="272949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47560" y="412504"/>
            <a:ext cx="107679" cy="107679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07912" y="272856"/>
            <a:ext cx="386974" cy="386974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55131" y="420075"/>
            <a:ext cx="92537" cy="9253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76104" y="5285232"/>
            <a:ext cx="1170432" cy="117043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8663" y="57655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20649" y="59297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56449" y="5997791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292249" y="59297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4235" y="57655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92249" y="56013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56449" y="5533363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20649" y="56013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486412" y="5795540"/>
            <a:ext cx="149815" cy="14981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92120" y="5601248"/>
            <a:ext cx="538398" cy="53839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496946" y="5806074"/>
            <a:ext cx="128747" cy="12874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03120" y="429768"/>
            <a:ext cx="795527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E46A"/>
                </a:solidFill>
                <a:latin typeface="Noto Sans CJK SC"/>
              </a:rPr>
              <a:t>掌上乾坤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170432"/>
            <a:ext cx="8321040" cy="7772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1947672"/>
            <a:ext cx="84124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QUANZHOU GLOVE PUPPET THEATRE · CULTURAL CREATIVE DESIGN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56048" y="2304288"/>
            <a:ext cx="2286000" cy="36576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219456" y="2724912"/>
            <a:ext cx="2331720" cy="3493008"/>
          </a:xfrm>
          <a:prstGeom prst="rect">
            <a:avLst/>
          </a:prstGeom>
        </p:spPr>
      </p:pic>
      <p:pic>
        <p:nvPicPr>
          <p:cNvPr id="43" name="Picture 42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2606039" y="2724912"/>
            <a:ext cx="2331720" cy="3493008"/>
          </a:xfrm>
          <a:prstGeom prst="rect">
            <a:avLst/>
          </a:prstGeom>
        </p:spPr>
      </p:pic>
      <p:pic>
        <p:nvPicPr>
          <p:cNvPr id="44" name="Picture 43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4992624" y="2724912"/>
            <a:ext cx="2331720" cy="3493008"/>
          </a:xfrm>
          <a:prstGeom prst="rect">
            <a:avLst/>
          </a:prstGeom>
        </p:spPr>
      </p:pic>
      <p:pic>
        <p:nvPicPr>
          <p:cNvPr id="45" name="Picture 44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379208" y="2724912"/>
            <a:ext cx="2331720" cy="3493008"/>
          </a:xfrm>
          <a:prstGeom prst="rect">
            <a:avLst/>
          </a:prstGeom>
        </p:spPr>
      </p:pic>
      <p:pic>
        <p:nvPicPr>
          <p:cNvPr id="46" name="Picture 45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9765792" y="2724912"/>
            <a:ext cx="2331720" cy="34930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10896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97479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84064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0648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7232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29768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4B9E"/>
                </a:solidFill>
                <a:latin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3392" y="512064"/>
            <a:ext cx="27432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93942"/>
                </a:solidFill>
                <a:latin typeface="Noto Sans CJK SC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155680" cy="13716"/>
          </a:xfrm>
          <a:prstGeom prst="rect">
            <a:avLst/>
          </a:prstGeom>
          <a:solidFill>
            <a:srgbClr val="3E3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4B9E"/>
                </a:solidFill>
                <a:latin typeface="Noto Sans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创意溯源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与文化背景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4736592"/>
            <a:ext cx="2267712" cy="22860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4CE3D0"/>
                </a:solidFill>
                <a:latin typeface="Noto Sans CJK S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核心视觉设计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与规范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4736592"/>
            <a:ext cx="2267712" cy="22860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A064FF"/>
                </a:solidFill>
                <a:latin typeface="Noto Sans CJK S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文创衍生品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开发应用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4736592"/>
            <a:ext cx="2267712" cy="22860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9136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58A9FF"/>
                </a:solidFill>
                <a:latin typeface="Noto Sans CJK SC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9136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展板设计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与成果展示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89136" y="4736592"/>
            <a:ext cx="2267712" cy="22860"/>
          </a:xfrm>
          <a:prstGeom prst="rect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502920" y="5074920"/>
            <a:ext cx="859536" cy="1325880"/>
          </a:xfrm>
          <a:prstGeom prst="rect">
            <a:avLst/>
          </a:prstGeom>
        </p:spPr>
      </p:pic>
      <p:pic>
        <p:nvPicPr>
          <p:cNvPr id="18" name="Picture 17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1344168" y="5074920"/>
            <a:ext cx="859536" cy="1325880"/>
          </a:xfrm>
          <a:prstGeom prst="rect">
            <a:avLst/>
          </a:prstGeom>
        </p:spPr>
      </p:pic>
      <p:pic>
        <p:nvPicPr>
          <p:cNvPr id="19" name="Picture 18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2185416" y="5074920"/>
            <a:ext cx="859536" cy="1325880"/>
          </a:xfrm>
          <a:prstGeom prst="rect">
            <a:avLst/>
          </a:prstGeom>
        </p:spPr>
      </p:pic>
      <p:pic>
        <p:nvPicPr>
          <p:cNvPr id="20" name="Picture 19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3026664" y="5074920"/>
            <a:ext cx="859536" cy="1325880"/>
          </a:xfrm>
          <a:prstGeom prst="rect">
            <a:avLst/>
          </a:prstGeom>
        </p:spPr>
      </p:pic>
      <p:pic>
        <p:nvPicPr>
          <p:cNvPr id="21" name="Picture 20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3867912" y="5074920"/>
            <a:ext cx="859536" cy="1325880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10442448" y="4690872"/>
            <a:ext cx="731520" cy="73152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887797" y="4991087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45288" y="509371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42663" y="5136221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40038" y="509371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97530" y="4991087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40038" y="488846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742663" y="4845954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845288" y="488846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1390" y="5009814"/>
            <a:ext cx="93634" cy="9363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639958" y="4888382"/>
            <a:ext cx="336499" cy="336499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767974" y="5016398"/>
            <a:ext cx="80467" cy="8046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FF4B9E"/>
                </a:solidFill>
                <a:latin typeface="Noto Sans CJK S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创意溯源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与文化背景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FROM FOLK STAGE TO CONTEMPORARY DESIGN</a:t>
            </a:r>
          </a:p>
        </p:txBody>
      </p:sp>
      <p:pic>
        <p:nvPicPr>
          <p:cNvPr id="6" name="Picture 5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429768" y="3172968"/>
            <a:ext cx="2340864" cy="33375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历史背景介绍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文化脉络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43584"/>
            <a:ext cx="6126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4B9E"/>
                </a:solidFill>
                <a:latin typeface="Noto Sans CJK SC"/>
              </a:rPr>
              <a:t>一方小戏台，一手演乾坤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993392"/>
            <a:ext cx="5623560" cy="12070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8F6F6"/>
                </a:solidFill>
                <a:latin typeface="Noto Sans CJK SC"/>
              </a:rPr>
              <a:t>泉州布袋戏流传于闽南地区。艺人将手伸入布偶的衣身，以手指操控头部与双臂，让木刻偶头、布制服饰和细腻动作在小戏台上相遇。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456432"/>
            <a:ext cx="5623560" cy="11064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8F6F6"/>
                </a:solidFill>
                <a:latin typeface="Noto Sans CJK SC"/>
              </a:rPr>
              <a:t>演出常以闽南语唱白、锣鼓节奏与戏曲程式推进情节，既能表现忠义豪情，也能讲述市井生活与民间趣事。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" y="5010912"/>
            <a:ext cx="5650992" cy="731520"/>
          </a:xfrm>
          <a:prstGeom prst="roundRect">
            <a:avLst>
              <a:gd name="adj" fmla="val 9000"/>
            </a:avLst>
          </a:prstGeom>
          <a:solidFill>
            <a:srgbClr val="1F1624"/>
          </a:solidFill>
          <a:ln w="127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166360"/>
            <a:ext cx="525780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4B9E"/>
                </a:solidFill>
                <a:latin typeface="Noto Sans CJK SC"/>
              </a:rPr>
              <a:t>设计切入点：以生、旦、净、末、丑五个角色，重构“掌中戏”的年轻表达。</a:t>
            </a:r>
          </a:p>
        </p:txBody>
      </p:sp>
      <p:pic>
        <p:nvPicPr>
          <p:cNvPr id="13" name="Picture 12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7315200" y="1325880"/>
            <a:ext cx="3063240" cy="479145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0250424" y="1481328"/>
            <a:ext cx="749808" cy="749808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06907" y="178904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63335" y="189423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58145" y="1937811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452954" y="189423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09383" y="178904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452954" y="1683858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558145" y="1640287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63335" y="1683858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77340" y="1808244"/>
            <a:ext cx="95975" cy="9597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52872" y="1683776"/>
            <a:ext cx="344911" cy="34491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84088" y="1814992"/>
            <a:ext cx="82478" cy="8247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选题介绍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项目背景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05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" y="1417320"/>
            <a:ext cx="3566160" cy="40782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81912"/>
            <a:ext cx="411480" cy="54864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4408" y="1490472"/>
            <a:ext cx="59436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4B9E"/>
                </a:solidFill>
                <a:latin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837944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4B9E"/>
                </a:solidFill>
                <a:latin typeface="Noto Sans CJK SC"/>
              </a:rPr>
              <a:t>项目背景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386584"/>
            <a:ext cx="3200400" cy="29809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城市文化与文旅体验不断融合，传统戏曲需要更鲜明、轻盈的视觉入口，让初次接触的观众愿意驻足与了解。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1417320"/>
            <a:ext cx="3566160" cy="40782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581912"/>
            <a:ext cx="411480" cy="54864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599" y="1490472"/>
            <a:ext cx="59436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4CE3D0"/>
                </a:solidFill>
                <a:latin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1837944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CE3D0"/>
                </a:solidFill>
                <a:latin typeface="Noto Sans CJK SC"/>
              </a:rPr>
              <a:t>设计说明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386584"/>
            <a:ext cx="3200400" cy="29809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提取木偶的冠帽、脸谱、衣饰和表演姿态，转化为五位可辨认的国潮角色，并延展到日常文创载体。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417320"/>
            <a:ext cx="3566160" cy="40782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1581912"/>
            <a:ext cx="411480" cy="54864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08792" y="1490472"/>
            <a:ext cx="59436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E46A"/>
                </a:solidFill>
                <a:latin typeface="Noto Sans CJK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1837944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E46A"/>
                </a:solidFill>
                <a:latin typeface="Noto Sans CJK SC"/>
              </a:rPr>
              <a:t>设计理念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2386584"/>
            <a:ext cx="3200400" cy="29809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以“一角一出戏”为核心，让收藏、使用和分享成为走近泉州布袋戏的连续体验。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8256" y="5833872"/>
            <a:ext cx="8110727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8F6F6"/>
                </a:solidFill>
                <a:latin typeface="Noto Sans CJK SC"/>
              </a:rPr>
              <a:t>文化识别 → 角色共鸣 → 场景使用 → 自发传播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受众人群与使用场景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目标人群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06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" y="1444752"/>
            <a:ext cx="3566160" cy="42428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09344"/>
            <a:ext cx="411480" cy="54864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865376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4B9E"/>
                </a:solidFill>
                <a:latin typeface="Noto Sans CJK SC"/>
              </a:rPr>
              <a:t>泉州游客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414016"/>
            <a:ext cx="3200400" cy="314553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希望带走轻便、具有地方辨识度的纪念品。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场景：景区、博物馆、古城街巷。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444752"/>
            <a:ext cx="3566160" cy="42428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609344"/>
            <a:ext cx="411480" cy="54864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4" y="1865376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CE3D0"/>
                </a:solidFill>
                <a:latin typeface="Noto Sans CJK SC"/>
              </a:rPr>
              <a:t>青年与亲子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2414016"/>
            <a:ext cx="3200400" cy="314553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偏好角色故事、成套收藏和互动体验。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场景：研学课堂、社交分享、礼赠。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6" y="1444752"/>
            <a:ext cx="3566160" cy="42428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02752" y="1609344"/>
            <a:ext cx="411480" cy="54864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1865376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064FF"/>
                </a:solidFill>
                <a:latin typeface="Noto Sans CJK SC"/>
              </a:rPr>
              <a:t>文旅机构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414016"/>
            <a:ext cx="3200400" cy="314553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需要能够代表在地文化、方便陈列与传播的系列礼品。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场景：展演活动、城市礼物、公共教育。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5989320"/>
            <a:ext cx="90525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接触戏偶 → 认识行当 → 收集角色 → 分享泉州故事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参考风格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风格定位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7" y="1353312"/>
            <a:ext cx="649224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8F6F6"/>
                </a:solidFill>
                <a:latin typeface="Noto Sans CJK SC"/>
              </a:rPr>
              <a:t>统一新中式国潮风格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886968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高饱和撞色 · 扁平插画 · 戏台层次 · 纹样点缀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" y="2660904"/>
            <a:ext cx="11228832" cy="33284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722376" y="2880360"/>
            <a:ext cx="1737360" cy="2606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2376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pic>
        <p:nvPicPr>
          <p:cNvPr id="13" name="Picture 12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2935224" y="2880360"/>
            <a:ext cx="1737360" cy="2606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35224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pic>
        <p:nvPicPr>
          <p:cNvPr id="15" name="Picture 14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148072" y="2880360"/>
            <a:ext cx="1737360" cy="2606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48072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pic>
        <p:nvPicPr>
          <p:cNvPr id="17" name="Picture 16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360920" y="2880360"/>
            <a:ext cx="1737360" cy="2606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60920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pic>
        <p:nvPicPr>
          <p:cNvPr id="19" name="Picture 18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9573767" y="2880360"/>
            <a:ext cx="1737360" cy="2606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573767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灵感创意来源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元素提取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08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7" y="1408176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8096" y="1965960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9114" y="2303702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21291" y="2419155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5838" y="2466978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385" y="2419155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563" y="2303702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385" y="2188249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5838" y="2140427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21291" y="2188249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6906" y="2324770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0295" y="2188159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4313" y="2332177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47088" y="1801368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4B9E"/>
                </a:solidFill>
                <a:latin typeface="Noto Sans CJK SC"/>
              </a:rPr>
              <a:t>冠帽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47088" y="2386584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角色身份的第一眼线索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1408176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6" y="1965960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938394" y="2303702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90571" y="2419155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75118" y="2466978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59665" y="2419155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11843" y="2303702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59665" y="2188249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75118" y="2140427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90571" y="2188249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96186" y="2324770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659575" y="2188159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03593" y="2332177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1801368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954C"/>
                </a:solidFill>
                <a:latin typeface="Noto Sans CJK SC"/>
              </a:rPr>
              <a:t>脸谱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386584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净角的性格张力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1207" y="3639312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68096" y="4197096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269114" y="4534838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21291" y="4650291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05838" y="4698114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90385" y="4650291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42563" y="4534838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90385" y="4419385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05838" y="4371563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21291" y="4419385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26906" y="4555906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0295" y="4419295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34313" y="4563313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47088" y="4032504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E3D0"/>
                </a:solidFill>
                <a:latin typeface="Noto Sans CJK SC"/>
              </a:rPr>
              <a:t>衣纹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47088" y="4617720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闽南戏曲的装饰节奏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0488" y="3639312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37376" y="4197096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938394" y="4534838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90571" y="4650291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775118" y="4698114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659665" y="4650291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611843" y="4534838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659665" y="4419385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775118" y="4371563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890571" y="4419385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796186" y="4555906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659575" y="4419295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803593" y="4563313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16368" y="4032504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064FF"/>
                </a:solidFill>
                <a:latin typeface="Noto Sans CJK SC"/>
              </a:rPr>
              <a:t>戏台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4617720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框景与层叠的表演空间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08760" y="6144768"/>
            <a:ext cx="93268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7A6AF"/>
                </a:solidFill>
                <a:latin typeface="Noto Sans CJK SC"/>
              </a:rPr>
              <a:t>不是复制传统戏偶，而是将其可识别的视觉语言转化为当代设计。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4CE3D0"/>
                </a:solidFill>
                <a:latin typeface="Noto Sans CJK S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核心视觉设计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与规范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CHARACTER SYSTEM · COLOR · ORNAMENT</a:t>
            </a:r>
          </a:p>
        </p:txBody>
      </p:sp>
      <p:pic>
        <p:nvPicPr>
          <p:cNvPr id="6" name="Picture 5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429768" y="3172968"/>
            <a:ext cx="2340864" cy="33375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核心主体视觉元素设计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五角成戏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10 / 30</a:t>
            </a:r>
          </a:p>
        </p:txBody>
      </p:sp>
      <p:pic>
        <p:nvPicPr>
          <p:cNvPr id="8" name="Picture 7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301752" y="1243584"/>
            <a:ext cx="2304288" cy="416966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生  SHENG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文雅机敏，启幕引戏</a:t>
            </a:r>
          </a:p>
        </p:txBody>
      </p:sp>
      <p:pic>
        <p:nvPicPr>
          <p:cNvPr id="12" name="Picture 11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2679192" y="1243584"/>
            <a:ext cx="2304288" cy="416966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88036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旦  DAN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柔美灵动，以情动人</a:t>
            </a:r>
          </a:p>
        </p:txBody>
      </p:sp>
      <p:pic>
        <p:nvPicPr>
          <p:cNvPr id="16" name="Picture 15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056632" y="1243584"/>
            <a:ext cx="2304288" cy="416966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25780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净  JING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浓墨重彩，气势如虹</a:t>
            </a:r>
          </a:p>
        </p:txBody>
      </p:sp>
      <p:pic>
        <p:nvPicPr>
          <p:cNvPr id="20" name="Picture 19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434072" y="1243584"/>
            <a:ext cx="2304288" cy="4169663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63524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末  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3465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沉稳慈和，阅尽世情</a:t>
            </a:r>
          </a:p>
        </p:txBody>
      </p:sp>
      <p:pic>
        <p:nvPicPr>
          <p:cNvPr id="24" name="Picture 23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9811512" y="1243584"/>
            <a:ext cx="2304288" cy="4169663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1001268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丑  CHOU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1209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诙谐俏皮，点亮戏台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色彩搭配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角色色谱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11 /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563624"/>
            <a:ext cx="1188720" cy="327355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#FF4B9E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胭脂粉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92808" y="1563624"/>
            <a:ext cx="1188720" cy="327355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280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#4CE3D0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海丝青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563624"/>
            <a:ext cx="1188720" cy="3273552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012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#FFE46A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戏台金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27448" y="1563624"/>
            <a:ext cx="1188720" cy="3273552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2744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#A064FF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华彩紫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563624"/>
            <a:ext cx="1188720" cy="3273552"/>
          </a:xfrm>
          <a:prstGeom prst="rect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4476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#58A9FF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靛蓝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62088" y="1563624"/>
            <a:ext cx="1188720" cy="3273552"/>
          </a:xfrm>
          <a:prstGeom prst="rect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08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#FF954C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208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朱橘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79408" y="1563624"/>
            <a:ext cx="1188720" cy="3273552"/>
          </a:xfrm>
          <a:prstGeom prst="rect">
            <a:avLst/>
          </a:prstGeom>
          <a:solidFill>
            <a:srgbClr val="F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7940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#F8F6F6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940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纸白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96728" y="1563624"/>
            <a:ext cx="1188720" cy="3273552"/>
          </a:xfrm>
          <a:prstGeom prst="rect">
            <a:avLst/>
          </a:prstGeom>
          <a:solidFill>
            <a:srgbClr val="141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9672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#14151E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9672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幕黑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" y="6044184"/>
            <a:ext cx="10762488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7A6AF"/>
                </a:solidFill>
                <a:latin typeface="Noto Sans CJK SC"/>
              </a:rPr>
              <a:t>从戏服与脸谱提取高饱和色彩，以黑色戏幕衬托角色；色彩随角色切换，系统保持统一。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辅助图形设计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纹样系统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12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2651760" cy="432511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83564" y="2025395"/>
            <a:ext cx="1490472" cy="149047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990963" y="2637085"/>
            <a:ext cx="267092" cy="267092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4352" y="2846184"/>
            <a:ext cx="267092" cy="267092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95253" y="2932795"/>
            <a:ext cx="267092" cy="267092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86155" y="2846184"/>
            <a:ext cx="267092" cy="267092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99544" y="2637085"/>
            <a:ext cx="267092" cy="267092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86155" y="2427987"/>
            <a:ext cx="267092" cy="267092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95253" y="2341376"/>
            <a:ext cx="267092" cy="267092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904352" y="2427987"/>
            <a:ext cx="267092" cy="267092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33409" y="2675241"/>
            <a:ext cx="190780" cy="19078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85991" y="2427823"/>
            <a:ext cx="685617" cy="685617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46824" y="2688656"/>
            <a:ext cx="163951" cy="1639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3986784"/>
            <a:ext cx="233172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4B9E"/>
                </a:solidFill>
                <a:latin typeface="Noto Sans CJK SC"/>
              </a:rPr>
              <a:t>团花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581144"/>
            <a:ext cx="2240280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由戏服花纹提炼的圆形纹样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74136" y="1508760"/>
            <a:ext cx="2651760" cy="432511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954780" y="2025395"/>
            <a:ext cx="1490472" cy="149047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862179" y="2637085"/>
            <a:ext cx="267092" cy="26709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75568" y="2846184"/>
            <a:ext cx="267092" cy="26709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66469" y="2932795"/>
            <a:ext cx="267092" cy="26709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57371" y="2846184"/>
            <a:ext cx="267092" cy="26709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70760" y="2637085"/>
            <a:ext cx="267092" cy="26709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57371" y="2427987"/>
            <a:ext cx="267092" cy="26709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66469" y="2341376"/>
            <a:ext cx="267092" cy="26709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775568" y="2427987"/>
            <a:ext cx="267092" cy="26709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604625" y="2675241"/>
            <a:ext cx="190780" cy="19078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57207" y="2427823"/>
            <a:ext cx="685617" cy="685617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18040" y="2688656"/>
            <a:ext cx="163951" cy="1639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38728" y="3986784"/>
            <a:ext cx="233172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E3D0"/>
                </a:solidFill>
                <a:latin typeface="Noto Sans CJK SC"/>
              </a:rPr>
              <a:t>云肩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84448" y="4581144"/>
            <a:ext cx="2240280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以层叠弧线呼应舞台服饰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45352" y="1508760"/>
            <a:ext cx="2651760" cy="432511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25996" y="2025395"/>
            <a:ext cx="1490472" cy="149047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33395" y="2637085"/>
            <a:ext cx="267092" cy="267092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46784" y="2846184"/>
            <a:ext cx="267092" cy="267092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437685" y="2932795"/>
            <a:ext cx="267092" cy="267092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228587" y="2846184"/>
            <a:ext cx="267092" cy="267092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141976" y="2637085"/>
            <a:ext cx="267092" cy="267092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228587" y="2427987"/>
            <a:ext cx="267092" cy="267092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437685" y="2341376"/>
            <a:ext cx="267092" cy="267092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646784" y="2427987"/>
            <a:ext cx="267092" cy="267092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475841" y="2675241"/>
            <a:ext cx="190780" cy="19078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228423" y="2427823"/>
            <a:ext cx="685617" cy="685617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489256" y="2688656"/>
            <a:ext cx="163951" cy="1639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9944" y="3986784"/>
            <a:ext cx="233172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064FF"/>
                </a:solidFill>
                <a:latin typeface="Noto Sans CJK SC"/>
              </a:rPr>
              <a:t>戏台边框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55664" y="4581144"/>
            <a:ext cx="2240280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用高亮线条构成展示框景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16568" y="1508760"/>
            <a:ext cx="2651760" cy="432511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697212" y="2025395"/>
            <a:ext cx="1490472" cy="149047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604611" y="2637085"/>
            <a:ext cx="267092" cy="267092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518000" y="2846184"/>
            <a:ext cx="267092" cy="267092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308901" y="2932795"/>
            <a:ext cx="267092" cy="267092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099803" y="2846184"/>
            <a:ext cx="267092" cy="267092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013192" y="2637085"/>
            <a:ext cx="267092" cy="267092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099803" y="2427987"/>
            <a:ext cx="267092" cy="267092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308901" y="2341376"/>
            <a:ext cx="267092" cy="267092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518000" y="2427987"/>
            <a:ext cx="267092" cy="267092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347057" y="2675241"/>
            <a:ext cx="190780" cy="19078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099639" y="2427823"/>
            <a:ext cx="685617" cy="685617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360472" y="2688656"/>
            <a:ext cx="163951" cy="1639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281160" y="3986784"/>
            <a:ext cx="233172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954C"/>
                </a:solidFill>
                <a:latin typeface="Noto Sans CJK SC"/>
              </a:rPr>
              <a:t>锣鼓节奏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26880" y="4581144"/>
            <a:ext cx="2240280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用重复圆点表达表演韵律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辅助元素展示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版式语言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13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408176"/>
            <a:ext cx="5166360" cy="440740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74519"/>
            <a:ext cx="4517136" cy="8412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E46A"/>
                </a:solidFill>
                <a:latin typeface="Noto Sans CJK SC"/>
              </a:rPr>
              <a:t>掌上乾坤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752344"/>
            <a:ext cx="4224528" cy="6949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46504" y="3639312"/>
            <a:ext cx="2715768" cy="59436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187952"/>
            <a:ext cx="4114800" cy="8321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主标题以现代粗体模拟戏台招牌，鲜亮色块制造聚焦。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408176"/>
            <a:ext cx="5559552" cy="440740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46136" y="1856231"/>
            <a:ext cx="1828800" cy="18288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59509" y="2606771"/>
            <a:ext cx="327720" cy="327720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53237" y="2863333"/>
            <a:ext cx="327720" cy="327720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96675" y="2969605"/>
            <a:ext cx="327720" cy="327720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40113" y="2863333"/>
            <a:ext cx="327720" cy="327720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33841" y="2606771"/>
            <a:ext cx="327720" cy="327720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40113" y="2350209"/>
            <a:ext cx="327720" cy="327720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96675" y="2243937"/>
            <a:ext cx="327720" cy="327720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53237" y="2350209"/>
            <a:ext cx="327720" cy="327720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743492" y="2653588"/>
            <a:ext cx="234086" cy="23408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39911" y="2350008"/>
            <a:ext cx="841248" cy="8412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59952" y="2670048"/>
            <a:ext cx="201168" cy="20116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3977639"/>
            <a:ext cx="4709160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E3D0"/>
                </a:solidFill>
                <a:latin typeface="Noto Sans CJK SC"/>
              </a:rPr>
              <a:t>印章 / 团花 / 角色签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7688" y="4581144"/>
            <a:ext cx="4434840" cy="7040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可组合用于封面角标、海报底纹和文创标签。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A064FF"/>
                </a:solidFill>
                <a:latin typeface="Noto Sans CJK S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文创衍生品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开发应用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FROM CHARACTER TO EVERYDAY OBJECT</a:t>
            </a:r>
          </a:p>
        </p:txBody>
      </p:sp>
      <p:pic>
        <p:nvPicPr>
          <p:cNvPr id="6" name="Picture 5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429768" y="3172968"/>
            <a:ext cx="2340864" cy="33375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产品延展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文创矩阵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15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426464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6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4B9E"/>
                </a:solidFill>
                <a:latin typeface="Noto Sans CJK SC"/>
              </a:rPr>
              <a:t>纸品系列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49424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书签 / 明信片 / 邮票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807208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轻便收藏，传递角色故事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426464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82496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E3D0"/>
                </a:solidFill>
                <a:latin typeface="Noto Sans CJK SC"/>
              </a:rPr>
              <a:t>随身系列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49424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钥匙扣 / 香囊 / 帆布袋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07208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让戏偶融入日常出行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" y="3657600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913632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064FF"/>
                </a:solidFill>
                <a:latin typeface="Noto Sans CJK SC"/>
              </a:rPr>
              <a:t>收藏系列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480560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角色摆件 / 盲盒包装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038344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建立五角成套的收藏体验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3657600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913632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E46A"/>
                </a:solidFill>
                <a:latin typeface="Noto Sans CJK SC"/>
              </a:rPr>
              <a:t>展陈系列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80560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角色立牌 / 展板 / 礼盒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38344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适用于文旅空间与研学活动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书签与明信片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纸品系列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16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389888"/>
            <a:ext cx="1645920" cy="4197096"/>
          </a:xfrm>
          <a:prstGeom prst="roundRect">
            <a:avLst>
              <a:gd name="adj" fmla="val 9000"/>
            </a:avLst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1499616"/>
            <a:ext cx="1481328" cy="3977639"/>
          </a:xfrm>
          <a:prstGeom prst="roundRect">
            <a:avLst>
              <a:gd name="adj" fmla="val 9000"/>
            </a:avLst>
          </a:prstGeom>
          <a:solidFill>
            <a:srgbClr val="FBF4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868680" y="1828800"/>
            <a:ext cx="1271016" cy="24414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9536" y="4370832"/>
            <a:ext cx="129844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4151E"/>
                </a:solidFill>
                <a:latin typeface="Noto Sans CJK SC"/>
              </a:rPr>
              <a:t>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4873752"/>
            <a:ext cx="1298448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13" name="Oval 12"/>
          <p:cNvSpPr/>
          <p:nvPr/>
        </p:nvSpPr>
        <p:spPr>
          <a:xfrm>
            <a:off x="1399032" y="1627632"/>
            <a:ext cx="201168" cy="201168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98648" y="1389888"/>
            <a:ext cx="1645920" cy="4197096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80944" y="1499616"/>
            <a:ext cx="1481328" cy="3977639"/>
          </a:xfrm>
          <a:prstGeom prst="roundRect">
            <a:avLst>
              <a:gd name="adj" fmla="val 9000"/>
            </a:avLst>
          </a:prstGeom>
          <a:solidFill>
            <a:srgbClr val="FBF4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3081528" y="1828800"/>
            <a:ext cx="1271016" cy="24414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72384" y="4370832"/>
            <a:ext cx="129844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4151E"/>
                </a:solidFill>
                <a:latin typeface="Noto Sans CJK SC"/>
              </a:rPr>
              <a:t>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2384" y="4873752"/>
            <a:ext cx="1298448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19" name="Oval 18"/>
          <p:cNvSpPr/>
          <p:nvPr/>
        </p:nvSpPr>
        <p:spPr>
          <a:xfrm>
            <a:off x="3611880" y="1627632"/>
            <a:ext cx="201168" cy="20116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11496" y="1389888"/>
            <a:ext cx="1645920" cy="4197096"/>
          </a:xfrm>
          <a:prstGeom prst="roundRect">
            <a:avLst>
              <a:gd name="adj" fmla="val 9000"/>
            </a:avLst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93792" y="1499616"/>
            <a:ext cx="1481328" cy="3977639"/>
          </a:xfrm>
          <a:prstGeom prst="roundRect">
            <a:avLst>
              <a:gd name="adj" fmla="val 9000"/>
            </a:avLst>
          </a:prstGeom>
          <a:solidFill>
            <a:srgbClr val="FBF4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294376" y="1828800"/>
            <a:ext cx="1271016" cy="24414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285232" y="4370832"/>
            <a:ext cx="129844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4151E"/>
                </a:solidFill>
                <a:latin typeface="Noto Sans CJK SC"/>
              </a:rPr>
              <a:t>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5232" y="4873752"/>
            <a:ext cx="1298448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25" name="Oval 24"/>
          <p:cNvSpPr/>
          <p:nvPr/>
        </p:nvSpPr>
        <p:spPr>
          <a:xfrm>
            <a:off x="5824728" y="1627632"/>
            <a:ext cx="201168" cy="201168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24344" y="1389888"/>
            <a:ext cx="1645920" cy="4197096"/>
          </a:xfrm>
          <a:prstGeom prst="roundRect">
            <a:avLst>
              <a:gd name="adj" fmla="val 9000"/>
            </a:avLst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06640" y="1499616"/>
            <a:ext cx="1481328" cy="3977639"/>
          </a:xfrm>
          <a:prstGeom prst="roundRect">
            <a:avLst>
              <a:gd name="adj" fmla="val 9000"/>
            </a:avLst>
          </a:prstGeom>
          <a:solidFill>
            <a:srgbClr val="FBF4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507223" y="1828800"/>
            <a:ext cx="1271016" cy="24414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498079" y="4370832"/>
            <a:ext cx="129844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4151E"/>
                </a:solidFill>
                <a:latin typeface="Noto Sans CJK SC"/>
              </a:rPr>
              <a:t>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4873752"/>
            <a:ext cx="1298448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31" name="Oval 30"/>
          <p:cNvSpPr/>
          <p:nvPr/>
        </p:nvSpPr>
        <p:spPr>
          <a:xfrm>
            <a:off x="8037575" y="1627632"/>
            <a:ext cx="201168" cy="201168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37192" y="1389888"/>
            <a:ext cx="1645920" cy="4197096"/>
          </a:xfrm>
          <a:prstGeom prst="roundRect">
            <a:avLst>
              <a:gd name="adj" fmla="val 9000"/>
            </a:avLst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19488" y="1499616"/>
            <a:ext cx="1481328" cy="3977639"/>
          </a:xfrm>
          <a:prstGeom prst="roundRect">
            <a:avLst>
              <a:gd name="adj" fmla="val 9000"/>
            </a:avLst>
          </a:prstGeom>
          <a:solidFill>
            <a:srgbClr val="FBF4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9720072" y="1828800"/>
            <a:ext cx="1271016" cy="244144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710928" y="4370832"/>
            <a:ext cx="129844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4151E"/>
                </a:solidFill>
                <a:latin typeface="Noto Sans CJK SC"/>
              </a:rPr>
              <a:t>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8" y="4873752"/>
            <a:ext cx="1298448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37" name="Oval 36"/>
          <p:cNvSpPr/>
          <p:nvPr/>
        </p:nvSpPr>
        <p:spPr>
          <a:xfrm>
            <a:off x="10250424" y="1627632"/>
            <a:ext cx="201168" cy="20116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89888" y="6035040"/>
            <a:ext cx="9326880" cy="3749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一角一签：可以独立收藏，也能组合成五角成戏的完整套系。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香囊设计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随身系列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17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38528"/>
            <a:ext cx="2240280" cy="3035808"/>
          </a:xfrm>
          <a:prstGeom prst="roundRect">
            <a:avLst>
              <a:gd name="adj" fmla="val 9000"/>
            </a:avLst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066543"/>
            <a:ext cx="2002536" cy="277977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2560320"/>
            <a:ext cx="1316736" cy="1316736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53772" y="3100708"/>
            <a:ext cx="235959" cy="235959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77257" y="3285433"/>
            <a:ext cx="235959" cy="235959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92532" y="3361948"/>
            <a:ext cx="235959" cy="235959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07807" y="3285433"/>
            <a:ext cx="235959" cy="235959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31292" y="3100708"/>
            <a:ext cx="235959" cy="235959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507807" y="2915983"/>
            <a:ext cx="235959" cy="235959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692532" y="2839468"/>
            <a:ext cx="235959" cy="235959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77257" y="2915983"/>
            <a:ext cx="235959" cy="235959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6240" y="3134416"/>
            <a:ext cx="168542" cy="16854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07662" y="2915838"/>
            <a:ext cx="605698" cy="60569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38091" y="3146267"/>
            <a:ext cx="144840" cy="14484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224528"/>
            <a:ext cx="1810512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生 · 戏香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92224" y="1499616"/>
            <a:ext cx="22860" cy="502920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91640" y="1344168"/>
            <a:ext cx="219456" cy="21945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547872" y="1938528"/>
            <a:ext cx="2240280" cy="3035808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66744" y="2066543"/>
            <a:ext cx="2002536" cy="277977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014215" y="2560320"/>
            <a:ext cx="1316736" cy="1316736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15844" y="3100708"/>
            <a:ext cx="235959" cy="23595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739329" y="3285433"/>
            <a:ext cx="235959" cy="23595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54604" y="3361948"/>
            <a:ext cx="235959" cy="23595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369879" y="3285433"/>
            <a:ext cx="235959" cy="23595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293364" y="3100708"/>
            <a:ext cx="235959" cy="23595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369879" y="2915983"/>
            <a:ext cx="235959" cy="23595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54604" y="2839468"/>
            <a:ext cx="235959" cy="23595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739329" y="2915983"/>
            <a:ext cx="235959" cy="23595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88312" y="3134416"/>
            <a:ext cx="168542" cy="16854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369734" y="2915838"/>
            <a:ext cx="605698" cy="60569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600163" y="3146267"/>
            <a:ext cx="144840" cy="14484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8"/>
            <a:ext cx="1810512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4B9E"/>
                </a:solidFill>
                <a:latin typeface="Noto Sans CJK SC"/>
              </a:rPr>
              <a:t>旦 · 戏香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54296" y="1499616"/>
            <a:ext cx="22860" cy="502920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553712" y="1344168"/>
            <a:ext cx="219456" cy="21945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9944" y="1938528"/>
            <a:ext cx="2240280" cy="3035808"/>
          </a:xfrm>
          <a:prstGeom prst="roundRect">
            <a:avLst>
              <a:gd name="adj" fmla="val 9000"/>
            </a:avLst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528816" y="2066543"/>
            <a:ext cx="2002536" cy="277977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876288" y="2560320"/>
            <a:ext cx="1316736" cy="1316736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677916" y="3100708"/>
            <a:ext cx="235959" cy="235959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601401" y="3285433"/>
            <a:ext cx="235959" cy="235959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16676" y="3361948"/>
            <a:ext cx="235959" cy="235959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231951" y="3285433"/>
            <a:ext cx="235959" cy="235959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155436" y="3100708"/>
            <a:ext cx="235959" cy="235959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231951" y="2915983"/>
            <a:ext cx="235959" cy="235959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416676" y="2839468"/>
            <a:ext cx="235959" cy="235959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601401" y="2915983"/>
            <a:ext cx="235959" cy="235959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450384" y="3134416"/>
            <a:ext cx="168542" cy="16854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231806" y="2915838"/>
            <a:ext cx="605698" cy="60569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462235" y="3146267"/>
            <a:ext cx="144840" cy="14484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11112" y="4224528"/>
            <a:ext cx="1810512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954C"/>
                </a:solidFill>
                <a:latin typeface="Noto Sans CJK SC"/>
              </a:rPr>
              <a:t>净 · 戏香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516367" y="1499616"/>
            <a:ext cx="22860" cy="502920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415783" y="1344168"/>
            <a:ext cx="219456" cy="21945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272016" y="1938528"/>
            <a:ext cx="2240280" cy="3035808"/>
          </a:xfrm>
          <a:prstGeom prst="roundRect">
            <a:avLst>
              <a:gd name="adj" fmla="val 9000"/>
            </a:avLst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390888" y="2066543"/>
            <a:ext cx="2002536" cy="277977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738360" y="2560320"/>
            <a:ext cx="1316736" cy="1316736"/>
          </a:xfrm>
          <a:prstGeom prst="ellipse">
            <a:avLst/>
          </a:prstGeom>
          <a:solidFill>
            <a:srgbClr val="08090D"/>
          </a:solidFill>
          <a:ln w="25400">
            <a:solidFill>
              <a:srgbClr val="58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539988" y="3100708"/>
            <a:ext cx="235959" cy="235959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463473" y="3285433"/>
            <a:ext cx="235959" cy="235959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278748" y="3361948"/>
            <a:ext cx="235959" cy="235959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094023" y="3285433"/>
            <a:ext cx="235959" cy="235959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017508" y="3100708"/>
            <a:ext cx="235959" cy="235959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094023" y="2915983"/>
            <a:ext cx="235959" cy="235959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278748" y="2839468"/>
            <a:ext cx="235959" cy="235959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463473" y="2915983"/>
            <a:ext cx="235959" cy="235959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12456" y="3134416"/>
            <a:ext cx="168542" cy="16854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093878" y="2915838"/>
            <a:ext cx="605698" cy="60569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324307" y="3146267"/>
            <a:ext cx="144840" cy="14484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73184" y="4224528"/>
            <a:ext cx="1810512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9FF"/>
                </a:solidFill>
                <a:latin typeface="Noto Sans CJK SC"/>
              </a:rPr>
              <a:t>末 · 戏香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1499616"/>
            <a:ext cx="22860" cy="502920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0277856" y="1344168"/>
            <a:ext cx="219456" cy="21945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463040" y="5696712"/>
            <a:ext cx="950976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以戏服色彩和团花纹样制作香囊，挂于包袋、车内或书桌。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邮票设计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纸品系列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18 /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664208"/>
            <a:ext cx="1993392" cy="3264408"/>
          </a:xfrm>
          <a:prstGeom prst="rect">
            <a:avLst/>
          </a:prstGeom>
          <a:solidFill>
            <a:srgbClr val="FCF7F0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5216" y="1773936"/>
            <a:ext cx="1773936" cy="3044952"/>
          </a:xfrm>
          <a:prstGeom prst="rect">
            <a:avLst/>
          </a:prstGeom>
          <a:solidFill>
            <a:srgbClr val="FCF7F0"/>
          </a:solidFill>
          <a:ln w="127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740664" y="2093976"/>
            <a:ext cx="1463040" cy="2185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4343400"/>
            <a:ext cx="1609344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2808" y="1874519"/>
            <a:ext cx="38404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CE3D0"/>
                </a:solidFill>
                <a:latin typeface="Noto Sans CJK SC"/>
              </a:rPr>
              <a:t>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25496" y="1664208"/>
            <a:ext cx="1993392" cy="3264408"/>
          </a:xfrm>
          <a:prstGeom prst="rect">
            <a:avLst/>
          </a:prstGeom>
          <a:solidFill>
            <a:srgbClr val="FCF7F0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35224" y="1773936"/>
            <a:ext cx="1773936" cy="3044952"/>
          </a:xfrm>
          <a:prstGeom prst="rect">
            <a:avLst/>
          </a:prstGeom>
          <a:solidFill>
            <a:srgbClr val="FCF7F0"/>
          </a:solidFill>
          <a:ln w="127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3090672" y="2093976"/>
            <a:ext cx="1463040" cy="2185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08376" y="4343400"/>
            <a:ext cx="1609344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42816" y="1874519"/>
            <a:ext cx="38404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4B9E"/>
                </a:solidFill>
                <a:latin typeface="Noto Sans CJK SC"/>
              </a:rPr>
              <a:t>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75504" y="1664208"/>
            <a:ext cx="1993392" cy="3264408"/>
          </a:xfrm>
          <a:prstGeom prst="rect">
            <a:avLst/>
          </a:prstGeom>
          <a:solidFill>
            <a:srgbClr val="FCF7F0"/>
          </a:solidFill>
          <a:ln w="2540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85232" y="1773936"/>
            <a:ext cx="1773936" cy="3044952"/>
          </a:xfrm>
          <a:prstGeom prst="rect">
            <a:avLst/>
          </a:prstGeom>
          <a:solidFill>
            <a:srgbClr val="FCF7F0"/>
          </a:solidFill>
          <a:ln w="1270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440680" y="2093976"/>
            <a:ext cx="1463040" cy="21854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358384" y="4343400"/>
            <a:ext cx="1609344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2824" y="1874519"/>
            <a:ext cx="38404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954C"/>
                </a:solidFill>
                <a:latin typeface="Noto Sans CJK SC"/>
              </a:rPr>
              <a:t>80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25511" y="1664208"/>
            <a:ext cx="1993392" cy="3264408"/>
          </a:xfrm>
          <a:prstGeom prst="rect">
            <a:avLst/>
          </a:prstGeom>
          <a:solidFill>
            <a:srgbClr val="FCF7F0"/>
          </a:solidFill>
          <a:ln w="25400">
            <a:solidFill>
              <a:srgbClr val="58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35239" y="1773936"/>
            <a:ext cx="1773936" cy="3044952"/>
          </a:xfrm>
          <a:prstGeom prst="rect">
            <a:avLst/>
          </a:prstGeom>
          <a:solidFill>
            <a:srgbClr val="FCF7F0"/>
          </a:solidFill>
          <a:ln w="12700">
            <a:solidFill>
              <a:srgbClr val="58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790687" y="2093976"/>
            <a:ext cx="1463040" cy="218541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08391" y="4343400"/>
            <a:ext cx="1609344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874519"/>
            <a:ext cx="38404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58A9FF"/>
                </a:solidFill>
                <a:latin typeface="Noto Sans CJK SC"/>
              </a:rPr>
              <a:t>80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75519" y="1664208"/>
            <a:ext cx="1993392" cy="3264408"/>
          </a:xfrm>
          <a:prstGeom prst="rect">
            <a:avLst/>
          </a:prstGeom>
          <a:solidFill>
            <a:srgbClr val="FCF7F0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85247" y="1773936"/>
            <a:ext cx="1773936" cy="3044952"/>
          </a:xfrm>
          <a:prstGeom prst="rect">
            <a:avLst/>
          </a:prstGeom>
          <a:solidFill>
            <a:srgbClr val="FCF7F0"/>
          </a:solidFill>
          <a:ln w="127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10140695" y="2093976"/>
            <a:ext cx="1463040" cy="218541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058399" y="4343400"/>
            <a:ext cx="1609344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1874519"/>
            <a:ext cx="38404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E46A"/>
                </a:solidFill>
                <a:latin typeface="Noto Sans CJK SC"/>
              </a:rPr>
              <a:t>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733288"/>
            <a:ext cx="8028431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五枚联作，记录五种行当的形象与情绪。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桌面角色摆件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收藏系列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19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" y="5074920"/>
            <a:ext cx="1883664" cy="475488"/>
          </a:xfrm>
          <a:prstGeom prst="roundRect">
            <a:avLst>
              <a:gd name="adj" fmla="val 9000"/>
            </a:avLst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347472" y="1709928"/>
            <a:ext cx="2331720" cy="3630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7784" y="5650992"/>
            <a:ext cx="193852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生角摆件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35224" y="5074920"/>
            <a:ext cx="1883664" cy="475488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2706624" y="1709928"/>
            <a:ext cx="2331720" cy="3630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16936" y="5650992"/>
            <a:ext cx="193852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旦角摆件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94376" y="5074920"/>
            <a:ext cx="1883664" cy="475488"/>
          </a:xfrm>
          <a:prstGeom prst="roundRect">
            <a:avLst>
              <a:gd name="adj" fmla="val 9000"/>
            </a:avLst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065776" y="1709928"/>
            <a:ext cx="2331720" cy="3630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76088" y="5650992"/>
            <a:ext cx="193852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净角摆件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53528" y="5074920"/>
            <a:ext cx="1883664" cy="475488"/>
          </a:xfrm>
          <a:prstGeom prst="roundRect">
            <a:avLst>
              <a:gd name="adj" fmla="val 9000"/>
            </a:avLst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424928" y="1709928"/>
            <a:ext cx="2331720" cy="36301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35240" y="5650992"/>
            <a:ext cx="193852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末角摆件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12680" y="5074920"/>
            <a:ext cx="1883664" cy="475488"/>
          </a:xfrm>
          <a:prstGeom prst="roundRect">
            <a:avLst>
              <a:gd name="adj" fmla="val 9000"/>
            </a:avLst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9784080" y="1709928"/>
            <a:ext cx="2331720" cy="3630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994392" y="5650992"/>
            <a:ext cx="193852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丑角摆件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36192" y="6181344"/>
            <a:ext cx="914400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摆件强化冠帽、脸谱和服装轮廓，让观众从各个角度认识角色。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角色钥匙扣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随身系列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20 / 30</a:t>
            </a:r>
          </a:p>
        </p:txBody>
      </p:sp>
      <p:sp>
        <p:nvSpPr>
          <p:cNvPr id="8" name="Oval 7"/>
          <p:cNvSpPr/>
          <p:nvPr/>
        </p:nvSpPr>
        <p:spPr>
          <a:xfrm>
            <a:off x="1344168" y="1408176"/>
            <a:ext cx="420624" cy="420624"/>
          </a:xfrm>
          <a:prstGeom prst="ellipse">
            <a:avLst/>
          </a:prstGeom>
          <a:solidFill>
            <a:srgbClr val="08090D"/>
          </a:solidFill>
          <a:ln w="3175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45336" y="1810512"/>
            <a:ext cx="22860" cy="384048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576072" y="2084831"/>
            <a:ext cx="2093976" cy="3035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5230368"/>
            <a:ext cx="850392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sp>
        <p:nvSpPr>
          <p:cNvPr id="12" name="Oval 11"/>
          <p:cNvSpPr/>
          <p:nvPr/>
        </p:nvSpPr>
        <p:spPr>
          <a:xfrm>
            <a:off x="3685032" y="1408176"/>
            <a:ext cx="420624" cy="420624"/>
          </a:xfrm>
          <a:prstGeom prst="ellipse">
            <a:avLst/>
          </a:prstGeom>
          <a:solidFill>
            <a:srgbClr val="08090D"/>
          </a:solidFill>
          <a:ln w="3175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86200" y="1810512"/>
            <a:ext cx="22860" cy="384048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2916936" y="2084831"/>
            <a:ext cx="2093976" cy="3035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29584" y="5230368"/>
            <a:ext cx="850392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sp>
        <p:nvSpPr>
          <p:cNvPr id="16" name="Oval 15"/>
          <p:cNvSpPr/>
          <p:nvPr/>
        </p:nvSpPr>
        <p:spPr>
          <a:xfrm>
            <a:off x="6025896" y="1408176"/>
            <a:ext cx="420624" cy="420624"/>
          </a:xfrm>
          <a:prstGeom prst="ellipse">
            <a:avLst/>
          </a:prstGeom>
          <a:solidFill>
            <a:srgbClr val="08090D"/>
          </a:solidFill>
          <a:ln w="3175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810512"/>
            <a:ext cx="22860" cy="384048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257800" y="2084831"/>
            <a:ext cx="2093976" cy="30358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70448" y="5230368"/>
            <a:ext cx="850392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sp>
        <p:nvSpPr>
          <p:cNvPr id="20" name="Oval 19"/>
          <p:cNvSpPr/>
          <p:nvPr/>
        </p:nvSpPr>
        <p:spPr>
          <a:xfrm>
            <a:off x="8366759" y="1408176"/>
            <a:ext cx="420624" cy="420624"/>
          </a:xfrm>
          <a:prstGeom prst="ellipse">
            <a:avLst/>
          </a:prstGeom>
          <a:solidFill>
            <a:srgbClr val="08090D"/>
          </a:solidFill>
          <a:ln w="3175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67928" y="1810512"/>
            <a:ext cx="22860" cy="384048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598663" y="2084831"/>
            <a:ext cx="2093976" cy="3035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11311" y="5230368"/>
            <a:ext cx="850392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sp>
        <p:nvSpPr>
          <p:cNvPr id="24" name="Oval 23"/>
          <p:cNvSpPr/>
          <p:nvPr/>
        </p:nvSpPr>
        <p:spPr>
          <a:xfrm>
            <a:off x="10707624" y="1408176"/>
            <a:ext cx="420624" cy="420624"/>
          </a:xfrm>
          <a:prstGeom prst="ellipse">
            <a:avLst/>
          </a:prstGeom>
          <a:solidFill>
            <a:srgbClr val="08090D"/>
          </a:solidFill>
          <a:ln w="3175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908792" y="1810512"/>
            <a:ext cx="22860" cy="384048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9939528" y="2084831"/>
            <a:ext cx="2093976" cy="30358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552176" y="5230368"/>
            <a:ext cx="850392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5961888"/>
            <a:ext cx="9509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轻量配饰让角色陪伴通勤与旅行，适合单件购买或成套礼赠。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帆布袋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随身系列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21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057400"/>
            <a:ext cx="2295144" cy="3200400"/>
          </a:xfrm>
          <a:prstGeom prst="roundRect">
            <a:avLst>
              <a:gd name="adj" fmla="val 9000"/>
            </a:avLst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0976" y="1536192"/>
            <a:ext cx="173736" cy="86868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423160" y="1536192"/>
            <a:ext cx="173736" cy="86868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1106424" y="2304288"/>
            <a:ext cx="1371600" cy="2029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968" y="4471416"/>
            <a:ext cx="1773936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" y="4928616"/>
            <a:ext cx="1463040" cy="64008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83864" y="2057400"/>
            <a:ext cx="2295144" cy="3200400"/>
          </a:xfrm>
          <a:prstGeom prst="roundRect">
            <a:avLst>
              <a:gd name="adj" fmla="val 9000"/>
            </a:avLst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13048" y="1536192"/>
            <a:ext cx="173736" cy="86868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85232" y="1536192"/>
            <a:ext cx="173736" cy="86868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3968496" y="2304288"/>
            <a:ext cx="1371600" cy="20299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49039" y="4471416"/>
            <a:ext cx="1773936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04488" y="4928616"/>
            <a:ext cx="1463040" cy="64008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45936" y="2057400"/>
            <a:ext cx="2295144" cy="3200400"/>
          </a:xfrm>
          <a:prstGeom prst="roundRect">
            <a:avLst>
              <a:gd name="adj" fmla="val 9000"/>
            </a:avLst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1536192"/>
            <a:ext cx="173736" cy="86868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47304" y="1536192"/>
            <a:ext cx="173736" cy="86868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6830568" y="2304288"/>
            <a:ext cx="1371600" cy="202996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11112" y="4471416"/>
            <a:ext cx="1773936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59" y="4928616"/>
            <a:ext cx="1463040" cy="64008"/>
          </a:xfrm>
          <a:prstGeom prst="rect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08008" y="2057400"/>
            <a:ext cx="2295144" cy="3200400"/>
          </a:xfrm>
          <a:prstGeom prst="roundRect">
            <a:avLst>
              <a:gd name="adj" fmla="val 9000"/>
            </a:avLst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537192" y="1536192"/>
            <a:ext cx="173736" cy="86868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09376" y="1536192"/>
            <a:ext cx="173736" cy="86868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9692640" y="2304288"/>
            <a:ext cx="1371600" cy="20299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473184" y="4471416"/>
            <a:ext cx="1773936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51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28632" y="4928616"/>
            <a:ext cx="1463040" cy="64008"/>
          </a:xfrm>
          <a:prstGeom prst="rect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57984" y="5769864"/>
            <a:ext cx="7909560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素色底布突出角色插画；提手与底纹延续行当配色。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系列礼盒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礼赠系列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22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1435608"/>
            <a:ext cx="6437376" cy="4407408"/>
          </a:xfrm>
          <a:prstGeom prst="roundRect">
            <a:avLst>
              <a:gd name="adj" fmla="val 9000"/>
            </a:avLst>
          </a:prstGeom>
          <a:solidFill>
            <a:srgbClr val="25202A"/>
          </a:solidFill>
          <a:ln w="1905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0704" y="1709928"/>
            <a:ext cx="5888736" cy="3858768"/>
          </a:xfrm>
          <a:prstGeom prst="rect">
            <a:avLst/>
          </a:prstGeom>
          <a:solidFill>
            <a:srgbClr val="08090D"/>
          </a:solidFill>
          <a:ln w="1651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1947672"/>
            <a:ext cx="5138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E46A"/>
                </a:solidFill>
                <a:latin typeface="Noto Sans CJK SC"/>
              </a:rPr>
              <a:t>五角成戏</a:t>
            </a:r>
          </a:p>
        </p:txBody>
      </p:sp>
      <p:pic>
        <p:nvPicPr>
          <p:cNvPr id="11" name="Picture 10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1280160" y="2788920"/>
            <a:ext cx="1143000" cy="2029968"/>
          </a:xfrm>
          <a:prstGeom prst="rect">
            <a:avLst/>
          </a:prstGeom>
        </p:spPr>
      </p:pic>
      <p:pic>
        <p:nvPicPr>
          <p:cNvPr id="12" name="Picture 11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2331720" y="2788920"/>
            <a:ext cx="1143000" cy="2029968"/>
          </a:xfrm>
          <a:prstGeom prst="rect">
            <a:avLst/>
          </a:prstGeom>
        </p:spPr>
      </p:pic>
      <p:pic>
        <p:nvPicPr>
          <p:cNvPr id="13" name="Picture 12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3383279" y="2788920"/>
            <a:ext cx="1143000" cy="2029968"/>
          </a:xfrm>
          <a:prstGeom prst="rect">
            <a:avLst/>
          </a:prstGeom>
        </p:spPr>
      </p:pic>
      <p:pic>
        <p:nvPicPr>
          <p:cNvPr id="14" name="Picture 13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4434840" y="2788920"/>
            <a:ext cx="1143000" cy="2029968"/>
          </a:xfrm>
          <a:prstGeom prst="rect">
            <a:avLst/>
          </a:prstGeom>
        </p:spPr>
      </p:pic>
      <p:pic>
        <p:nvPicPr>
          <p:cNvPr id="15" name="Picture 14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5486400" y="2788920"/>
            <a:ext cx="1143000" cy="20299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72768" y="5111496"/>
            <a:ext cx="485546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泉州布袋戏 · 角色文创礼盒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44383" y="1444752"/>
            <a:ext cx="3822191" cy="440740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18119" y="1609344"/>
            <a:ext cx="411480" cy="54864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27263" y="1865376"/>
            <a:ext cx="345643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064FF"/>
                </a:solidFill>
                <a:latin typeface="Noto Sans CJK SC"/>
              </a:rPr>
              <a:t>一盒看见一台戏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3" y="2414016"/>
            <a:ext cx="3456432" cy="33101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内含角色书签、明信片和纪念贴纸。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以黑色戏幕作为礼盒底色；粉、青、金三色作为导视标记。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适合文旅伴手礼与研学活动。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展板设计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空间展示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23 /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" y="1536192"/>
            <a:ext cx="3429000" cy="4416552"/>
          </a:xfrm>
          <a:prstGeom prst="rect">
            <a:avLst/>
          </a:prstGeom>
          <a:solidFill>
            <a:srgbClr val="14151E"/>
          </a:solidFill>
          <a:ln w="1905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1956816"/>
            <a:ext cx="3044952" cy="54864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212848"/>
            <a:ext cx="2926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4B9E"/>
                </a:solidFill>
                <a:latin typeface="Noto Sans CJK SC"/>
              </a:rPr>
              <a:t>文化溯源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907792"/>
            <a:ext cx="2706624" cy="9509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一只手托起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一方小戏台</a:t>
            </a:r>
          </a:p>
        </p:txBody>
      </p:sp>
      <p:sp>
        <p:nvSpPr>
          <p:cNvPr id="12" name="Oval 11"/>
          <p:cNvSpPr/>
          <p:nvPr/>
        </p:nvSpPr>
        <p:spPr>
          <a:xfrm>
            <a:off x="1810512" y="4370832"/>
            <a:ext cx="987552" cy="98755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11733" y="4776123"/>
            <a:ext cx="176969" cy="17696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354346" y="4914666"/>
            <a:ext cx="176969" cy="17696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5803" y="4972053"/>
            <a:ext cx="176969" cy="17696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77259" y="4914666"/>
            <a:ext cx="176969" cy="17696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19873" y="4776123"/>
            <a:ext cx="176969" cy="17696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77259" y="4637579"/>
            <a:ext cx="176969" cy="17696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15803" y="4580193"/>
            <a:ext cx="176969" cy="17696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54346" y="4637579"/>
            <a:ext cx="176969" cy="17696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241084" y="4801404"/>
            <a:ext cx="126406" cy="12640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77151" y="4637471"/>
            <a:ext cx="454273" cy="454273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49972" y="4810292"/>
            <a:ext cx="108630" cy="1086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34840" y="1536192"/>
            <a:ext cx="3429000" cy="4416552"/>
          </a:xfrm>
          <a:prstGeom prst="rect">
            <a:avLst/>
          </a:prstGeom>
          <a:solidFill>
            <a:srgbClr val="14151E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17720" y="1956816"/>
            <a:ext cx="3044952" cy="54864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72583" y="2212848"/>
            <a:ext cx="2926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4CE3D0"/>
                </a:solidFill>
                <a:latin typeface="Noto Sans CJK SC"/>
              </a:rPr>
              <a:t>五角成戏</a:t>
            </a:r>
          </a:p>
        </p:txBody>
      </p:sp>
      <p:pic>
        <p:nvPicPr>
          <p:cNvPr id="27" name="Picture 26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4654296" y="3017520"/>
            <a:ext cx="612648" cy="1856231"/>
          </a:xfrm>
          <a:prstGeom prst="rect">
            <a:avLst/>
          </a:prstGeom>
        </p:spPr>
      </p:pic>
      <p:pic>
        <p:nvPicPr>
          <p:cNvPr id="28" name="Picture 27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5276088" y="3017520"/>
            <a:ext cx="612648" cy="1856231"/>
          </a:xfrm>
          <a:prstGeom prst="rect">
            <a:avLst/>
          </a:prstGeom>
        </p:spPr>
      </p:pic>
      <p:pic>
        <p:nvPicPr>
          <p:cNvPr id="29" name="Picture 28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897880" y="3017520"/>
            <a:ext cx="612648" cy="1856231"/>
          </a:xfrm>
          <a:prstGeom prst="rect">
            <a:avLst/>
          </a:prstGeom>
        </p:spPr>
      </p:pic>
      <p:pic>
        <p:nvPicPr>
          <p:cNvPr id="30" name="Picture 29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6519672" y="3017520"/>
            <a:ext cx="612648" cy="1856231"/>
          </a:xfrm>
          <a:prstGeom prst="rect">
            <a:avLst/>
          </a:prstGeom>
        </p:spPr>
      </p:pic>
      <p:pic>
        <p:nvPicPr>
          <p:cNvPr id="31" name="Picture 30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7141464" y="3017520"/>
            <a:ext cx="612648" cy="185623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81727" y="5120640"/>
            <a:ext cx="293522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生  旦  净  末  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93608" y="1536192"/>
            <a:ext cx="3429000" cy="4416552"/>
          </a:xfrm>
          <a:prstGeom prst="rect">
            <a:avLst/>
          </a:prstGeom>
          <a:solidFill>
            <a:srgbClr val="14151E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76488" y="1956816"/>
            <a:ext cx="3044952" cy="54864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31352" y="2212848"/>
            <a:ext cx="2926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A064FF"/>
                </a:solidFill>
                <a:latin typeface="Noto Sans CJK SC"/>
              </a:rPr>
              <a:t>文创应用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0" y="3163824"/>
            <a:ext cx="621792" cy="1874519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555480" y="3163824"/>
            <a:ext cx="621792" cy="1874519"/>
          </a:xfrm>
          <a:prstGeom prst="roundRect">
            <a:avLst>
              <a:gd name="adj" fmla="val 9000"/>
            </a:avLst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24160" y="3163824"/>
            <a:ext cx="621792" cy="1874519"/>
          </a:xfrm>
          <a:prstGeom prst="roundRect">
            <a:avLst>
              <a:gd name="adj" fmla="val 9000"/>
            </a:avLst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22208" y="5129784"/>
            <a:ext cx="2907792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从舞台走入生活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FFE46A"/>
                </a:solidFill>
                <a:latin typeface="Noto Sans CJK S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展板设计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与成果展示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EXHIBITION · PRESENTATION · APPLICATION</a:t>
            </a:r>
          </a:p>
        </p:txBody>
      </p:sp>
      <p:pic>
        <p:nvPicPr>
          <p:cNvPr id="6" name="Picture 5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429768" y="3172968"/>
            <a:ext cx="2340864" cy="33375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文化展板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文化脉络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25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89888"/>
            <a:ext cx="11164824" cy="45354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64208"/>
            <a:ext cx="4617720" cy="6309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395728"/>
            <a:ext cx="4480560" cy="59436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88336"/>
            <a:ext cx="4608576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掌中有戏，指尖传情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4581144" cy="1600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8F6F6"/>
                </a:solidFill>
                <a:latin typeface="Noto Sans CJK SC"/>
              </a:rPr>
              <a:t>以掌为台，以偶为角。木刻偶头与织物衣身在艺人手中获得生命，唱白、锣鼓与身段共同构成闽南戏曲的独特景观。</a:t>
            </a:r>
          </a:p>
        </p:txBody>
      </p:sp>
      <p:pic>
        <p:nvPicPr>
          <p:cNvPr id="13" name="Picture 12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6446520" y="1755648"/>
            <a:ext cx="2926080" cy="386791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9802368" y="1956816"/>
            <a:ext cx="1115568" cy="1115568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481525" y="2414645"/>
            <a:ext cx="199909" cy="19990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16700" y="2571148"/>
            <a:ext cx="199909" cy="19990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60197" y="2635973"/>
            <a:ext cx="199909" cy="19990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103694" y="2571148"/>
            <a:ext cx="199909" cy="19990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38868" y="2414645"/>
            <a:ext cx="199909" cy="19990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03694" y="2258142"/>
            <a:ext cx="199909" cy="19990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60197" y="2193316"/>
            <a:ext cx="199909" cy="19990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416700" y="2258142"/>
            <a:ext cx="199909" cy="199909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88755" y="2443203"/>
            <a:ext cx="142792" cy="14279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03571" y="2258019"/>
            <a:ext cx="513161" cy="5131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98795" y="2453243"/>
            <a:ext cx="122712" cy="12271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角色展板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五角成戏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26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" y="1399032"/>
            <a:ext cx="11219688" cy="473659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664208"/>
            <a:ext cx="3867912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E46A"/>
                </a:solidFill>
                <a:latin typeface="Noto Sans CJK SC"/>
              </a:rPr>
              <a:t>一眼识五角</a:t>
            </a:r>
          </a:p>
        </p:txBody>
      </p:sp>
      <p:pic>
        <p:nvPicPr>
          <p:cNvPr id="10" name="Picture 9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731520" y="2276856"/>
            <a:ext cx="2011680" cy="2944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5349240"/>
            <a:ext cx="201168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pic>
        <p:nvPicPr>
          <p:cNvPr id="12" name="Picture 11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2944368" y="2276856"/>
            <a:ext cx="2011680" cy="2944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44368" y="5349240"/>
            <a:ext cx="201168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pic>
        <p:nvPicPr>
          <p:cNvPr id="14" name="Picture 13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157216" y="2276856"/>
            <a:ext cx="2011680" cy="2944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57216" y="5349240"/>
            <a:ext cx="201168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pic>
        <p:nvPicPr>
          <p:cNvPr id="16" name="Picture 15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370064" y="2276856"/>
            <a:ext cx="2011680" cy="2944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70064" y="5349240"/>
            <a:ext cx="201168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pic>
        <p:nvPicPr>
          <p:cNvPr id="18" name="Picture 17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9582912" y="2276856"/>
            <a:ext cx="2011680" cy="29443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82912" y="5349240"/>
            <a:ext cx="201168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文创陈列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礼品组合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27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08176"/>
            <a:ext cx="11183112" cy="4828032"/>
          </a:xfrm>
          <a:prstGeom prst="roundRect">
            <a:avLst>
              <a:gd name="adj" fmla="val 9000"/>
            </a:avLst>
          </a:prstGeom>
          <a:solidFill>
            <a:srgbClr val="17151C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655064"/>
            <a:ext cx="41148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4B9E"/>
                </a:solidFill>
                <a:latin typeface="Noto Sans CJK SC"/>
              </a:rPr>
              <a:t>从舞台到日常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2423160"/>
            <a:ext cx="1828800" cy="2514600"/>
          </a:xfrm>
          <a:prstGeom prst="roundRect">
            <a:avLst>
              <a:gd name="adj" fmla="val 9000"/>
            </a:avLst>
          </a:prstGeom>
          <a:solidFill>
            <a:srgbClr val="F8F2E9"/>
          </a:solidFill>
          <a:ln w="1651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1097280" y="2633472"/>
            <a:ext cx="1234440" cy="1746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43584" y="4407408"/>
            <a:ext cx="950976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51E"/>
                </a:solidFill>
                <a:latin typeface="Noto Sans CJK SC"/>
              </a:rPr>
              <a:t>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0704" y="5157216"/>
            <a:ext cx="1335024" cy="530352"/>
          </a:xfrm>
          <a:prstGeom prst="roundRect">
            <a:avLst>
              <a:gd name="adj" fmla="val 9000"/>
            </a:avLst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5257800"/>
            <a:ext cx="130759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090D"/>
                </a:solidFill>
                <a:latin typeface="Noto Sans CJK SC"/>
              </a:rPr>
              <a:t>角色礼签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4368" y="2423160"/>
            <a:ext cx="1828800" cy="2514600"/>
          </a:xfrm>
          <a:prstGeom prst="roundRect">
            <a:avLst>
              <a:gd name="adj" fmla="val 9000"/>
            </a:avLst>
          </a:prstGeom>
          <a:solidFill>
            <a:srgbClr val="F8F2E9"/>
          </a:solidFill>
          <a:ln w="1651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3236975" y="2633472"/>
            <a:ext cx="1234440" cy="1746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83279" y="4407408"/>
            <a:ext cx="950976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51E"/>
                </a:solidFill>
                <a:latin typeface="Noto Sans CJK SC"/>
              </a:rPr>
              <a:t>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5157216"/>
            <a:ext cx="1335024" cy="530352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18687" y="5257800"/>
            <a:ext cx="130759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090D"/>
                </a:solidFill>
                <a:latin typeface="Noto Sans CJK SC"/>
              </a:rPr>
              <a:t>角色礼签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4064" y="2423160"/>
            <a:ext cx="1828800" cy="2514600"/>
          </a:xfrm>
          <a:prstGeom prst="roundRect">
            <a:avLst>
              <a:gd name="adj" fmla="val 9000"/>
            </a:avLst>
          </a:prstGeom>
          <a:solidFill>
            <a:srgbClr val="F8F2E9"/>
          </a:solidFill>
          <a:ln w="1651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376672" y="2633472"/>
            <a:ext cx="1234440" cy="174650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522975" y="4407408"/>
            <a:ext cx="950976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51E"/>
                </a:solidFill>
                <a:latin typeface="Noto Sans CJK SC"/>
              </a:rPr>
              <a:t>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40096" y="5157216"/>
            <a:ext cx="1335024" cy="530352"/>
          </a:xfrm>
          <a:prstGeom prst="roundRect">
            <a:avLst>
              <a:gd name="adj" fmla="val 9000"/>
            </a:avLst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58383" y="5257800"/>
            <a:ext cx="130759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090D"/>
                </a:solidFill>
                <a:latin typeface="Noto Sans CJK SC"/>
              </a:rPr>
              <a:t>角色礼签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59" y="2423160"/>
            <a:ext cx="1828800" cy="2514600"/>
          </a:xfrm>
          <a:prstGeom prst="roundRect">
            <a:avLst>
              <a:gd name="adj" fmla="val 9000"/>
            </a:avLst>
          </a:prstGeom>
          <a:solidFill>
            <a:srgbClr val="F8F2E9"/>
          </a:solidFill>
          <a:ln w="16510">
            <a:solidFill>
              <a:srgbClr val="58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516367" y="2633472"/>
            <a:ext cx="1234440" cy="174650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62671" y="4407408"/>
            <a:ext cx="950976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51E"/>
                </a:solidFill>
                <a:latin typeface="Noto Sans CJK SC"/>
              </a:rPr>
              <a:t>末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79792" y="5157216"/>
            <a:ext cx="1335024" cy="530352"/>
          </a:xfrm>
          <a:prstGeom prst="roundRect">
            <a:avLst>
              <a:gd name="adj" fmla="val 9000"/>
            </a:avLst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79" y="5257800"/>
            <a:ext cx="130759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090D"/>
                </a:solidFill>
                <a:latin typeface="Noto Sans CJK SC"/>
              </a:rPr>
              <a:t>角色礼签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63456" y="2423160"/>
            <a:ext cx="1828800" cy="2514600"/>
          </a:xfrm>
          <a:prstGeom prst="roundRect">
            <a:avLst>
              <a:gd name="adj" fmla="val 9000"/>
            </a:avLst>
          </a:prstGeom>
          <a:solidFill>
            <a:srgbClr val="F8F2E9"/>
          </a:solidFill>
          <a:ln w="1651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9656064" y="2633472"/>
            <a:ext cx="1234440" cy="174650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802368" y="4407408"/>
            <a:ext cx="950976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51E"/>
                </a:solidFill>
                <a:latin typeface="Noto Sans CJK SC"/>
              </a:rPr>
              <a:t>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19488" y="5157216"/>
            <a:ext cx="1335024" cy="530352"/>
          </a:xfrm>
          <a:prstGeom prst="roundRect">
            <a:avLst>
              <a:gd name="adj" fmla="val 9000"/>
            </a:avLst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37776" y="5257800"/>
            <a:ext cx="130759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090D"/>
                </a:solidFill>
                <a:latin typeface="Noto Sans CJK SC"/>
              </a:rPr>
              <a:t>角色礼签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研学互动场景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场景应用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28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" y="1444752"/>
            <a:ext cx="7498079" cy="46817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792224"/>
            <a:ext cx="6245352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4CE3D0"/>
                </a:solidFill>
                <a:latin typeface="Noto Sans CJK SC"/>
              </a:rPr>
              <a:t>看 · 认 · 演 · 带走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798064"/>
            <a:ext cx="521207" cy="52120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2779776"/>
            <a:ext cx="245059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8F6F6"/>
                </a:solidFill>
                <a:latin typeface="Noto Sans CJK SC"/>
              </a:rPr>
              <a:t>01 看戏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3200400"/>
            <a:ext cx="2514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7A6AF"/>
                </a:solidFill>
                <a:latin typeface="Noto Sans CJK SC"/>
              </a:rPr>
              <a:t>观看布袋戏表演</a:t>
            </a:r>
          </a:p>
        </p:txBody>
      </p:sp>
      <p:sp>
        <p:nvSpPr>
          <p:cNvPr id="13" name="Oval 12"/>
          <p:cNvSpPr/>
          <p:nvPr/>
        </p:nvSpPr>
        <p:spPr>
          <a:xfrm>
            <a:off x="4343400" y="2798064"/>
            <a:ext cx="521207" cy="521207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1768" y="2779776"/>
            <a:ext cx="245059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8F6F6"/>
                </a:solidFill>
                <a:latin typeface="Noto Sans CJK SC"/>
              </a:rPr>
              <a:t>02 识角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1768" y="3200400"/>
            <a:ext cx="2514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7A6AF"/>
                </a:solidFill>
                <a:latin typeface="Noto Sans CJK SC"/>
              </a:rPr>
              <a:t>辨认五种角色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4169664"/>
            <a:ext cx="521207" cy="521207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27048" y="4151376"/>
            <a:ext cx="245059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8F6F6"/>
                </a:solidFill>
                <a:latin typeface="Noto Sans CJK SC"/>
              </a:rPr>
              <a:t>03 操偶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572000"/>
            <a:ext cx="2514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7A6AF"/>
                </a:solidFill>
                <a:latin typeface="Noto Sans CJK SC"/>
              </a:rPr>
              <a:t>体验手指动作</a:t>
            </a:r>
          </a:p>
        </p:txBody>
      </p:sp>
      <p:sp>
        <p:nvSpPr>
          <p:cNvPr id="19" name="Oval 18"/>
          <p:cNvSpPr/>
          <p:nvPr/>
        </p:nvSpPr>
        <p:spPr>
          <a:xfrm>
            <a:off x="4343400" y="4169664"/>
            <a:ext cx="521207" cy="52120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1768" y="4151376"/>
            <a:ext cx="245059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8F6F6"/>
                </a:solidFill>
                <a:latin typeface="Noto Sans CJK SC"/>
              </a:rPr>
              <a:t>04 收藏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01768" y="4572000"/>
            <a:ext cx="2514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7A6AF"/>
                </a:solidFill>
                <a:latin typeface="Noto Sans CJK SC"/>
              </a:rPr>
              <a:t>挑选角色文创</a:t>
            </a:r>
          </a:p>
        </p:txBody>
      </p:sp>
      <p:pic>
        <p:nvPicPr>
          <p:cNvPr id="22" name="Picture 21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8668512" y="1508760"/>
            <a:ext cx="2542032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系列总览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设计成果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1344168"/>
            <a:ext cx="10661904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8F6F6"/>
                </a:solidFill>
                <a:latin typeface="Noto Sans CJK SC"/>
              </a:rPr>
              <a:t>五位角色 · 一套视觉 · 多种载体</a:t>
            </a:r>
          </a:p>
        </p:txBody>
      </p:sp>
      <p:pic>
        <p:nvPicPr>
          <p:cNvPr id="9" name="Picture 8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420624" y="2084831"/>
            <a:ext cx="2221992" cy="3145536"/>
          </a:xfrm>
          <a:prstGeom prst="rect">
            <a:avLst/>
          </a:prstGeom>
        </p:spPr>
      </p:pic>
      <p:pic>
        <p:nvPicPr>
          <p:cNvPr id="10" name="Picture 9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2734056" y="2084831"/>
            <a:ext cx="2221992" cy="3145536"/>
          </a:xfrm>
          <a:prstGeom prst="rect">
            <a:avLst/>
          </a:prstGeom>
        </p:spPr>
      </p:pic>
      <p:pic>
        <p:nvPicPr>
          <p:cNvPr id="11" name="Picture 10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047488" y="2084831"/>
            <a:ext cx="2221992" cy="3145536"/>
          </a:xfrm>
          <a:prstGeom prst="rect">
            <a:avLst/>
          </a:prstGeom>
        </p:spPr>
      </p:pic>
      <p:pic>
        <p:nvPicPr>
          <p:cNvPr id="12" name="Picture 11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360920" y="2084831"/>
            <a:ext cx="2221992" cy="3145536"/>
          </a:xfrm>
          <a:prstGeom prst="rect">
            <a:avLst/>
          </a:prstGeom>
        </p:spPr>
      </p:pic>
      <p:pic>
        <p:nvPicPr>
          <p:cNvPr id="13" name="Picture 12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9674352" y="2084831"/>
            <a:ext cx="2221992" cy="31455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05840" y="5541264"/>
            <a:ext cx="2212848" cy="466344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605272"/>
            <a:ext cx="221284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角色视觉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03904" y="5541264"/>
            <a:ext cx="2212848" cy="466344"/>
          </a:xfrm>
          <a:prstGeom prst="roundRect">
            <a:avLst>
              <a:gd name="adj" fmla="val 9000"/>
            </a:avLst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03904" y="5605272"/>
            <a:ext cx="221284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色彩纹样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01968" y="5541264"/>
            <a:ext cx="2212848" cy="466344"/>
          </a:xfrm>
          <a:prstGeom prst="roundRect">
            <a:avLst>
              <a:gd name="adj" fmla="val 9000"/>
            </a:avLst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1968" y="5605272"/>
            <a:ext cx="221284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文创产品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5541264"/>
            <a:ext cx="2212848" cy="466344"/>
          </a:xfrm>
          <a:prstGeom prst="roundRect">
            <a:avLst>
              <a:gd name="adj" fmla="val 9000"/>
            </a:avLst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0032" y="5605272"/>
            <a:ext cx="221284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场景展陈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3464" y="91439"/>
            <a:ext cx="1078992" cy="107899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0354" y="534258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654" y="685630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6282" y="748330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4910" y="685630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2210" y="534258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910" y="382886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6282" y="320186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654" y="382886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3904" y="561880"/>
            <a:ext cx="138110" cy="13811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4791" y="382767"/>
            <a:ext cx="496336" cy="496336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3615" y="571591"/>
            <a:ext cx="118689" cy="118689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87584" y="137160"/>
            <a:ext cx="896112" cy="89611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33136" y="504924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81063" y="630639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55348" y="682712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29632" y="630639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77559" y="504924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29632" y="379208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55348" y="327135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881063" y="379208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778288" y="527864"/>
            <a:ext cx="114702" cy="11470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29534" y="379110"/>
            <a:ext cx="412211" cy="41221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86353" y="535929"/>
            <a:ext cx="98572" cy="9857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1033271"/>
            <a:ext cx="8138160" cy="8412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E46A"/>
                </a:solidFill>
                <a:latin typeface="Noto Sans CJK SC"/>
              </a:rPr>
              <a:t>掌上乾坤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2002536"/>
            <a:ext cx="8092440" cy="8046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8568" y="2962656"/>
            <a:ext cx="768096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8F6F6"/>
                </a:solidFill>
                <a:latin typeface="Noto Sans CJK SC"/>
              </a:rPr>
              <a:t>让一出掌中戏，走进更多人的生活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0016" y="3657600"/>
            <a:ext cx="278892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1883664" y="4187952"/>
            <a:ext cx="1682496" cy="2221992"/>
          </a:xfrm>
          <a:prstGeom prst="rect">
            <a:avLst/>
          </a:prstGeom>
        </p:spPr>
      </p:pic>
      <p:pic>
        <p:nvPicPr>
          <p:cNvPr id="31" name="Picture 30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3611880" y="4187952"/>
            <a:ext cx="1682496" cy="2221992"/>
          </a:xfrm>
          <a:prstGeom prst="rect">
            <a:avLst/>
          </a:prstGeom>
        </p:spPr>
      </p:pic>
      <p:pic>
        <p:nvPicPr>
          <p:cNvPr id="32" name="Picture 31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340096" y="4187952"/>
            <a:ext cx="1682496" cy="2221992"/>
          </a:xfrm>
          <a:prstGeom prst="rect">
            <a:avLst/>
          </a:prstGeom>
        </p:spPr>
      </p:pic>
      <p:pic>
        <p:nvPicPr>
          <p:cNvPr id="33" name="Picture 32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068312" y="4187952"/>
            <a:ext cx="1682496" cy="2221992"/>
          </a:xfrm>
          <a:prstGeom prst="rect">
            <a:avLst/>
          </a:prstGeom>
        </p:spPr>
      </p:pic>
      <p:pic>
        <p:nvPicPr>
          <p:cNvPr id="34" name="Picture 33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8796528" y="4187952"/>
            <a:ext cx="1682496" cy="222199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984248" y="6473952"/>
            <a:ext cx="82296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7A6AF"/>
                </a:solidFill>
                <a:latin typeface="Noto Sans CJK SC"/>
              </a:rPr>
              <a:t>QUANZHOU GLOVE PUPPET THEATRE · CULTURAL CREATIVE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