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48056"/>
            <a:ext cx="11045952" cy="19202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704088"/>
            <a:ext cx="6675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8AA68"/>
                </a:solidFill>
                <a:latin typeface="Noto Sans CJK SC"/>
              </a:rPr>
              <a:t>泉州 · 掌中戏文化创意设计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71600"/>
            <a:ext cx="7114032" cy="8321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2CF76"/>
                </a:solidFill>
                <a:latin typeface="Noto Sans CJK SC"/>
              </a:rPr>
              <a:t>掌上乾坤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7242048" cy="8138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5F0E7"/>
                </a:solidFill>
                <a:latin typeface="Noto Sans CJK SC"/>
              </a:rPr>
              <a:t>泉州布袋戏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" y="3346704"/>
            <a:ext cx="5138928" cy="54864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602736"/>
            <a:ext cx="6254496" cy="4663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85B85"/>
                </a:solidFill>
                <a:latin typeface="Noto Sans CJK SC"/>
              </a:rPr>
              <a:t>五角成戏  ×  花与衣纹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4160520"/>
            <a:ext cx="6217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ADAA"/>
                </a:solidFill>
                <a:latin typeface="Noto Sans CJK SC"/>
              </a:rPr>
              <a:t>QUANZHOU GLOVE PUPPET THEATRE</a:t>
            </a:r>
          </a:p>
        </p:txBody>
      </p:sp>
      <p:pic>
        <p:nvPicPr>
          <p:cNvPr id="9" name="Picture 8" descr="11_floral_costume_motifs.png"/>
          <p:cNvPicPr>
            <a:picLocks noChangeAspect="1"/>
          </p:cNvPicPr>
          <p:nvPr/>
        </p:nvPicPr>
        <p:blipFill>
          <a:blip r:embed="rId2"/>
          <a:srcRect l="40193" r="39917" t="16575" b="21271"/>
          <a:stretch>
            <a:fillRect/>
          </a:stretch>
        </p:blipFill>
        <p:spPr>
          <a:xfrm>
            <a:off x="8695944" y="594360"/>
            <a:ext cx="2944368" cy="2944368"/>
          </a:xfrm>
          <a:prstGeom prst="rect">
            <a:avLst/>
          </a:prstGeom>
        </p:spPr>
      </p:pic>
      <p:pic>
        <p:nvPicPr>
          <p:cNvPr id="10" name="Picture 9" descr="ip_j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27" y="2141638"/>
            <a:ext cx="4306824" cy="3973754"/>
          </a:xfrm>
          <a:prstGeom prst="rect">
            <a:avLst/>
          </a:prstGeom>
        </p:spPr>
      </p:pic>
      <p:pic>
        <p:nvPicPr>
          <p:cNvPr id="11" name="Picture 10" descr="ip_she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922070"/>
            <a:ext cx="1106424" cy="10372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" y="6126480"/>
            <a:ext cx="896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2D1C3"/>
                </a:solidFill>
                <a:latin typeface="Noto Sans CJK SC"/>
              </a:rPr>
              <a:t>生</a:t>
            </a:r>
          </a:p>
        </p:txBody>
      </p:sp>
      <p:pic>
        <p:nvPicPr>
          <p:cNvPr id="13" name="Picture 12" descr="ip_d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9656" y="4835330"/>
            <a:ext cx="1106424" cy="12106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20240" y="6126480"/>
            <a:ext cx="896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B85"/>
                </a:solidFill>
                <a:latin typeface="Noto Sans CJK SC"/>
              </a:rPr>
              <a:t>旦</a:t>
            </a:r>
          </a:p>
        </p:txBody>
      </p:sp>
      <p:pic>
        <p:nvPicPr>
          <p:cNvPr id="15" name="Picture 14" descr="ip_j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944" y="4930250"/>
            <a:ext cx="1106424" cy="102085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81528" y="6126480"/>
            <a:ext cx="896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A46E"/>
                </a:solidFill>
                <a:latin typeface="Noto Sans CJK SC"/>
              </a:rPr>
              <a:t>净</a:t>
            </a:r>
          </a:p>
        </p:txBody>
      </p:sp>
      <p:pic>
        <p:nvPicPr>
          <p:cNvPr id="17" name="Picture 16" descr="ip_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32" y="4787276"/>
            <a:ext cx="1106424" cy="13068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42816" y="6126480"/>
            <a:ext cx="896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6B3EA"/>
                </a:solidFill>
                <a:latin typeface="Noto Sans CJK SC"/>
              </a:rPr>
              <a:t>末</a:t>
            </a:r>
          </a:p>
        </p:txBody>
      </p:sp>
      <p:pic>
        <p:nvPicPr>
          <p:cNvPr id="19" name="Picture 18" descr="ip_cho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4776825"/>
            <a:ext cx="1106424" cy="13277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04104" y="6126480"/>
            <a:ext cx="896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CF76"/>
                </a:solidFill>
                <a:latin typeface="Noto Sans CJK SC"/>
              </a:rPr>
              <a:t>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6483096"/>
            <a:ext cx="6126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CULTURAL CREATIVE DESIGN  /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920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5F0E7"/>
                </a:solidFill>
                <a:latin typeface="Noto Sans CJK SC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85416" y="603504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8AA68"/>
                </a:solidFill>
                <a:latin typeface="Noto Sans CJK SC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18520" cy="20116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90472"/>
            <a:ext cx="2606040" cy="424281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28600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E85B85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249424" cy="1170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0E7"/>
                </a:solidFill>
                <a:latin typeface="Noto Sans CJK SC"/>
              </a:rPr>
              <a:t>创意溯源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0E7"/>
                </a:solidFill>
                <a:latin typeface="Noto Sans CJK SC"/>
              </a:rPr>
              <a:t>与文化背景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79976"/>
            <a:ext cx="2112264" cy="32004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floral_costume_motifs.png"/>
          <p:cNvPicPr>
            <a:picLocks noChangeAspect="1"/>
          </p:cNvPicPr>
          <p:nvPr/>
        </p:nvPicPr>
        <p:blipFill>
          <a:blip r:embed="rId2"/>
          <a:srcRect r="80203" t="16575" b="21271"/>
          <a:stretch>
            <a:fillRect/>
          </a:stretch>
        </p:blipFill>
        <p:spPr>
          <a:xfrm>
            <a:off x="1316736" y="4617720"/>
            <a:ext cx="1051560" cy="1051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419856" y="1490472"/>
            <a:ext cx="2606040" cy="424281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737360"/>
            <a:ext cx="228600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52D1C3"/>
                </a:solidFill>
                <a:latin typeface="Noto Sans CJK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907792"/>
            <a:ext cx="2249424" cy="1170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0E7"/>
                </a:solidFill>
                <a:latin typeface="Noto Sans CJK SC"/>
              </a:rPr>
              <a:t>核心视觉设计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0E7"/>
                </a:solidFill>
                <a:latin typeface="Noto Sans CJK SC"/>
              </a:rPr>
              <a:t>与规范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4448" y="4379976"/>
            <a:ext cx="2112264" cy="32004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1_floral_costume_motifs.png"/>
          <p:cNvPicPr>
            <a:picLocks noChangeAspect="1"/>
          </p:cNvPicPr>
          <p:nvPr/>
        </p:nvPicPr>
        <p:blipFill>
          <a:blip r:embed="rId2"/>
          <a:srcRect l="19797" r="59807" t="16575" b="21271"/>
          <a:stretch>
            <a:fillRect/>
          </a:stretch>
        </p:blipFill>
        <p:spPr>
          <a:xfrm>
            <a:off x="4169664" y="4617720"/>
            <a:ext cx="1051560" cy="10515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72784" y="1490472"/>
            <a:ext cx="2606040" cy="424281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37360"/>
            <a:ext cx="228600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AC90E9"/>
                </a:solidFill>
                <a:latin typeface="Noto Sans CJK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907792"/>
            <a:ext cx="2249424" cy="1170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0E7"/>
                </a:solidFill>
                <a:latin typeface="Noto Sans CJK SC"/>
              </a:rPr>
              <a:t>文创衍生品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0E7"/>
                </a:solidFill>
                <a:latin typeface="Noto Sans CJK SC"/>
              </a:rPr>
              <a:t>开发应用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37376" y="4379976"/>
            <a:ext cx="2112264" cy="32004"/>
          </a:xfrm>
          <a:prstGeom prst="rect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1_floral_costume_motifs.png"/>
          <p:cNvPicPr>
            <a:picLocks noChangeAspect="1"/>
          </p:cNvPicPr>
          <p:nvPr/>
        </p:nvPicPr>
        <p:blipFill>
          <a:blip r:embed="rId2"/>
          <a:srcRect l="40193" r="39917" t="16575" b="21271"/>
          <a:stretch>
            <a:fillRect/>
          </a:stretch>
        </p:blipFill>
        <p:spPr>
          <a:xfrm>
            <a:off x="7022592" y="4617720"/>
            <a:ext cx="1051560" cy="10515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9125711" y="1490472"/>
            <a:ext cx="2606040" cy="424281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3" y="1737360"/>
            <a:ext cx="228600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76B3EA"/>
                </a:solidFill>
                <a:latin typeface="Noto Sans CJK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3" y="2907792"/>
            <a:ext cx="2249424" cy="1170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0E7"/>
                </a:solidFill>
                <a:latin typeface="Noto Sans CJK SC"/>
              </a:rPr>
              <a:t>展板设计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0E7"/>
                </a:solidFill>
                <a:latin typeface="Noto Sans CJK SC"/>
              </a:rPr>
              <a:t>与成果展示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90303" y="4379976"/>
            <a:ext cx="2112264" cy="32004"/>
          </a:xfrm>
          <a:prstGeom prst="rect">
            <a:avLst/>
          </a:prstGeom>
          <a:solidFill>
            <a:srgbClr val="76B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1_floral_costume_motifs.png"/>
          <p:cNvPicPr>
            <a:picLocks noChangeAspect="1"/>
          </p:cNvPicPr>
          <p:nvPr/>
        </p:nvPicPr>
        <p:blipFill>
          <a:blip r:embed="rId2"/>
          <a:srcRect l="80110" t="16575" b="21271"/>
          <a:stretch>
            <a:fillRect/>
          </a:stretch>
        </p:blipFill>
        <p:spPr>
          <a:xfrm>
            <a:off x="9875519" y="4617720"/>
            <a:ext cx="1051560" cy="1051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0936" y="6117336"/>
            <a:ext cx="10716768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5ADAA"/>
                </a:solidFill>
                <a:latin typeface="Noto Sans CJK SC"/>
              </a:rPr>
              <a:t>从文化依据走向完整的角色、图形、文创与展陈系统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402336"/>
            <a:ext cx="11137392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612648"/>
            <a:ext cx="52120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8AA68"/>
                </a:solidFill>
                <a:latin typeface="Noto Sans CJK SC"/>
              </a:rPr>
              <a:t>CHAPTER  /  掌上乾坤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210312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0" b="1">
                <a:solidFill>
                  <a:srgbClr val="E85B85"/>
                </a:solidFill>
                <a:latin typeface="Noto Sans CJK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89504"/>
            <a:ext cx="6949440" cy="1435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0E7"/>
                </a:solidFill>
                <a:latin typeface="Noto Sans CJK SC"/>
              </a:rPr>
              <a:t>创意溯源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0E7"/>
                </a:solidFill>
                <a:latin typeface="Noto Sans CJK SC"/>
              </a:rPr>
              <a:t>与文化背景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4754880"/>
            <a:ext cx="4023360" cy="50292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10912"/>
            <a:ext cx="69494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ADAA"/>
                </a:solidFill>
                <a:latin typeface="Noto Sans CJK SC"/>
              </a:rPr>
              <a:t>FROM FOLK STAGE TO CONTEMPORARY DESIGN</a:t>
            </a:r>
          </a:p>
        </p:txBody>
      </p:sp>
      <p:pic>
        <p:nvPicPr>
          <p:cNvPr id="8" name="Picture 7" descr="11_floral_costume_motifs.png"/>
          <p:cNvPicPr>
            <a:picLocks noChangeAspect="1"/>
          </p:cNvPicPr>
          <p:nvPr/>
        </p:nvPicPr>
        <p:blipFill>
          <a:blip r:embed="rId2"/>
          <a:srcRect l="19797" r="59807" t="16575" b="21271"/>
          <a:stretch>
            <a:fillRect/>
          </a:stretch>
        </p:blipFill>
        <p:spPr>
          <a:xfrm>
            <a:off x="8458200" y="896112"/>
            <a:ext cx="2505456" cy="2505456"/>
          </a:xfrm>
          <a:prstGeom prst="rect">
            <a:avLst/>
          </a:prstGeom>
        </p:spPr>
      </p:pic>
      <p:pic>
        <p:nvPicPr>
          <p:cNvPr id="9" name="Picture 8" descr="ip_d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266" y="2770632"/>
            <a:ext cx="3526419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历史背景介绍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01 / 文化脉络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04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43584"/>
            <a:ext cx="612648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85B85"/>
                </a:solidFill>
                <a:latin typeface="Noto Sans CJK SC"/>
              </a:rPr>
              <a:t>一方小戏台，一手演乾坤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93392"/>
            <a:ext cx="5623560" cy="1207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0E7"/>
                </a:solidFill>
                <a:latin typeface="Noto Sans CJK SC"/>
              </a:rPr>
              <a:t>布袋木偶戏流传于闽南地区。艺人将手伸入布偶的衣身，以手指操控头部与双臂，让木刻偶头、布制服饰和细腻动作在小戏台上相遇。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456432"/>
            <a:ext cx="5623560" cy="11064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0E7"/>
                </a:solidFill>
                <a:latin typeface="Noto Sans CJK SC"/>
              </a:rPr>
              <a:t>演出常以闽南语唱白、锣鼓节奏与戏曲程式推进情节，既能表现忠义豪情，也能讲述市井生活与民间趣事。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5010912"/>
            <a:ext cx="5650992" cy="731520"/>
          </a:xfrm>
          <a:prstGeom prst="roundRect">
            <a:avLst>
              <a:gd name="adj" fmla="val 9000"/>
            </a:avLst>
          </a:prstGeom>
          <a:solidFill>
            <a:srgbClr val="1F1624"/>
          </a:solidFill>
          <a:ln w="1270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166360"/>
            <a:ext cx="52578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5B85"/>
                </a:solidFill>
                <a:latin typeface="Noto Sans CJK SC"/>
              </a:rPr>
              <a:t>设计切入点：以五个行当角色与泉州城市意象，构成“掌中戏”的年轻表达。</a:t>
            </a:r>
          </a:p>
        </p:txBody>
      </p:sp>
      <p:pic>
        <p:nvPicPr>
          <p:cNvPr id="13" name="Picture 12" descr="ip_j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308436"/>
            <a:ext cx="3063240" cy="2826343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10250424" y="1481328"/>
            <a:ext cx="749808" cy="749808"/>
          </a:xfrm>
          <a:prstGeom prst="ellipse">
            <a:avLst/>
          </a:prstGeom>
          <a:solidFill>
            <a:srgbClr val="0D1019"/>
          </a:solidFill>
          <a:ln w="2540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06907" y="1789049"/>
            <a:ext cx="134365" cy="134365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63335" y="1894239"/>
            <a:ext cx="134365" cy="134365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58145" y="1937811"/>
            <a:ext cx="134365" cy="134365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52954" y="1894239"/>
            <a:ext cx="134365" cy="134365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09383" y="1789049"/>
            <a:ext cx="134365" cy="134365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52954" y="1683858"/>
            <a:ext cx="134365" cy="134365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58145" y="1640287"/>
            <a:ext cx="134365" cy="134365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63335" y="1683858"/>
            <a:ext cx="134365" cy="134365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77340" y="1808244"/>
            <a:ext cx="95975" cy="95975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52872" y="1683776"/>
            <a:ext cx="344911" cy="344911"/>
          </a:xfrm>
          <a:prstGeom prst="ellipse">
            <a:avLst/>
          </a:prstGeom>
          <a:solidFill>
            <a:srgbClr val="0D1019"/>
          </a:solidFill>
          <a:ln w="1905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84088" y="1814992"/>
            <a:ext cx="82478" cy="82478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布袋偶操演方式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01 / 文化依据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05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694944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85B85"/>
                </a:solidFill>
                <a:latin typeface="Noto Sans CJK SC"/>
              </a:rPr>
              <a:t>一只手，带动一出戏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64008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操演原理示意 · 非传统戏偶实物复原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58568"/>
            <a:ext cx="5650992" cy="358444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95728" y="2450592"/>
            <a:ext cx="1536192" cy="1536192"/>
          </a:xfrm>
          <a:prstGeom prst="ellipse">
            <a:avLst/>
          </a:prstGeom>
          <a:solidFill>
            <a:srgbClr val="F7E4CF"/>
          </a:solidFill>
          <a:ln w="25400">
            <a:solidFill>
              <a:srgbClr val="F2C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12264" y="3849624"/>
            <a:ext cx="2093976" cy="1554480"/>
          </a:xfrm>
          <a:prstGeom prst="roundRect">
            <a:avLst>
              <a:gd name="adj" fmla="val 9000"/>
            </a:avLst>
          </a:prstGeom>
          <a:solidFill>
            <a:srgbClr val="E85B85"/>
          </a:solidFill>
          <a:ln w="19050">
            <a:solidFill>
              <a:srgbClr val="F2C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4114800"/>
            <a:ext cx="868680" cy="630936"/>
          </a:xfrm>
          <a:prstGeom prst="roundRect">
            <a:avLst>
              <a:gd name="adj" fmla="val 9000"/>
            </a:avLst>
          </a:prstGeom>
          <a:solidFill>
            <a:srgbClr val="E85B85"/>
          </a:solidFill>
          <a:ln w="16510">
            <a:solidFill>
              <a:srgbClr val="F2C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69080" y="4114800"/>
            <a:ext cx="868680" cy="630936"/>
          </a:xfrm>
          <a:prstGeom prst="roundRect">
            <a:avLst>
              <a:gd name="adj" fmla="val 9000"/>
            </a:avLst>
          </a:prstGeom>
          <a:solidFill>
            <a:srgbClr val="E85B85"/>
          </a:solidFill>
          <a:ln w="16510">
            <a:solidFill>
              <a:srgbClr val="F2C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8720" y="4041648"/>
            <a:ext cx="493776" cy="493776"/>
          </a:xfrm>
          <a:prstGeom prst="ellipse">
            <a:avLst/>
          </a:prstGeom>
          <a:solidFill>
            <a:srgbClr val="F7E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36592" y="4041648"/>
            <a:ext cx="493776" cy="493776"/>
          </a:xfrm>
          <a:prstGeom prst="ellipse">
            <a:avLst/>
          </a:prstGeom>
          <a:solidFill>
            <a:srgbClr val="F7E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89504" y="5175504"/>
            <a:ext cx="512064" cy="512064"/>
          </a:xfrm>
          <a:prstGeom prst="ellipse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2606040"/>
            <a:ext cx="1508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CF76"/>
                </a:solidFill>
                <a:latin typeface="Noto Sans CJK SC"/>
              </a:rPr>
              <a:t>食指 → 偶头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965192"/>
            <a:ext cx="157276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2D1C3"/>
                </a:solidFill>
                <a:latin typeface="Noto Sans CJK SC"/>
              </a:rPr>
              <a:t>拇指 → 左臂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965192"/>
            <a:ext cx="16459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2D1C3"/>
                </a:solidFill>
                <a:latin typeface="Noto Sans CJK SC"/>
              </a:rPr>
              <a:t>中指 → 右臂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1" y="5495544"/>
            <a:ext cx="233172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Noto Sans CJK SC"/>
              </a:rPr>
              <a:t>手掌进入衣身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83096" y="2258568"/>
            <a:ext cx="5138928" cy="358444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48272" y="2532888"/>
            <a:ext cx="484632" cy="484632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57416" y="2551176"/>
            <a:ext cx="45720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1019"/>
                </a:solidFill>
                <a:latin typeface="Noto Sans CJK S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2514600"/>
            <a:ext cx="98755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5B85"/>
                </a:solidFill>
                <a:latin typeface="Noto Sans CJK SC"/>
              </a:rPr>
              <a:t>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478024"/>
            <a:ext cx="2962656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偶头、衣身和双臂构成可操控的表演体。</a:t>
            </a:r>
          </a:p>
        </p:txBody>
      </p:sp>
      <p:sp>
        <p:nvSpPr>
          <p:cNvPr id="27" name="Oval 26"/>
          <p:cNvSpPr/>
          <p:nvPr/>
        </p:nvSpPr>
        <p:spPr>
          <a:xfrm>
            <a:off x="6748272" y="3566160"/>
            <a:ext cx="484632" cy="484632"/>
          </a:xfrm>
          <a:prstGeom prst="ellipse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3584448"/>
            <a:ext cx="45720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1019"/>
                </a:solidFill>
                <a:latin typeface="Noto Sans CJK S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3547872"/>
            <a:ext cx="98755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2D1C3"/>
                </a:solidFill>
                <a:latin typeface="Noto Sans CJK SC"/>
              </a:rPr>
              <a:t>动作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511296"/>
            <a:ext cx="2962656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手指驱动转头、挥袖与举手等动作。</a:t>
            </a:r>
          </a:p>
        </p:txBody>
      </p:sp>
      <p:sp>
        <p:nvSpPr>
          <p:cNvPr id="31" name="Oval 30"/>
          <p:cNvSpPr/>
          <p:nvPr/>
        </p:nvSpPr>
        <p:spPr>
          <a:xfrm>
            <a:off x="6748272" y="4599431"/>
            <a:ext cx="484632" cy="484632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7416" y="4617719"/>
            <a:ext cx="45720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1019"/>
                </a:solidFill>
                <a:latin typeface="Noto Sans CJK SC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4927" y="4581144"/>
            <a:ext cx="98755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CF76"/>
                </a:solidFill>
                <a:latin typeface="Noto Sans CJK SC"/>
              </a:rPr>
              <a:t>转译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544568"/>
            <a:ext cx="2962656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IP 保留冠帽、脸谱与衣纹，展示为完整角色。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117336"/>
            <a:ext cx="1078992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ADAA"/>
                </a:solidFill>
                <a:latin typeface="Noto Sans CJK SC"/>
              </a:rPr>
              <a:t>本项目是泉州城市文创概念设计；角色插画不指代具体传统剧目或馆藏戏偶。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选题介绍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01 / 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06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417320"/>
            <a:ext cx="3566160" cy="4078224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81912"/>
            <a:ext cx="411480" cy="54864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490472"/>
            <a:ext cx="594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85B85"/>
                </a:solidFill>
                <a:latin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37944"/>
            <a:ext cx="3200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85B85"/>
                </a:solidFill>
                <a:latin typeface="Noto Sans CJK SC"/>
              </a:rPr>
              <a:t>项目背景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86584"/>
            <a:ext cx="3200400" cy="2980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城市文化与文旅体验不断融合，传统戏曲需要更鲜明、轻盈的视觉入口，让初次接触的观众愿意驻足与了解。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417320"/>
            <a:ext cx="3566160" cy="4078224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581912"/>
            <a:ext cx="411480" cy="54864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599" y="1490472"/>
            <a:ext cx="594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52D1C3"/>
                </a:solidFill>
                <a:latin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1837944"/>
            <a:ext cx="3200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2D1C3"/>
                </a:solidFill>
                <a:latin typeface="Noto Sans CJK SC"/>
              </a:rPr>
              <a:t>设计说明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386584"/>
            <a:ext cx="3200400" cy="2980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提取木偶的冠帽、脸谱、衣饰和表演姿态，转化为五位可辨认的国潮角色，并延展到日常文创载体。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417320"/>
            <a:ext cx="3566160" cy="4078224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1581912"/>
            <a:ext cx="411480" cy="54864"/>
          </a:xfrm>
          <a:prstGeom prst="rect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08792" y="1490472"/>
            <a:ext cx="594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2CF76"/>
                </a:solidFill>
                <a:latin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837944"/>
            <a:ext cx="3200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2CF76"/>
                </a:solidFill>
                <a:latin typeface="Noto Sans CJK SC"/>
              </a:rPr>
              <a:t>设计理念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386584"/>
            <a:ext cx="3200400" cy="2980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以“五角成戏”为核心，让收藏、使用和分享成为走近掌中戏文化的连续体验。</a:t>
            </a:r>
          </a:p>
        </p:txBody>
      </p:sp>
      <p:pic>
        <p:nvPicPr>
          <p:cNvPr id="23" name="Picture 22" descr="11_floral_costume_motifs.png"/>
          <p:cNvPicPr>
            <a:picLocks noChangeAspect="1"/>
          </p:cNvPicPr>
          <p:nvPr/>
        </p:nvPicPr>
        <p:blipFill>
          <a:blip r:embed="rId2"/>
          <a:srcRect l="19797" r="59807" t="16575" b="21271"/>
          <a:stretch>
            <a:fillRect/>
          </a:stretch>
        </p:blipFill>
        <p:spPr>
          <a:xfrm>
            <a:off x="1691640" y="4251960"/>
            <a:ext cx="1106424" cy="1106424"/>
          </a:xfrm>
          <a:prstGeom prst="rect">
            <a:avLst/>
          </a:prstGeom>
        </p:spPr>
      </p:pic>
      <p:pic>
        <p:nvPicPr>
          <p:cNvPr id="24" name="Picture 23" descr="11_floral_costume_motifs.png"/>
          <p:cNvPicPr>
            <a:picLocks noChangeAspect="1"/>
          </p:cNvPicPr>
          <p:nvPr/>
        </p:nvPicPr>
        <p:blipFill>
          <a:blip r:embed="rId2"/>
          <a:srcRect l="40193" r="39917" t="16575" b="21271"/>
          <a:stretch>
            <a:fillRect/>
          </a:stretch>
        </p:blipFill>
        <p:spPr>
          <a:xfrm>
            <a:off x="5513831" y="4251960"/>
            <a:ext cx="1106424" cy="1106424"/>
          </a:xfrm>
          <a:prstGeom prst="rect">
            <a:avLst/>
          </a:prstGeom>
        </p:spPr>
      </p:pic>
      <p:pic>
        <p:nvPicPr>
          <p:cNvPr id="25" name="Picture 24" descr="11_floral_costume_motifs.png"/>
          <p:cNvPicPr>
            <a:picLocks noChangeAspect="1"/>
          </p:cNvPicPr>
          <p:nvPr/>
        </p:nvPicPr>
        <p:blipFill>
          <a:blip r:embed="rId2"/>
          <a:srcRect l="80110" t="16575" b="21271"/>
          <a:stretch>
            <a:fillRect/>
          </a:stretch>
        </p:blipFill>
        <p:spPr>
          <a:xfrm>
            <a:off x="9336024" y="4251960"/>
            <a:ext cx="1106424" cy="11064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48256" y="5833872"/>
            <a:ext cx="8110727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0E7"/>
                </a:solidFill>
                <a:latin typeface="Noto Sans CJK SC"/>
              </a:rPr>
              <a:t>文化识别 → 角色共鸣 → 场景使用 → 自发传播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受众人群与使用场景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01 / 目标人群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07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444752"/>
            <a:ext cx="3566160" cy="424281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9344"/>
            <a:ext cx="411480" cy="54864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865376"/>
            <a:ext cx="3200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85B85"/>
                </a:solidFill>
                <a:latin typeface="Noto Sans CJK SC"/>
              </a:rPr>
              <a:t>泉州游客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14016"/>
            <a:ext cx="3200400" cy="31455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希望带走轻便、具有地方辨识度的纪念品。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场景：景区、博物馆、古城街巷。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444752"/>
            <a:ext cx="3566160" cy="424281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609344"/>
            <a:ext cx="411480" cy="54864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865376"/>
            <a:ext cx="3200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2D1C3"/>
                </a:solidFill>
                <a:latin typeface="Noto Sans CJK SC"/>
              </a:rPr>
              <a:t>青年与亲子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414016"/>
            <a:ext cx="3200400" cy="31455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偏好角色故事、成套收藏和互动体验。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场景：研学课堂、社交分享、礼赠。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444752"/>
            <a:ext cx="3566160" cy="424281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02752" y="1609344"/>
            <a:ext cx="411480" cy="54864"/>
          </a:xfrm>
          <a:prstGeom prst="rect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865376"/>
            <a:ext cx="3200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C90E9"/>
                </a:solidFill>
                <a:latin typeface="Noto Sans CJK SC"/>
              </a:rPr>
              <a:t>文旅机构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414016"/>
            <a:ext cx="3200400" cy="31455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需要能够代表在地文化、方便陈列与传播的系列礼品。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场景：展演活动、城市礼物、公共教育。</a:t>
            </a:r>
          </a:p>
        </p:txBody>
      </p:sp>
      <p:pic>
        <p:nvPicPr>
          <p:cNvPr id="20" name="Picture 19" descr="ip_sh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06" y="4160520"/>
            <a:ext cx="1463115" cy="1371600"/>
          </a:xfrm>
          <a:prstGeom prst="rect">
            <a:avLst/>
          </a:prstGeom>
        </p:spPr>
      </p:pic>
      <p:pic>
        <p:nvPicPr>
          <p:cNvPr id="21" name="Picture 20" descr="ip_ch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4160520"/>
            <a:ext cx="1143000" cy="1371600"/>
          </a:xfrm>
          <a:prstGeom prst="rect">
            <a:avLst/>
          </a:prstGeom>
        </p:spPr>
      </p:pic>
      <p:pic>
        <p:nvPicPr>
          <p:cNvPr id="22" name="Picture 21" descr="ip_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7" y="4160520"/>
            <a:ext cx="1161281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81912" y="5989320"/>
            <a:ext cx="9052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接触戏偶 → 认识行当 → 收集角色 → 分享泉州故事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版式与视觉策略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01 / 风格定位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08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98755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5F0E7"/>
                </a:solidFill>
                <a:latin typeface="Noto Sans CJK SC"/>
              </a:rPr>
              <a:t>从戏台到展场：清晰的叙事秩序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978408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2D1C3"/>
                </a:solidFill>
                <a:latin typeface="Noto Sans CJK SC"/>
              </a:rPr>
              <a:t>一页一重点 · 大标题 · 五色分角 · 金线花纹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2660904"/>
            <a:ext cx="11228832" cy="332841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p_sh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369034"/>
            <a:ext cx="1737360" cy="16286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2376" y="5522976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2D1C3"/>
                </a:solidFill>
                <a:latin typeface="Noto Sans CJK SC"/>
              </a:rPr>
              <a:t>生</a:t>
            </a:r>
          </a:p>
        </p:txBody>
      </p:sp>
      <p:pic>
        <p:nvPicPr>
          <p:cNvPr id="13" name="Picture 12" descr="ip_d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24" y="3232831"/>
            <a:ext cx="1737360" cy="19010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35224" y="5522976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5B85"/>
                </a:solidFill>
                <a:latin typeface="Noto Sans CJK SC"/>
              </a:rPr>
              <a:t>旦</a:t>
            </a:r>
          </a:p>
        </p:txBody>
      </p:sp>
      <p:pic>
        <p:nvPicPr>
          <p:cNvPr id="15" name="Picture 14" descr="ip_j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3381879"/>
            <a:ext cx="1737360" cy="160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48072" y="5522976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A46E"/>
                </a:solidFill>
                <a:latin typeface="Noto Sans CJK SC"/>
              </a:rPr>
              <a:t>净</a:t>
            </a:r>
          </a:p>
        </p:txBody>
      </p:sp>
      <p:pic>
        <p:nvPicPr>
          <p:cNvPr id="17" name="Picture 16" descr="ip_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3157374"/>
            <a:ext cx="1737360" cy="205201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0920" y="5522976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6B3EA"/>
                </a:solidFill>
                <a:latin typeface="Noto Sans CJK SC"/>
              </a:rPr>
              <a:t>末</a:t>
            </a:r>
          </a:p>
        </p:txBody>
      </p:sp>
      <p:pic>
        <p:nvPicPr>
          <p:cNvPr id="19" name="Picture 18" descr="ip_cho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3767" y="3140964"/>
            <a:ext cx="1737360" cy="20848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73767" y="5522976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CF76"/>
                </a:solidFill>
                <a:latin typeface="Noto Sans CJK SC"/>
              </a:rPr>
              <a:t>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灵感创意来源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01 / 元素提取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09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408176"/>
            <a:ext cx="5431536" cy="193852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1965960"/>
            <a:ext cx="822960" cy="822960"/>
          </a:xfrm>
          <a:prstGeom prst="ellipse">
            <a:avLst/>
          </a:prstGeom>
          <a:solidFill>
            <a:srgbClr val="0D1019"/>
          </a:solidFill>
          <a:ln w="2540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9114" y="2303702"/>
            <a:ext cx="147474" cy="147474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1291" y="2419155"/>
            <a:ext cx="147474" cy="147474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838" y="2466978"/>
            <a:ext cx="147474" cy="147474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385" y="2419155"/>
            <a:ext cx="147474" cy="147474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563" y="2303702"/>
            <a:ext cx="147474" cy="147474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0385" y="2188249"/>
            <a:ext cx="147474" cy="147474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5838" y="2140427"/>
            <a:ext cx="147474" cy="147474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21291" y="2188249"/>
            <a:ext cx="147474" cy="147474"/>
          </a:xfrm>
          <a:prstGeom prst="ellipse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6906" y="2324770"/>
            <a:ext cx="105338" cy="105338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0295" y="2188159"/>
            <a:ext cx="378561" cy="378561"/>
          </a:xfrm>
          <a:prstGeom prst="ellipse">
            <a:avLst/>
          </a:prstGeom>
          <a:solidFill>
            <a:srgbClr val="0D1019"/>
          </a:solidFill>
          <a:ln w="1905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4313" y="2332177"/>
            <a:ext cx="90525" cy="90525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7088" y="1801368"/>
            <a:ext cx="374903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5B85"/>
                </a:solidFill>
                <a:latin typeface="Noto Sans CJK SC"/>
              </a:rPr>
              <a:t>冠帽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2386584"/>
            <a:ext cx="3694176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角色身份的第一眼线索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1408176"/>
            <a:ext cx="5431536" cy="193852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1965960"/>
            <a:ext cx="822960" cy="822960"/>
          </a:xfrm>
          <a:prstGeom prst="ellipse">
            <a:avLst/>
          </a:prstGeom>
          <a:solidFill>
            <a:srgbClr val="0D1019"/>
          </a:solidFill>
          <a:ln w="25400">
            <a:solidFill>
              <a:srgbClr val="F2A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38394" y="2303702"/>
            <a:ext cx="147474" cy="147474"/>
          </a:xfrm>
          <a:prstGeom prst="ellipse">
            <a:avLst/>
          </a:prstGeom>
          <a:solidFill>
            <a:srgbClr val="F2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90571" y="2419155"/>
            <a:ext cx="147474" cy="147474"/>
          </a:xfrm>
          <a:prstGeom prst="ellipse">
            <a:avLst/>
          </a:prstGeom>
          <a:solidFill>
            <a:srgbClr val="F2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75118" y="2466978"/>
            <a:ext cx="147474" cy="147474"/>
          </a:xfrm>
          <a:prstGeom prst="ellipse">
            <a:avLst/>
          </a:prstGeom>
          <a:solidFill>
            <a:srgbClr val="F2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59665" y="2419155"/>
            <a:ext cx="147474" cy="147474"/>
          </a:xfrm>
          <a:prstGeom prst="ellipse">
            <a:avLst/>
          </a:prstGeom>
          <a:solidFill>
            <a:srgbClr val="F2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11843" y="2303702"/>
            <a:ext cx="147474" cy="147474"/>
          </a:xfrm>
          <a:prstGeom prst="ellipse">
            <a:avLst/>
          </a:prstGeom>
          <a:solidFill>
            <a:srgbClr val="F2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665" y="2188249"/>
            <a:ext cx="147474" cy="147474"/>
          </a:xfrm>
          <a:prstGeom prst="ellipse">
            <a:avLst/>
          </a:prstGeom>
          <a:solidFill>
            <a:srgbClr val="F2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75118" y="2140427"/>
            <a:ext cx="147474" cy="147474"/>
          </a:xfrm>
          <a:prstGeom prst="ellipse">
            <a:avLst/>
          </a:prstGeom>
          <a:solidFill>
            <a:srgbClr val="F2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90571" y="2188249"/>
            <a:ext cx="147474" cy="147474"/>
          </a:xfrm>
          <a:prstGeom prst="ellipse">
            <a:avLst/>
          </a:prstGeom>
          <a:solidFill>
            <a:srgbClr val="F2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96186" y="2324770"/>
            <a:ext cx="105338" cy="105338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59575" y="2188159"/>
            <a:ext cx="378561" cy="378561"/>
          </a:xfrm>
          <a:prstGeom prst="ellipse">
            <a:avLst/>
          </a:prstGeom>
          <a:solidFill>
            <a:srgbClr val="0D1019"/>
          </a:solidFill>
          <a:ln w="1905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3593" y="2332177"/>
            <a:ext cx="90525" cy="90525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1801368"/>
            <a:ext cx="374903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2A46E"/>
                </a:solidFill>
                <a:latin typeface="Noto Sans CJK SC"/>
              </a:rPr>
              <a:t>脸谱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2386584"/>
            <a:ext cx="3694176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净角的性格张力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7" y="3639312"/>
            <a:ext cx="5431536" cy="193852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8096" y="4197096"/>
            <a:ext cx="822960" cy="822960"/>
          </a:xfrm>
          <a:prstGeom prst="ellipse">
            <a:avLst/>
          </a:prstGeom>
          <a:solidFill>
            <a:srgbClr val="0D1019"/>
          </a:solidFill>
          <a:ln w="2540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69114" y="4534838"/>
            <a:ext cx="147474" cy="147474"/>
          </a:xfrm>
          <a:prstGeom prst="ellipse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21291" y="4650291"/>
            <a:ext cx="147474" cy="147474"/>
          </a:xfrm>
          <a:prstGeom prst="ellipse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5838" y="4698114"/>
            <a:ext cx="147474" cy="147474"/>
          </a:xfrm>
          <a:prstGeom prst="ellipse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0385" y="4650291"/>
            <a:ext cx="147474" cy="147474"/>
          </a:xfrm>
          <a:prstGeom prst="ellipse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42563" y="4534838"/>
            <a:ext cx="147474" cy="147474"/>
          </a:xfrm>
          <a:prstGeom prst="ellipse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0385" y="4419385"/>
            <a:ext cx="147474" cy="147474"/>
          </a:xfrm>
          <a:prstGeom prst="ellipse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5838" y="4371563"/>
            <a:ext cx="147474" cy="147474"/>
          </a:xfrm>
          <a:prstGeom prst="ellipse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21291" y="4419385"/>
            <a:ext cx="147474" cy="147474"/>
          </a:xfrm>
          <a:prstGeom prst="ellipse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26906" y="4555906"/>
            <a:ext cx="105338" cy="105338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0295" y="4419295"/>
            <a:ext cx="378561" cy="378561"/>
          </a:xfrm>
          <a:prstGeom prst="ellipse">
            <a:avLst/>
          </a:prstGeom>
          <a:solidFill>
            <a:srgbClr val="0D1019"/>
          </a:solidFill>
          <a:ln w="1905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34313" y="4563313"/>
            <a:ext cx="90525" cy="90525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47088" y="4032504"/>
            <a:ext cx="374903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2D1C3"/>
                </a:solidFill>
                <a:latin typeface="Noto Sans CJK SC"/>
              </a:rPr>
              <a:t>衣纹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47088" y="4617720"/>
            <a:ext cx="3694176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闽南戏曲的装饰节奏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0488" y="3639312"/>
            <a:ext cx="5431536" cy="193852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37376" y="4197096"/>
            <a:ext cx="822960" cy="822960"/>
          </a:xfrm>
          <a:prstGeom prst="ellipse">
            <a:avLst/>
          </a:prstGeom>
          <a:solidFill>
            <a:srgbClr val="0D1019"/>
          </a:solidFill>
          <a:ln w="25400">
            <a:solidFill>
              <a:srgbClr val="AC9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938394" y="4534838"/>
            <a:ext cx="147474" cy="147474"/>
          </a:xfrm>
          <a:prstGeom prst="ellipse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890571" y="4650291"/>
            <a:ext cx="147474" cy="147474"/>
          </a:xfrm>
          <a:prstGeom prst="ellipse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775118" y="4698114"/>
            <a:ext cx="147474" cy="147474"/>
          </a:xfrm>
          <a:prstGeom prst="ellipse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659665" y="4650291"/>
            <a:ext cx="147474" cy="147474"/>
          </a:xfrm>
          <a:prstGeom prst="ellipse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611843" y="4534838"/>
            <a:ext cx="147474" cy="147474"/>
          </a:xfrm>
          <a:prstGeom prst="ellipse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59665" y="4419385"/>
            <a:ext cx="147474" cy="147474"/>
          </a:xfrm>
          <a:prstGeom prst="ellipse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75118" y="4371563"/>
            <a:ext cx="147474" cy="147474"/>
          </a:xfrm>
          <a:prstGeom prst="ellipse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90571" y="4419385"/>
            <a:ext cx="147474" cy="147474"/>
          </a:xfrm>
          <a:prstGeom prst="ellipse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796186" y="4555906"/>
            <a:ext cx="105338" cy="105338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659575" y="4419295"/>
            <a:ext cx="378561" cy="378561"/>
          </a:xfrm>
          <a:prstGeom prst="ellipse">
            <a:avLst/>
          </a:prstGeom>
          <a:solidFill>
            <a:srgbClr val="0D1019"/>
          </a:solidFill>
          <a:ln w="1905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03593" y="4563313"/>
            <a:ext cx="90525" cy="90525"/>
          </a:xfrm>
          <a:prstGeom prst="ellipse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16368" y="4032504"/>
            <a:ext cx="374903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C90E9"/>
                </a:solidFill>
                <a:latin typeface="Noto Sans CJK SC"/>
              </a:rPr>
              <a:t>戏台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16368" y="4617720"/>
            <a:ext cx="3694176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框景与层叠的表演空间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8760" y="6144768"/>
            <a:ext cx="93268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ADAA"/>
                </a:solidFill>
                <a:latin typeface="Noto Sans CJK SC"/>
              </a:rPr>
              <a:t>不是复制传统戏偶，而是将其可识别的视觉语言转化为当代设计。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402336"/>
            <a:ext cx="11137392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612648"/>
            <a:ext cx="52120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8AA68"/>
                </a:solidFill>
                <a:latin typeface="Noto Sans CJK SC"/>
              </a:rPr>
              <a:t>CHAPTER  /  掌上乾坤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210312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0" b="1">
                <a:solidFill>
                  <a:srgbClr val="52D1C3"/>
                </a:solidFill>
                <a:latin typeface="Noto Sans CJK S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89504"/>
            <a:ext cx="6949440" cy="1435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0E7"/>
                </a:solidFill>
                <a:latin typeface="Noto Sans CJK SC"/>
              </a:rPr>
              <a:t>核心视觉设计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0E7"/>
                </a:solidFill>
                <a:latin typeface="Noto Sans CJK SC"/>
              </a:rPr>
              <a:t>与规范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4754880"/>
            <a:ext cx="4023360" cy="50292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10912"/>
            <a:ext cx="69494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ADAA"/>
                </a:solidFill>
                <a:latin typeface="Noto Sans CJK SC"/>
              </a:rPr>
              <a:t>CHARACTER SYSTEM · COLOR · ORNAMENT</a:t>
            </a:r>
          </a:p>
        </p:txBody>
      </p:sp>
      <p:pic>
        <p:nvPicPr>
          <p:cNvPr id="8" name="Picture 7" descr="11_floral_costume_motifs.png"/>
          <p:cNvPicPr>
            <a:picLocks noChangeAspect="1"/>
          </p:cNvPicPr>
          <p:nvPr/>
        </p:nvPicPr>
        <p:blipFill>
          <a:blip r:embed="rId2"/>
          <a:srcRect l="40193" r="39917" t="16575" b="21271"/>
          <a:stretch>
            <a:fillRect/>
          </a:stretch>
        </p:blipFill>
        <p:spPr>
          <a:xfrm>
            <a:off x="8458200" y="896112"/>
            <a:ext cx="2505456" cy="2505456"/>
          </a:xfrm>
          <a:prstGeom prst="rect">
            <a:avLst/>
          </a:prstGeom>
        </p:spPr>
      </p:pic>
      <p:pic>
        <p:nvPicPr>
          <p:cNvPr id="9" name="Picture 8" descr="ip_j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780633"/>
            <a:ext cx="4160520" cy="38387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核心主体视觉元素设计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02 / 五角成戏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11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71016"/>
            <a:ext cx="3465576" cy="502920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p_sh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42593"/>
            <a:ext cx="3218688" cy="30173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7" y="5239512"/>
            <a:ext cx="2843784" cy="484632"/>
          </a:xfrm>
          <a:prstGeom prst="roundRect">
            <a:avLst>
              <a:gd name="adj" fmla="val 9000"/>
            </a:avLst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5303520"/>
            <a:ext cx="28163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1019"/>
                </a:solidFill>
                <a:latin typeface="Noto Sans CJK SC"/>
              </a:rPr>
              <a:t>生  SHENG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907024"/>
            <a:ext cx="306324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文雅机敏，启幕引戏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71016"/>
            <a:ext cx="3465576" cy="502920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p_d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5" y="1590259"/>
            <a:ext cx="3218688" cy="35220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45736" y="5239512"/>
            <a:ext cx="2843784" cy="484632"/>
          </a:xfrm>
          <a:prstGeom prst="roundRect">
            <a:avLst>
              <a:gd name="adj" fmla="val 9000"/>
            </a:avLst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5303520"/>
            <a:ext cx="28163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1019"/>
                </a:solidFill>
                <a:latin typeface="Noto Sans CJK SC"/>
              </a:rPr>
              <a:t>旦  DAN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5907024"/>
            <a:ext cx="306324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柔美灵动，以情动人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7" y="1271016"/>
            <a:ext cx="3465576" cy="502920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p_j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1866391"/>
            <a:ext cx="3218688" cy="296976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50224" y="5239512"/>
            <a:ext cx="2843784" cy="484632"/>
          </a:xfrm>
          <a:prstGeom prst="roundRect">
            <a:avLst>
              <a:gd name="adj" fmla="val 9000"/>
            </a:avLst>
          </a:prstGeom>
          <a:solidFill>
            <a:srgbClr val="F2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9367" y="5303520"/>
            <a:ext cx="28163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1019"/>
                </a:solidFill>
                <a:latin typeface="Noto Sans CJK SC"/>
              </a:rPr>
              <a:t>净  JING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5907024"/>
            <a:ext cx="306324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浓墨重彩，气势如虹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核心主体视觉元素设计（续）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02 / 五角成戏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12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1" y="1289304"/>
            <a:ext cx="4617720" cy="5010912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p_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983" y="1426464"/>
            <a:ext cx="3290296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792224" y="5276088"/>
            <a:ext cx="3090672" cy="475488"/>
          </a:xfrm>
          <a:prstGeom prst="roundRect">
            <a:avLst>
              <a:gd name="adj" fmla="val 9000"/>
            </a:avLst>
          </a:prstGeom>
          <a:solidFill>
            <a:srgbClr val="76B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10512" y="5321808"/>
            <a:ext cx="305409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1019"/>
                </a:solidFill>
                <a:latin typeface="Noto Sans CJK SC"/>
              </a:rPr>
              <a:t>末 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3" y="5916168"/>
            <a:ext cx="39319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沉稳慈和，阅尽世情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5392" y="1289304"/>
            <a:ext cx="4617720" cy="5010912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p_ch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001" y="1426464"/>
            <a:ext cx="3238500" cy="3886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24344" y="5276088"/>
            <a:ext cx="3090672" cy="475488"/>
          </a:xfrm>
          <a:prstGeom prst="roundRect">
            <a:avLst>
              <a:gd name="adj" fmla="val 9000"/>
            </a:avLst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1" y="5321808"/>
            <a:ext cx="305409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1019"/>
                </a:solidFill>
                <a:latin typeface="Noto Sans CJK SC"/>
              </a:rPr>
              <a:t>丑  CHOU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5916168"/>
            <a:ext cx="39319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诙谐俏皮，点亮戏台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色彩搭配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02 / 角色色谱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13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563624"/>
            <a:ext cx="1188720" cy="3273552"/>
          </a:xfrm>
          <a:prstGeom prst="rect">
            <a:avLst/>
          </a:prstGeom>
          <a:solidFill>
            <a:srgbClr val="FF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937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0E7"/>
                </a:solidFill>
                <a:latin typeface="Noto Sans CJK SC"/>
              </a:rPr>
              <a:t>#FF4B9E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5367528"/>
            <a:ext cx="118872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胭脂粉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92808" y="1563624"/>
            <a:ext cx="1188720" cy="3273552"/>
          </a:xfrm>
          <a:prstGeom prst="rect">
            <a:avLst/>
          </a:prstGeom>
          <a:solidFill>
            <a:srgbClr val="4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2808" y="4937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0E7"/>
                </a:solidFill>
                <a:latin typeface="Noto Sans CJK SC"/>
              </a:rPr>
              <a:t>#4CE3D0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5367528"/>
            <a:ext cx="118872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海丝青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563624"/>
            <a:ext cx="1188720" cy="3273552"/>
          </a:xfrm>
          <a:prstGeom prst="rect">
            <a:avLst/>
          </a:prstGeom>
          <a:solidFill>
            <a:srgbClr val="FFE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4937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0E7"/>
                </a:solidFill>
                <a:latin typeface="Noto Sans CJK SC"/>
              </a:rPr>
              <a:t>#FFE46A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5367528"/>
            <a:ext cx="118872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戏台金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7448" y="1563624"/>
            <a:ext cx="1188720" cy="3273552"/>
          </a:xfrm>
          <a:prstGeom prst="rect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4937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0E7"/>
                </a:solidFill>
                <a:latin typeface="Noto Sans CJK SC"/>
              </a:rPr>
              <a:t>#A064FF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5367528"/>
            <a:ext cx="118872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华彩紫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563624"/>
            <a:ext cx="1188720" cy="3273552"/>
          </a:xfrm>
          <a:prstGeom prst="rect">
            <a:avLst/>
          </a:prstGeom>
          <a:solidFill>
            <a:srgbClr val="58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4937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0E7"/>
                </a:solidFill>
                <a:latin typeface="Noto Sans CJK SC"/>
              </a:rPr>
              <a:t>#58A9FF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67528"/>
            <a:ext cx="118872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靛蓝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62088" y="1563624"/>
            <a:ext cx="1188720" cy="3273552"/>
          </a:xfrm>
          <a:prstGeom prst="rect">
            <a:avLst/>
          </a:prstGeom>
          <a:solidFill>
            <a:srgbClr val="FF9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4937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0E7"/>
                </a:solidFill>
                <a:latin typeface="Noto Sans CJK SC"/>
              </a:rPr>
              <a:t>#FF954C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5367528"/>
            <a:ext cx="118872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朱橘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1563624"/>
            <a:ext cx="1188720" cy="3273552"/>
          </a:xfrm>
          <a:prstGeom prst="rect">
            <a:avLst/>
          </a:prstGeom>
          <a:solidFill>
            <a:srgbClr val="F8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9408" y="4937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0E7"/>
                </a:solidFill>
                <a:latin typeface="Noto Sans CJK SC"/>
              </a:rPr>
              <a:t>#F8F6F6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5367528"/>
            <a:ext cx="118872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纸白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96728" y="1563624"/>
            <a:ext cx="1188720" cy="3273552"/>
          </a:xfrm>
          <a:prstGeom prst="rect">
            <a:avLst/>
          </a:prstGeom>
          <a:solidFill>
            <a:srgbClr val="14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96728" y="4937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0E7"/>
                </a:solidFill>
                <a:latin typeface="Noto Sans CJK SC"/>
              </a:rPr>
              <a:t>#14151E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96728" y="5367528"/>
            <a:ext cx="118872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幕黑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6044184"/>
            <a:ext cx="1076248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ADAA"/>
                </a:solidFill>
                <a:latin typeface="Noto Sans CJK SC"/>
              </a:rPr>
              <a:t>从戏服与脸谱提取高饱和色彩，以黑色戏幕衬托角色；色彩随角色切换，系统保持统一。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花与衣纹辅助图形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02 / 纹样系统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14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234440"/>
            <a:ext cx="10680192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5B85"/>
                </a:solidFill>
                <a:latin typeface="Noto Sans CJK SC"/>
              </a:rPr>
              <a:t>五角五纹 · 衣纹骨架 × 花卉意象</a:t>
            </a:r>
          </a:p>
        </p:txBody>
      </p:sp>
      <p:pic>
        <p:nvPicPr>
          <p:cNvPr id="9" name="Picture 8" descr="11_floral_costume_motifs.png"/>
          <p:cNvPicPr>
            <a:picLocks noChangeAspect="1"/>
          </p:cNvPicPr>
          <p:nvPr/>
        </p:nvPicPr>
        <p:blipFill>
          <a:blip r:embed="rId2"/>
          <a:srcRect r="80203" t="16575" b="21271"/>
          <a:stretch>
            <a:fillRect/>
          </a:stretch>
        </p:blipFill>
        <p:spPr>
          <a:xfrm>
            <a:off x="393192" y="2450591"/>
            <a:ext cx="2221992" cy="2221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" y="5212080"/>
            <a:ext cx="2139696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2D1C3"/>
                </a:solidFill>
                <a:latin typeface="Noto Sans CJK SC"/>
              </a:rPr>
              <a:t>青云梅花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641848"/>
            <a:ext cx="1591056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Noto Sans CJK SC"/>
              </a:rPr>
              <a:t>生</a:t>
            </a:r>
          </a:p>
        </p:txBody>
      </p:sp>
      <p:pic>
        <p:nvPicPr>
          <p:cNvPr id="12" name="Picture 11" descr="11_floral_costume_motifs.png"/>
          <p:cNvPicPr>
            <a:picLocks noChangeAspect="1"/>
          </p:cNvPicPr>
          <p:nvPr/>
        </p:nvPicPr>
        <p:blipFill>
          <a:blip r:embed="rId2"/>
          <a:srcRect l="19797" r="59807" t="16575" b="21271"/>
          <a:stretch>
            <a:fillRect/>
          </a:stretch>
        </p:blipFill>
        <p:spPr>
          <a:xfrm>
            <a:off x="2734056" y="2450591"/>
            <a:ext cx="2221992" cy="2221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70632" y="5212080"/>
            <a:ext cx="2139696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5B85"/>
                </a:solidFill>
                <a:latin typeface="Noto Sans CJK SC"/>
              </a:rPr>
              <a:t>牡丹衣纹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5641848"/>
            <a:ext cx="1591056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Noto Sans CJK SC"/>
              </a:rPr>
              <a:t>旦</a:t>
            </a:r>
          </a:p>
        </p:txBody>
      </p:sp>
      <p:pic>
        <p:nvPicPr>
          <p:cNvPr id="15" name="Picture 14" descr="11_floral_costume_motifs.png"/>
          <p:cNvPicPr>
            <a:picLocks noChangeAspect="1"/>
          </p:cNvPicPr>
          <p:nvPr/>
        </p:nvPicPr>
        <p:blipFill>
          <a:blip r:embed="rId2"/>
          <a:srcRect l="40193" r="39917" t="16575" b="21271"/>
          <a:stretch>
            <a:fillRect/>
          </a:stretch>
        </p:blipFill>
        <p:spPr>
          <a:xfrm>
            <a:off x="5074920" y="2450591"/>
            <a:ext cx="2221992" cy="22219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11496" y="5212080"/>
            <a:ext cx="2139696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A46E"/>
                </a:solidFill>
                <a:latin typeface="Noto Sans CJK SC"/>
              </a:rPr>
              <a:t>赤焰花云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5641848"/>
            <a:ext cx="1591056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Noto Sans CJK SC"/>
              </a:rPr>
              <a:t>净</a:t>
            </a:r>
          </a:p>
        </p:txBody>
      </p:sp>
      <p:pic>
        <p:nvPicPr>
          <p:cNvPr id="18" name="Picture 17" descr="11_floral_costume_motifs.png"/>
          <p:cNvPicPr>
            <a:picLocks noChangeAspect="1"/>
          </p:cNvPicPr>
          <p:nvPr/>
        </p:nvPicPr>
        <p:blipFill>
          <a:blip r:embed="rId2"/>
          <a:srcRect l="60083" r="19890" t="16575" b="21271"/>
          <a:stretch>
            <a:fillRect/>
          </a:stretch>
        </p:blipFill>
        <p:spPr>
          <a:xfrm>
            <a:off x="7415783" y="2450591"/>
            <a:ext cx="2221992" cy="2221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59" y="5212080"/>
            <a:ext cx="2139696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6B3EA"/>
                </a:solidFill>
                <a:latin typeface="Noto Sans CJK SC"/>
              </a:rPr>
              <a:t>海潮白梅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641848"/>
            <a:ext cx="1591056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Noto Sans CJK SC"/>
              </a:rPr>
              <a:t>末</a:t>
            </a:r>
          </a:p>
        </p:txBody>
      </p:sp>
      <p:pic>
        <p:nvPicPr>
          <p:cNvPr id="21" name="Picture 20" descr="11_floral_costume_motifs.png"/>
          <p:cNvPicPr>
            <a:picLocks noChangeAspect="1"/>
          </p:cNvPicPr>
          <p:nvPr/>
        </p:nvPicPr>
        <p:blipFill>
          <a:blip r:embed="rId2"/>
          <a:srcRect l="80110" t="16575" b="21271"/>
          <a:stretch>
            <a:fillRect/>
          </a:stretch>
        </p:blipFill>
        <p:spPr>
          <a:xfrm>
            <a:off x="9756648" y="2450591"/>
            <a:ext cx="2221992" cy="22219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93224" y="5212080"/>
            <a:ext cx="2139696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CF76"/>
                </a:solidFill>
                <a:latin typeface="Noto Sans CJK SC"/>
              </a:rPr>
              <a:t>绿衣团花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7544" y="5641848"/>
            <a:ext cx="1591056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0E7"/>
                </a:solidFill>
                <a:latin typeface="Noto Sans CJK SC"/>
              </a:rPr>
              <a:t>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144768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统一金线与花瓣节奏，让五种角色服饰图形形成同一品牌家族。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花与衣纹的生成过程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02 / 图形推导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15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179576"/>
            <a:ext cx="8503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85B85"/>
                </a:solidFill>
                <a:latin typeface="Noto Sans CJK SC"/>
              </a:rPr>
              <a:t>衣服局部 → 纹样骨架 → 花卉延展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10512"/>
            <a:ext cx="196596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0E7"/>
                </a:solidFill>
                <a:latin typeface="Noto Sans CJK SC"/>
              </a:rPr>
              <a:t>原服饰局部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10512"/>
            <a:ext cx="182880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0E7"/>
                </a:solidFill>
                <a:latin typeface="Noto Sans CJK SC"/>
              </a:rPr>
              <a:t>提炼动作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2168" y="1810512"/>
            <a:ext cx="20116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0E7"/>
                </a:solidFill>
                <a:latin typeface="Noto Sans CJK SC"/>
              </a:rPr>
              <a:t>辅助图形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221992"/>
            <a:ext cx="10972800" cy="667512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286000"/>
            <a:ext cx="1170432" cy="539496"/>
          </a:xfrm>
          <a:prstGeom prst="roundRect">
            <a:avLst>
              <a:gd name="adj" fmla="val 9000"/>
            </a:avLst>
          </a:prstGeom>
          <a:solidFill>
            <a:srgbClr val="22232B"/>
          </a:solidFill>
          <a:ln w="1270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p_sheng.png"/>
          <p:cNvPicPr>
            <a:picLocks noChangeAspect="1"/>
          </p:cNvPicPr>
          <p:nvPr/>
        </p:nvPicPr>
        <p:blipFill>
          <a:blip r:embed="rId2"/>
          <a:srcRect l="30888" t="73723" r="38996" b="8979"/>
          <a:stretch>
            <a:fillRect/>
          </a:stretch>
        </p:blipFill>
        <p:spPr>
          <a:xfrm>
            <a:off x="768096" y="2290572"/>
            <a:ext cx="1143000" cy="5303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84831" y="2377440"/>
            <a:ext cx="3931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2D1C3"/>
                </a:solidFill>
                <a:latin typeface="Noto Sans CJK SC"/>
              </a:rPr>
              <a:t>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3824" y="2340864"/>
            <a:ext cx="457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340864"/>
            <a:ext cx="317296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0E7"/>
                </a:solidFill>
                <a:latin typeface="Noto Sans CJK SC"/>
              </a:rPr>
              <a:t>三瓣云头 + 梅花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4" y="2340864"/>
            <a:ext cx="457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→</a:t>
            </a:r>
          </a:p>
        </p:txBody>
      </p:sp>
      <p:pic>
        <p:nvPicPr>
          <p:cNvPr id="19" name="Picture 18" descr="11_floral_costume_motifs.png"/>
          <p:cNvPicPr>
            <a:picLocks noChangeAspect="1"/>
          </p:cNvPicPr>
          <p:nvPr/>
        </p:nvPicPr>
        <p:blipFill>
          <a:blip r:embed="rId3"/>
          <a:srcRect r="80203" t="16575" b="21271"/>
          <a:stretch>
            <a:fillRect/>
          </a:stretch>
        </p:blipFill>
        <p:spPr>
          <a:xfrm>
            <a:off x="7594092" y="2240280"/>
            <a:ext cx="630936" cy="6309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50224" y="2359152"/>
            <a:ext cx="254203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2D1C3"/>
                </a:solidFill>
                <a:latin typeface="Noto Sans CJK SC"/>
              </a:rPr>
              <a:t>青云梅花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2944368"/>
            <a:ext cx="10972800" cy="667512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3008376"/>
            <a:ext cx="1170432" cy="539496"/>
          </a:xfrm>
          <a:prstGeom prst="roundRect">
            <a:avLst>
              <a:gd name="adj" fmla="val 9000"/>
            </a:avLst>
          </a:prstGeom>
          <a:solidFill>
            <a:srgbClr val="22232B"/>
          </a:solidFill>
          <a:ln w="1270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p_dan.png"/>
          <p:cNvPicPr>
            <a:picLocks noChangeAspect="1"/>
          </p:cNvPicPr>
          <p:nvPr/>
        </p:nvPicPr>
        <p:blipFill>
          <a:blip r:embed="rId4"/>
          <a:srcRect l="32944" t="55259" r="49541" b="31402"/>
          <a:stretch>
            <a:fillRect/>
          </a:stretch>
        </p:blipFill>
        <p:spPr>
          <a:xfrm>
            <a:off x="768096" y="3012948"/>
            <a:ext cx="1143000" cy="5303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084831" y="3099816"/>
            <a:ext cx="3931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5B85"/>
                </a:solidFill>
                <a:latin typeface="Noto Sans CJK SC"/>
              </a:rPr>
              <a:t>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3824" y="3063240"/>
            <a:ext cx="457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3063240"/>
            <a:ext cx="317296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0E7"/>
                </a:solidFill>
                <a:latin typeface="Noto Sans CJK SC"/>
              </a:rPr>
              <a:t>粉袖花心 + 金蔓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063240"/>
            <a:ext cx="457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→</a:t>
            </a:r>
          </a:p>
        </p:txBody>
      </p:sp>
      <p:pic>
        <p:nvPicPr>
          <p:cNvPr id="28" name="Picture 27" descr="11_floral_costume_motifs.png"/>
          <p:cNvPicPr>
            <a:picLocks noChangeAspect="1"/>
          </p:cNvPicPr>
          <p:nvPr/>
        </p:nvPicPr>
        <p:blipFill>
          <a:blip r:embed="rId3"/>
          <a:srcRect l="19797" r="59807" t="16575" b="21271"/>
          <a:stretch>
            <a:fillRect/>
          </a:stretch>
        </p:blipFill>
        <p:spPr>
          <a:xfrm>
            <a:off x="7594092" y="2962656"/>
            <a:ext cx="630936" cy="6309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50224" y="3081528"/>
            <a:ext cx="254203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5B85"/>
                </a:solidFill>
                <a:latin typeface="Noto Sans CJK SC"/>
              </a:rPr>
              <a:t>牡丹衣纹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" y="3666744"/>
            <a:ext cx="10972800" cy="667512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8952" y="3730752"/>
            <a:ext cx="1170432" cy="539496"/>
          </a:xfrm>
          <a:prstGeom prst="roundRect">
            <a:avLst>
              <a:gd name="adj" fmla="val 9000"/>
            </a:avLst>
          </a:prstGeom>
          <a:solidFill>
            <a:srgbClr val="22232B"/>
          </a:solidFill>
          <a:ln w="12700">
            <a:solidFill>
              <a:srgbClr val="F2A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p_jing.png"/>
          <p:cNvPicPr>
            <a:picLocks noChangeAspect="1"/>
          </p:cNvPicPr>
          <p:nvPr/>
        </p:nvPicPr>
        <p:blipFill>
          <a:blip r:embed="rId5"/>
          <a:srcRect l="40199" t="70954" r="39127" b="9959"/>
          <a:stretch>
            <a:fillRect/>
          </a:stretch>
        </p:blipFill>
        <p:spPr>
          <a:xfrm>
            <a:off x="768096" y="3735324"/>
            <a:ext cx="1143000" cy="5303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84831" y="3822191"/>
            <a:ext cx="3931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A46E"/>
                </a:solidFill>
                <a:latin typeface="Noto Sans CJK SC"/>
              </a:rPr>
              <a:t>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3824" y="3785615"/>
            <a:ext cx="457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4176" y="3785615"/>
            <a:ext cx="317296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0E7"/>
                </a:solidFill>
                <a:latin typeface="Noto Sans CJK SC"/>
              </a:rPr>
              <a:t>裙甲团云 + 焰花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2864" y="3785615"/>
            <a:ext cx="457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→</a:t>
            </a:r>
          </a:p>
        </p:txBody>
      </p:sp>
      <p:pic>
        <p:nvPicPr>
          <p:cNvPr id="37" name="Picture 36" descr="11_floral_costume_motifs.png"/>
          <p:cNvPicPr>
            <a:picLocks noChangeAspect="1"/>
          </p:cNvPicPr>
          <p:nvPr/>
        </p:nvPicPr>
        <p:blipFill>
          <a:blip r:embed="rId3"/>
          <a:srcRect l="40193" r="39917" t="16575" b="21271"/>
          <a:stretch>
            <a:fillRect/>
          </a:stretch>
        </p:blipFill>
        <p:spPr>
          <a:xfrm>
            <a:off x="7594092" y="3685031"/>
            <a:ext cx="630936" cy="6309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50224" y="3803904"/>
            <a:ext cx="254203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A46E"/>
                </a:solidFill>
                <a:latin typeface="Noto Sans CJK SC"/>
              </a:rPr>
              <a:t>赤焰花云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4389120"/>
            <a:ext cx="10972800" cy="667512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8952" y="4453128"/>
            <a:ext cx="1170432" cy="539496"/>
          </a:xfrm>
          <a:prstGeom prst="roundRect">
            <a:avLst>
              <a:gd name="adj" fmla="val 9000"/>
            </a:avLst>
          </a:prstGeom>
          <a:solidFill>
            <a:srgbClr val="22232B"/>
          </a:solidFill>
          <a:ln w="12700">
            <a:solidFill>
              <a:srgbClr val="76B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p_mo.png"/>
          <p:cNvPicPr>
            <a:picLocks noChangeAspect="1"/>
          </p:cNvPicPr>
          <p:nvPr/>
        </p:nvPicPr>
        <p:blipFill>
          <a:blip r:embed="rId6"/>
          <a:srcRect l="23397" t="73368" r="51473" b="13059"/>
          <a:stretch>
            <a:fillRect/>
          </a:stretch>
        </p:blipFill>
        <p:spPr>
          <a:xfrm>
            <a:off x="768096" y="4457700"/>
            <a:ext cx="1143000" cy="53035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084831" y="4544568"/>
            <a:ext cx="3931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6B3EA"/>
                </a:solidFill>
                <a:latin typeface="Noto Sans CJK SC"/>
              </a:rPr>
              <a:t>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63824" y="4507992"/>
            <a:ext cx="457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94176" y="4507992"/>
            <a:ext cx="317296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0E7"/>
                </a:solidFill>
                <a:latin typeface="Noto Sans CJK SC"/>
              </a:rPr>
              <a:t>蓝袍云浪 + 白梅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2864" y="4507992"/>
            <a:ext cx="457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→</a:t>
            </a:r>
          </a:p>
        </p:txBody>
      </p:sp>
      <p:pic>
        <p:nvPicPr>
          <p:cNvPr id="46" name="Picture 45" descr="11_floral_costume_motifs.png"/>
          <p:cNvPicPr>
            <a:picLocks noChangeAspect="1"/>
          </p:cNvPicPr>
          <p:nvPr/>
        </p:nvPicPr>
        <p:blipFill>
          <a:blip r:embed="rId3"/>
          <a:srcRect l="60083" r="19890" t="16575" b="21271"/>
          <a:stretch>
            <a:fillRect/>
          </a:stretch>
        </p:blipFill>
        <p:spPr>
          <a:xfrm>
            <a:off x="7594092" y="4407408"/>
            <a:ext cx="630936" cy="63093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50224" y="4526280"/>
            <a:ext cx="254203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6B3EA"/>
                </a:solidFill>
                <a:latin typeface="Noto Sans CJK SC"/>
              </a:rPr>
              <a:t>海潮白梅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5111496"/>
            <a:ext cx="10972800" cy="667512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8952" y="5175504"/>
            <a:ext cx="1170432" cy="539496"/>
          </a:xfrm>
          <a:prstGeom prst="roundRect">
            <a:avLst>
              <a:gd name="adj" fmla="val 9000"/>
            </a:avLst>
          </a:prstGeom>
          <a:solidFill>
            <a:srgbClr val="22232B"/>
          </a:solidFill>
          <a:ln w="12700">
            <a:solidFill>
              <a:srgbClr val="F2C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p_chou.png"/>
          <p:cNvPicPr>
            <a:picLocks noChangeAspect="1"/>
          </p:cNvPicPr>
          <p:nvPr/>
        </p:nvPicPr>
        <p:blipFill>
          <a:blip r:embed="rId7"/>
          <a:srcRect l="26638" t="47671" r="58515" b="39592"/>
          <a:stretch>
            <a:fillRect/>
          </a:stretch>
        </p:blipFill>
        <p:spPr>
          <a:xfrm>
            <a:off x="768096" y="5180076"/>
            <a:ext cx="1143000" cy="53035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084831" y="5266944"/>
            <a:ext cx="3931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CF76"/>
                </a:solidFill>
                <a:latin typeface="Noto Sans CJK SC"/>
              </a:rPr>
              <a:t>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63824" y="5230368"/>
            <a:ext cx="457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94176" y="5230368"/>
            <a:ext cx="317296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0E7"/>
                </a:solidFill>
                <a:latin typeface="Noto Sans CJK SC"/>
              </a:rPr>
              <a:t>绿衣五瓣花放大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12864" y="5230368"/>
            <a:ext cx="45720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→</a:t>
            </a:r>
          </a:p>
        </p:txBody>
      </p:sp>
      <p:pic>
        <p:nvPicPr>
          <p:cNvPr id="55" name="Picture 54" descr="11_floral_costume_motifs.png"/>
          <p:cNvPicPr>
            <a:picLocks noChangeAspect="1"/>
          </p:cNvPicPr>
          <p:nvPr/>
        </p:nvPicPr>
        <p:blipFill>
          <a:blip r:embed="rId3"/>
          <a:srcRect l="80110" t="16575" b="21271"/>
          <a:stretch>
            <a:fillRect/>
          </a:stretch>
        </p:blipFill>
        <p:spPr>
          <a:xfrm>
            <a:off x="7594092" y="5129783"/>
            <a:ext cx="630936" cy="63093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650224" y="5248656"/>
            <a:ext cx="254203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CF76"/>
                </a:solidFill>
                <a:latin typeface="Noto Sans CJK SC"/>
              </a:rPr>
              <a:t>绿衣团花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" y="6071616"/>
            <a:ext cx="109087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衣服提供结构与主色；花卉提供统一的生长感与礼赠气质。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辅助元素展示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02 / 版式语言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16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" y="1481328"/>
            <a:ext cx="3520440" cy="3630168"/>
          </a:xfrm>
          <a:prstGeom prst="rect">
            <a:avLst/>
          </a:prstGeom>
          <a:solidFill>
            <a:srgbClr val="101117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96512" y="1481328"/>
            <a:ext cx="4800600" cy="3630168"/>
          </a:xfrm>
          <a:prstGeom prst="rect">
            <a:avLst/>
          </a:prstGeom>
          <a:solidFill>
            <a:srgbClr val="101117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06840" y="1481328"/>
            <a:ext cx="2715768" cy="3630168"/>
          </a:xfrm>
          <a:prstGeom prst="rect">
            <a:avLst/>
          </a:prstGeom>
          <a:solidFill>
            <a:srgbClr val="101117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172968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2CF76"/>
                </a:solidFill>
                <a:latin typeface="Noto Sans CJK SC"/>
              </a:rPr>
              <a:t>掌上乾坤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880360"/>
            <a:ext cx="3200400" cy="6492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85B85"/>
                </a:solidFill>
                <a:latin typeface="Noto Sans CJK SC"/>
              </a:rPr>
              <a:t>泉州布袋戏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2144" y="3831336"/>
            <a:ext cx="2176272" cy="6400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_quanzhou_city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528316"/>
            <a:ext cx="4663440" cy="15544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573768" y="2103120"/>
            <a:ext cx="1563624" cy="1563624"/>
          </a:xfrm>
          <a:prstGeom prst="rect">
            <a:avLst/>
          </a:prstGeom>
          <a:solidFill>
            <a:srgbClr val="0D1019"/>
          </a:solidFill>
          <a:ln w="29209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10928" y="2240280"/>
            <a:ext cx="1289304" cy="1289304"/>
          </a:xfrm>
          <a:prstGeom prst="rect">
            <a:avLst/>
          </a:prstGeom>
          <a:solidFill>
            <a:srgbClr val="0D1019"/>
          </a:solidFill>
          <a:ln w="1397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1512" y="2459736"/>
            <a:ext cx="1088136" cy="9052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85B85"/>
                </a:solidFill>
                <a:latin typeface="Noto Sans CJK SC"/>
              </a:rPr>
              <a:t>泉州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85B85"/>
                </a:solidFill>
                <a:latin typeface="Noto Sans CJK SC"/>
              </a:rPr>
              <a:t>布袋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340096"/>
            <a:ext cx="22860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CF76"/>
                </a:solidFill>
                <a:latin typeface="Noto Sans CJK SC"/>
              </a:rPr>
              <a:t>主标题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5340096"/>
            <a:ext cx="22860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2D1C3"/>
                </a:solidFill>
                <a:latin typeface="Noto Sans CJK SC"/>
              </a:rPr>
              <a:t>泉州城市插画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5340096"/>
            <a:ext cx="228600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5B85"/>
                </a:solidFill>
                <a:latin typeface="Noto Sans CJK SC"/>
              </a:rPr>
              <a:t>篆刻印章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6053328"/>
            <a:ext cx="1090879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0E7"/>
                </a:solidFill>
                <a:latin typeface="Noto Sans CJK SC"/>
              </a:rPr>
              <a:t>字体与标识保持可编辑；城市插画融合东西塔、红砖古厝、海丝帆船与戏台。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402336"/>
            <a:ext cx="11137392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612648"/>
            <a:ext cx="52120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8AA68"/>
                </a:solidFill>
                <a:latin typeface="Noto Sans CJK SC"/>
              </a:rPr>
              <a:t>CHAPTER  /  掌上乾坤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210312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0" b="1">
                <a:solidFill>
                  <a:srgbClr val="AC90E9"/>
                </a:solidFill>
                <a:latin typeface="Noto Sans CJK S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89504"/>
            <a:ext cx="6949440" cy="1435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0E7"/>
                </a:solidFill>
                <a:latin typeface="Noto Sans CJK SC"/>
              </a:rPr>
              <a:t>文创衍生品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0E7"/>
                </a:solidFill>
                <a:latin typeface="Noto Sans CJK SC"/>
              </a:rPr>
              <a:t>开发应用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4754880"/>
            <a:ext cx="4023360" cy="50292"/>
          </a:xfrm>
          <a:prstGeom prst="rect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10912"/>
            <a:ext cx="69494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ADAA"/>
                </a:solidFill>
                <a:latin typeface="Noto Sans CJK SC"/>
              </a:rPr>
              <a:t>FROM CHARACTER TO EVERYDAY OBJECT</a:t>
            </a:r>
          </a:p>
        </p:txBody>
      </p:sp>
      <p:pic>
        <p:nvPicPr>
          <p:cNvPr id="8" name="Picture 7" descr="11_floral_costume_motifs.png"/>
          <p:cNvPicPr>
            <a:picLocks noChangeAspect="1"/>
          </p:cNvPicPr>
          <p:nvPr/>
        </p:nvPicPr>
        <p:blipFill>
          <a:blip r:embed="rId2"/>
          <a:srcRect r="80203" t="16575" b="21271"/>
          <a:stretch>
            <a:fillRect/>
          </a:stretch>
        </p:blipFill>
        <p:spPr>
          <a:xfrm>
            <a:off x="8458200" y="896112"/>
            <a:ext cx="2505456" cy="2505456"/>
          </a:xfrm>
          <a:prstGeom prst="rect">
            <a:avLst/>
          </a:prstGeom>
        </p:spPr>
      </p:pic>
      <p:pic>
        <p:nvPicPr>
          <p:cNvPr id="9" name="Picture 8" descr="ip_she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360" y="2770632"/>
            <a:ext cx="4116231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产品延展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03 / 文创矩阵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18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426464"/>
            <a:ext cx="5413248" cy="200253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4800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5B85"/>
                </a:solidFill>
                <a:latin typeface="Noto Sans CJK SC"/>
              </a:rPr>
              <a:t>纸品系列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49424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书签 / 明信片 / 邮票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07208"/>
            <a:ext cx="48646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轻便收藏，传递角色故事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426464"/>
            <a:ext cx="5413248" cy="200253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82496"/>
            <a:ext cx="4800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2D1C3"/>
                </a:solidFill>
                <a:latin typeface="Noto Sans CJK SC"/>
              </a:rPr>
              <a:t>随身系列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9424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钥匙扣 / 香囊 / 帆布袋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07208"/>
            <a:ext cx="48646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让戏偶融入日常出行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657600"/>
            <a:ext cx="5413248" cy="200253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913632"/>
            <a:ext cx="4800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C90E9"/>
                </a:solidFill>
                <a:latin typeface="Noto Sans CJK SC"/>
              </a:rPr>
              <a:t>收藏系列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80560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角色摆件 / 盲盒包装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038344"/>
            <a:ext cx="48646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建立五角成套的收藏体验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657600"/>
            <a:ext cx="5413248" cy="2002536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13632"/>
            <a:ext cx="4800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2CF76"/>
                </a:solidFill>
                <a:latin typeface="Noto Sans CJK SC"/>
              </a:rPr>
              <a:t>展陈系列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角色立牌 / 展板 / 礼盒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38344"/>
            <a:ext cx="48646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适用于文旅空间与研学活动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角色书签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03 / 纸品系列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19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325880"/>
            <a:ext cx="2871216" cy="489204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81912"/>
            <a:ext cx="182880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85B85"/>
                </a:solidFill>
                <a:latin typeface="Noto Sans CJK SC"/>
              </a:rPr>
              <a:t>01</a:t>
            </a:r>
          </a:p>
        </p:txBody>
      </p:sp>
      <p:pic>
        <p:nvPicPr>
          <p:cNvPr id="10" name="Picture 9" descr="11_floral_costume_motifs.png"/>
          <p:cNvPicPr>
            <a:picLocks noChangeAspect="1"/>
          </p:cNvPicPr>
          <p:nvPr/>
        </p:nvPicPr>
        <p:blipFill>
          <a:blip r:embed="rId2"/>
          <a:srcRect r="80203" t="16575" b="21271"/>
          <a:stretch>
            <a:fillRect/>
          </a:stretch>
        </p:blipFill>
        <p:spPr>
          <a:xfrm>
            <a:off x="777240" y="2505456"/>
            <a:ext cx="233172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95528" y="4928616"/>
            <a:ext cx="2276856" cy="42976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148072"/>
            <a:ext cx="22585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完整人物与花云边饰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组合成可收藏纸品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325880"/>
            <a:ext cx="7973568" cy="4892040"/>
          </a:xfrm>
          <a:prstGeom prst="roundRect">
            <a:avLst>
              <a:gd name="adj" fmla="val 9000"/>
            </a:avLst>
          </a:prstGeom>
          <a:solidFill>
            <a:srgbClr val="101218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2_floral_book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462454"/>
            <a:ext cx="7735824" cy="43537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67912" y="5916168"/>
            <a:ext cx="751636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5ADAA"/>
                </a:solidFill>
                <a:latin typeface="Noto Sans CJK SC"/>
              </a:rPr>
              <a:t>设计概念效果图  /  五角成戏系列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衣纹香囊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03 / 随身系列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20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325880"/>
            <a:ext cx="2871216" cy="489204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81912"/>
            <a:ext cx="182880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52D1C3"/>
                </a:solidFill>
                <a:latin typeface="Noto Sans CJK SC"/>
              </a:rPr>
              <a:t>02</a:t>
            </a:r>
          </a:p>
        </p:txBody>
      </p:sp>
      <p:pic>
        <p:nvPicPr>
          <p:cNvPr id="10" name="Picture 9" descr="11_floral_costume_motifs.png"/>
          <p:cNvPicPr>
            <a:picLocks noChangeAspect="1"/>
          </p:cNvPicPr>
          <p:nvPr/>
        </p:nvPicPr>
        <p:blipFill>
          <a:blip r:embed="rId2"/>
          <a:srcRect l="19797" r="59807" t="16575" b="21271"/>
          <a:stretch>
            <a:fillRect/>
          </a:stretch>
        </p:blipFill>
        <p:spPr>
          <a:xfrm>
            <a:off x="777240" y="2505456"/>
            <a:ext cx="233172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95528" y="4928616"/>
            <a:ext cx="2276856" cy="42976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148072"/>
            <a:ext cx="22585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花与衣纹并置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形成五款随身香囊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325880"/>
            <a:ext cx="7973568" cy="4892040"/>
          </a:xfrm>
          <a:prstGeom prst="roundRect">
            <a:avLst>
              <a:gd name="adj" fmla="val 9000"/>
            </a:avLst>
          </a:prstGeom>
          <a:solidFill>
            <a:srgbClr val="101218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3_floral_sach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462454"/>
            <a:ext cx="7735824" cy="43537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67912" y="5916168"/>
            <a:ext cx="751636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5ADAA"/>
                </a:solidFill>
                <a:latin typeface="Noto Sans CJK SC"/>
              </a:rPr>
              <a:t>设计概念效果图  /  五角成戏系列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五角纪念邮票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03 / 纸品系列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21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325880"/>
            <a:ext cx="2871216" cy="489204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81912"/>
            <a:ext cx="182880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2A46E"/>
                </a:solidFill>
                <a:latin typeface="Noto Sans CJK SC"/>
              </a:rPr>
              <a:t>03</a:t>
            </a:r>
          </a:p>
        </p:txBody>
      </p:sp>
      <p:pic>
        <p:nvPicPr>
          <p:cNvPr id="10" name="Picture 9" descr="11_floral_costume_motifs.png"/>
          <p:cNvPicPr>
            <a:picLocks noChangeAspect="1"/>
          </p:cNvPicPr>
          <p:nvPr/>
        </p:nvPicPr>
        <p:blipFill>
          <a:blip r:embed="rId2"/>
          <a:srcRect l="40193" r="39917" t="16575" b="21271"/>
          <a:stretch>
            <a:fillRect/>
          </a:stretch>
        </p:blipFill>
        <p:spPr>
          <a:xfrm>
            <a:off x="777240" y="2505456"/>
            <a:ext cx="233172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95528" y="4928616"/>
            <a:ext cx="2276856" cy="42976"/>
          </a:xfrm>
          <a:prstGeom prst="rect">
            <a:avLst/>
          </a:prstGeom>
          <a:solidFill>
            <a:srgbClr val="F2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148072"/>
            <a:ext cx="22585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五角成组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延展成轻量纪念品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325880"/>
            <a:ext cx="7973568" cy="4892040"/>
          </a:xfrm>
          <a:prstGeom prst="roundRect">
            <a:avLst>
              <a:gd name="adj" fmla="val 9000"/>
            </a:avLst>
          </a:prstGeom>
          <a:solidFill>
            <a:srgbClr val="101218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4_floral_stam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462454"/>
            <a:ext cx="7735824" cy="43537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67912" y="5916168"/>
            <a:ext cx="751636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5ADAA"/>
                </a:solidFill>
                <a:latin typeface="Noto Sans CJK SC"/>
              </a:rPr>
              <a:t>设计概念效果图  /  五角成戏系列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桌面角色摆件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03 / 收藏系列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22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325880"/>
            <a:ext cx="2871216" cy="489204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81912"/>
            <a:ext cx="182880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76B3EA"/>
                </a:solidFill>
                <a:latin typeface="Noto Sans CJK SC"/>
              </a:rPr>
              <a:t>04</a:t>
            </a:r>
          </a:p>
        </p:txBody>
      </p:sp>
      <p:pic>
        <p:nvPicPr>
          <p:cNvPr id="10" name="Picture 9" descr="11_floral_costume_motifs.png"/>
          <p:cNvPicPr>
            <a:picLocks noChangeAspect="1"/>
          </p:cNvPicPr>
          <p:nvPr/>
        </p:nvPicPr>
        <p:blipFill>
          <a:blip r:embed="rId2"/>
          <a:srcRect l="60083" r="19890" t="16575" b="21271"/>
          <a:stretch>
            <a:fillRect/>
          </a:stretch>
        </p:blipFill>
        <p:spPr>
          <a:xfrm>
            <a:off x="777240" y="2505456"/>
            <a:ext cx="233172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95528" y="4928616"/>
            <a:ext cx="2276856" cy="42976"/>
          </a:xfrm>
          <a:prstGeom prst="rect">
            <a:avLst/>
          </a:prstGeom>
          <a:solidFill>
            <a:srgbClr val="76B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148072"/>
            <a:ext cx="22585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完整人物成套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建立桌面收藏场景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325880"/>
            <a:ext cx="7973568" cy="4892040"/>
          </a:xfrm>
          <a:prstGeom prst="roundRect">
            <a:avLst>
              <a:gd name="adj" fmla="val 9000"/>
            </a:avLst>
          </a:prstGeom>
          <a:solidFill>
            <a:srgbClr val="101218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5_floral_figur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462454"/>
            <a:ext cx="7735824" cy="43537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67912" y="5916168"/>
            <a:ext cx="751636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5ADAA"/>
                </a:solidFill>
                <a:latin typeface="Noto Sans CJK SC"/>
              </a:rPr>
              <a:t>设计概念效果图  /  五角成戏系列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角色钥匙扣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03 / 随身系列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23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325880"/>
            <a:ext cx="2871216" cy="489204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81912"/>
            <a:ext cx="182880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2CF76"/>
                </a:solidFill>
                <a:latin typeface="Noto Sans CJK SC"/>
              </a:rPr>
              <a:t>05</a:t>
            </a:r>
          </a:p>
        </p:txBody>
      </p:sp>
      <p:pic>
        <p:nvPicPr>
          <p:cNvPr id="10" name="Picture 9" descr="11_floral_costume_motifs.png"/>
          <p:cNvPicPr>
            <a:picLocks noChangeAspect="1"/>
          </p:cNvPicPr>
          <p:nvPr/>
        </p:nvPicPr>
        <p:blipFill>
          <a:blip r:embed="rId2"/>
          <a:srcRect l="80110" t="16575" b="21271"/>
          <a:stretch>
            <a:fillRect/>
          </a:stretch>
        </p:blipFill>
        <p:spPr>
          <a:xfrm>
            <a:off x="777240" y="2505456"/>
            <a:ext cx="233172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95528" y="4928616"/>
            <a:ext cx="2276856" cy="42976"/>
          </a:xfrm>
          <a:prstGeom prst="rect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148072"/>
            <a:ext cx="22585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完整人物挂件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配同色花云徽章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325880"/>
            <a:ext cx="7973568" cy="4892040"/>
          </a:xfrm>
          <a:prstGeom prst="roundRect">
            <a:avLst>
              <a:gd name="adj" fmla="val 9000"/>
            </a:avLst>
          </a:prstGeom>
          <a:solidFill>
            <a:srgbClr val="101218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6_floral_keycha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462454"/>
            <a:ext cx="7735824" cy="43537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67912" y="5916168"/>
            <a:ext cx="751636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5ADAA"/>
                </a:solidFill>
                <a:latin typeface="Noto Sans CJK SC"/>
              </a:rPr>
              <a:t>设计概念效果图  /  五角成戏系列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五角帆布袋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03 / 随身系列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24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325880"/>
            <a:ext cx="2871216" cy="489204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81912"/>
            <a:ext cx="182880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52D1C3"/>
                </a:solidFill>
                <a:latin typeface="Noto Sans CJK SC"/>
              </a:rPr>
              <a:t>06</a:t>
            </a:r>
          </a:p>
        </p:txBody>
      </p:sp>
      <p:pic>
        <p:nvPicPr>
          <p:cNvPr id="10" name="Picture 9" descr="11_floral_costume_motifs.png"/>
          <p:cNvPicPr>
            <a:picLocks noChangeAspect="1"/>
          </p:cNvPicPr>
          <p:nvPr/>
        </p:nvPicPr>
        <p:blipFill>
          <a:blip r:embed="rId2"/>
          <a:srcRect r="80203" t="16575" b="21271"/>
          <a:stretch>
            <a:fillRect/>
          </a:stretch>
        </p:blipFill>
        <p:spPr>
          <a:xfrm>
            <a:off x="777240" y="2505456"/>
            <a:ext cx="233172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95528" y="4928616"/>
            <a:ext cx="2276856" cy="42976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148072"/>
            <a:ext cx="22585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全身角色置于中央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花云图形构成边框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325880"/>
            <a:ext cx="7973568" cy="4892040"/>
          </a:xfrm>
          <a:prstGeom prst="roundRect">
            <a:avLst>
              <a:gd name="adj" fmla="val 9000"/>
            </a:avLst>
          </a:prstGeom>
          <a:solidFill>
            <a:srgbClr val="101218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7_floral_to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462454"/>
            <a:ext cx="7735824" cy="43537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67912" y="5916168"/>
            <a:ext cx="751636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5ADAA"/>
                </a:solidFill>
                <a:latin typeface="Noto Sans CJK SC"/>
              </a:rPr>
              <a:t>设计概念效果图  /  五角成戏系列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衣纹随身镜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03 / 礼赠系列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25 /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325880"/>
            <a:ext cx="2871216" cy="489204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81912"/>
            <a:ext cx="182880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85B85"/>
                </a:solidFill>
                <a:latin typeface="Noto Sans CJK SC"/>
              </a:rPr>
              <a:t>07</a:t>
            </a:r>
          </a:p>
        </p:txBody>
      </p:sp>
      <p:pic>
        <p:nvPicPr>
          <p:cNvPr id="10" name="Picture 9" descr="11_floral_costume_motifs.png"/>
          <p:cNvPicPr>
            <a:picLocks noChangeAspect="1"/>
          </p:cNvPicPr>
          <p:nvPr/>
        </p:nvPicPr>
        <p:blipFill>
          <a:blip r:embed="rId2"/>
          <a:srcRect l="19797" r="59807" t="16575" b="21271"/>
          <a:stretch>
            <a:fillRect/>
          </a:stretch>
        </p:blipFill>
        <p:spPr>
          <a:xfrm>
            <a:off x="777240" y="2505456"/>
            <a:ext cx="2331720" cy="2331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95528" y="4928616"/>
            <a:ext cx="2276856" cy="42976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148072"/>
            <a:ext cx="2258568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独立纹样做镜面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0E7"/>
                </a:solidFill>
                <a:latin typeface="Noto Sans CJK SC"/>
              </a:rPr>
              <a:t>与纸品组合成礼盒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325880"/>
            <a:ext cx="7973568" cy="4892040"/>
          </a:xfrm>
          <a:prstGeom prst="roundRect">
            <a:avLst>
              <a:gd name="adj" fmla="val 9000"/>
            </a:avLst>
          </a:prstGeom>
          <a:solidFill>
            <a:srgbClr val="101218"/>
          </a:solidFill>
          <a:ln w="12700">
            <a:solidFill>
              <a:srgbClr val="49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8_floral_mi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462454"/>
            <a:ext cx="7735824" cy="43537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67912" y="5916168"/>
            <a:ext cx="751636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5ADAA"/>
                </a:solidFill>
                <a:latin typeface="Noto Sans CJK SC"/>
              </a:rPr>
              <a:t>设计概念效果图  /  五角成戏系列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重点文创打样规范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03 / 工艺方案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26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225296"/>
            <a:ext cx="10808208" cy="4663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85B85"/>
                </a:solidFill>
                <a:latin typeface="Noto Sans CJK SC"/>
              </a:rPr>
              <a:t>从效果图进入打样：先确认尺寸、材质与图案边界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5376672" cy="422452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778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148840"/>
            <a:ext cx="4855464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2D1C3"/>
                </a:solidFill>
                <a:latin typeface="Noto Sans CJK SC"/>
              </a:rPr>
              <a:t>角色书签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34640"/>
            <a:ext cx="1188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5ADAA"/>
                </a:solidFill>
                <a:latin typeface="Noto Sans CJK SC"/>
              </a:rPr>
              <a:t>建议尺寸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807208"/>
            <a:ext cx="3648456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Noto Sans CJK SC"/>
              </a:rPr>
              <a:t>55 × 160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547872"/>
            <a:ext cx="1188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5ADAA"/>
                </a:solidFill>
                <a:latin typeface="Noto Sans CJK SC"/>
              </a:rPr>
              <a:t>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3520440"/>
            <a:ext cx="3648456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Noto Sans CJK SC"/>
              </a:rPr>
              <a:t>350 g 铜版卡 / 哑膜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261104"/>
            <a:ext cx="1188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5ADAA"/>
                </a:solidFill>
                <a:latin typeface="Noto Sans CJK SC"/>
              </a:rPr>
              <a:t>制作工艺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4" y="4233672"/>
            <a:ext cx="3648456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Noto Sans CJK SC"/>
              </a:rPr>
              <a:t>四色印刷、圆角、4 mm 穿孔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974336"/>
            <a:ext cx="1188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5ADAA"/>
                </a:solidFill>
                <a:latin typeface="Noto Sans CJK SC"/>
              </a:rPr>
              <a:t>打样检查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946903"/>
            <a:ext cx="3648456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Noto Sans CJK SC"/>
              </a:rPr>
              <a:t>人物完整留边 ≥ 5 mm；检查挂绳与孔位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901952"/>
            <a:ext cx="5376672" cy="422452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778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148840"/>
            <a:ext cx="4855464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85B85"/>
                </a:solidFill>
                <a:latin typeface="Noto Sans CJK SC"/>
              </a:rPr>
              <a:t>衣纹香囊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34640"/>
            <a:ext cx="1188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5ADAA"/>
                </a:solidFill>
                <a:latin typeface="Noto Sans CJK SC"/>
              </a:rPr>
              <a:t>建议尺寸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807208"/>
            <a:ext cx="3648456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Noto Sans CJK SC"/>
              </a:rPr>
              <a:t>85 × 110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47872"/>
            <a:ext cx="1188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5ADAA"/>
                </a:solidFill>
                <a:latin typeface="Noto Sans CJK SC"/>
              </a:rPr>
              <a:t>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3520440"/>
            <a:ext cx="3648456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Noto Sans CJK SC"/>
              </a:rPr>
              <a:t>棉布外袋 / 独立内袋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61104"/>
            <a:ext cx="1188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5ADAA"/>
                </a:solidFill>
                <a:latin typeface="Noto Sans CJK SC"/>
              </a:rPr>
              <a:t>制作工艺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233672"/>
            <a:ext cx="3648456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Noto Sans CJK SC"/>
              </a:rPr>
              <a:t>数码印花、车缝、抽绳封口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74336"/>
            <a:ext cx="1188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5ADAA"/>
                </a:solidFill>
                <a:latin typeface="Noto Sans CJK SC"/>
              </a:rPr>
              <a:t>打样检查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4946903"/>
            <a:ext cx="3648456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0E7"/>
                </a:solidFill>
                <a:latin typeface="Noto Sans CJK SC"/>
              </a:rPr>
              <a:t>衣纹居中；先做洗涤与色牢度样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6291072"/>
            <a:ext cx="106527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ADAA"/>
                </a:solidFill>
                <a:latin typeface="Noto Sans CJK SC"/>
              </a:rPr>
              <a:t>以上为设计规格建议，尚未取得供应商报价或实物打样；产品页为效果图。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展板设计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03 / 空间展示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27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444752"/>
            <a:ext cx="3493008" cy="4709160"/>
          </a:xfrm>
          <a:prstGeom prst="rect">
            <a:avLst/>
          </a:prstGeom>
          <a:solidFill>
            <a:srgbClr val="0D1019"/>
          </a:solidFill>
          <a:ln w="1651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709928"/>
            <a:ext cx="3108960" cy="54864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901952"/>
            <a:ext cx="30449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85B85"/>
                </a:solidFill>
                <a:latin typeface="Noto Sans CJK SC"/>
              </a:rPr>
              <a:t>文化溯源</a:t>
            </a:r>
          </a:p>
        </p:txBody>
      </p:sp>
      <p:pic>
        <p:nvPicPr>
          <p:cNvPr id="11" name="Picture 10" descr="02_quanzhou_city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731008"/>
            <a:ext cx="3200400" cy="1066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4133087"/>
            <a:ext cx="294436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0E7"/>
                </a:solidFill>
                <a:latin typeface="Noto Sans CJK SC"/>
              </a:rPr>
              <a:t>指尖之间，山海入戏</a:t>
            </a:r>
          </a:p>
        </p:txBody>
      </p:sp>
      <p:pic>
        <p:nvPicPr>
          <p:cNvPr id="13" name="Picture 12" descr="ip_she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611" y="4608576"/>
            <a:ext cx="1375328" cy="128930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52544" y="1444752"/>
            <a:ext cx="3493008" cy="4709160"/>
          </a:xfrm>
          <a:prstGeom prst="rect">
            <a:avLst/>
          </a:prstGeom>
          <a:solidFill>
            <a:srgbClr val="0D1019"/>
          </a:solidFill>
          <a:ln w="1651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4568" y="1709928"/>
            <a:ext cx="3108960" cy="54864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901952"/>
            <a:ext cx="30449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52D1C3"/>
                </a:solidFill>
                <a:latin typeface="Noto Sans CJK SC"/>
              </a:rPr>
              <a:t>五角成戏</a:t>
            </a:r>
          </a:p>
        </p:txBody>
      </p:sp>
      <p:pic>
        <p:nvPicPr>
          <p:cNvPr id="17" name="Picture 16" descr="ip_she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3366721"/>
            <a:ext cx="640080" cy="600044"/>
          </a:xfrm>
          <a:prstGeom prst="rect">
            <a:avLst/>
          </a:prstGeom>
        </p:spPr>
      </p:pic>
      <p:pic>
        <p:nvPicPr>
          <p:cNvPr id="18" name="Picture 17" descr="ip_d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3316541"/>
            <a:ext cx="640080" cy="700404"/>
          </a:xfrm>
          <a:prstGeom prst="rect">
            <a:avLst/>
          </a:prstGeom>
        </p:spPr>
      </p:pic>
      <p:pic>
        <p:nvPicPr>
          <p:cNvPr id="19" name="Picture 18" descr="ip_j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371454"/>
            <a:ext cx="640080" cy="590579"/>
          </a:xfrm>
          <a:prstGeom prst="rect">
            <a:avLst/>
          </a:prstGeom>
        </p:spPr>
      </p:pic>
      <p:pic>
        <p:nvPicPr>
          <p:cNvPr id="20" name="Picture 19" descr="ip_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288741"/>
            <a:ext cx="640080" cy="756004"/>
          </a:xfrm>
          <a:prstGeom prst="rect">
            <a:avLst/>
          </a:prstGeom>
        </p:spPr>
      </p:pic>
      <p:pic>
        <p:nvPicPr>
          <p:cNvPr id="21" name="Picture 20" descr="ip_cho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168" y="3282696"/>
            <a:ext cx="640080" cy="768095"/>
          </a:xfrm>
          <a:prstGeom prst="rect">
            <a:avLst/>
          </a:prstGeom>
        </p:spPr>
      </p:pic>
      <p:pic>
        <p:nvPicPr>
          <p:cNvPr id="22" name="Picture 21" descr="11_floral_costume_motifs.png"/>
          <p:cNvPicPr>
            <a:picLocks noChangeAspect="1"/>
          </p:cNvPicPr>
          <p:nvPr/>
        </p:nvPicPr>
        <p:blipFill>
          <a:blip r:embed="rId8"/>
          <a:srcRect r="80203" t="16575" b="21271"/>
          <a:stretch>
            <a:fillRect/>
          </a:stretch>
        </p:blipFill>
        <p:spPr>
          <a:xfrm>
            <a:off x="4517136" y="4791456"/>
            <a:ext cx="621792" cy="621792"/>
          </a:xfrm>
          <a:prstGeom prst="rect">
            <a:avLst/>
          </a:prstGeom>
        </p:spPr>
      </p:pic>
      <p:pic>
        <p:nvPicPr>
          <p:cNvPr id="23" name="Picture 22" descr="11_floral_costume_motifs.png"/>
          <p:cNvPicPr>
            <a:picLocks noChangeAspect="1"/>
          </p:cNvPicPr>
          <p:nvPr/>
        </p:nvPicPr>
        <p:blipFill>
          <a:blip r:embed="rId8"/>
          <a:srcRect l="19797" r="59807" t="16575" b="21271"/>
          <a:stretch>
            <a:fillRect/>
          </a:stretch>
        </p:blipFill>
        <p:spPr>
          <a:xfrm>
            <a:off x="5148071" y="4791456"/>
            <a:ext cx="621792" cy="621792"/>
          </a:xfrm>
          <a:prstGeom prst="rect">
            <a:avLst/>
          </a:prstGeom>
        </p:spPr>
      </p:pic>
      <p:pic>
        <p:nvPicPr>
          <p:cNvPr id="24" name="Picture 23" descr="11_floral_costume_motifs.png"/>
          <p:cNvPicPr>
            <a:picLocks noChangeAspect="1"/>
          </p:cNvPicPr>
          <p:nvPr/>
        </p:nvPicPr>
        <p:blipFill>
          <a:blip r:embed="rId8"/>
          <a:srcRect l="40193" r="39917" t="16575" b="21271"/>
          <a:stretch>
            <a:fillRect/>
          </a:stretch>
        </p:blipFill>
        <p:spPr>
          <a:xfrm>
            <a:off x="5779007" y="4791456"/>
            <a:ext cx="621792" cy="621792"/>
          </a:xfrm>
          <a:prstGeom prst="rect">
            <a:avLst/>
          </a:prstGeom>
        </p:spPr>
      </p:pic>
      <p:pic>
        <p:nvPicPr>
          <p:cNvPr id="25" name="Picture 24" descr="11_floral_costume_motifs.png"/>
          <p:cNvPicPr>
            <a:picLocks noChangeAspect="1"/>
          </p:cNvPicPr>
          <p:nvPr/>
        </p:nvPicPr>
        <p:blipFill>
          <a:blip r:embed="rId8"/>
          <a:srcRect l="60083" r="19890" t="16575" b="21271"/>
          <a:stretch>
            <a:fillRect/>
          </a:stretch>
        </p:blipFill>
        <p:spPr>
          <a:xfrm>
            <a:off x="6409944" y="4791456"/>
            <a:ext cx="621792" cy="621792"/>
          </a:xfrm>
          <a:prstGeom prst="rect">
            <a:avLst/>
          </a:prstGeom>
        </p:spPr>
      </p:pic>
      <p:pic>
        <p:nvPicPr>
          <p:cNvPr id="26" name="Picture 25" descr="11_floral_costume_motifs.png"/>
          <p:cNvPicPr>
            <a:picLocks noChangeAspect="1"/>
          </p:cNvPicPr>
          <p:nvPr/>
        </p:nvPicPr>
        <p:blipFill>
          <a:blip r:embed="rId8"/>
          <a:srcRect l="80110" t="16575" b="21271"/>
          <a:stretch>
            <a:fillRect/>
          </a:stretch>
        </p:blipFill>
        <p:spPr>
          <a:xfrm>
            <a:off x="7040879" y="4791456"/>
            <a:ext cx="621792" cy="6217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08576" y="56692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人物 × 衣饰纹样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444752"/>
            <a:ext cx="3493008" cy="4709160"/>
          </a:xfrm>
          <a:prstGeom prst="rect">
            <a:avLst/>
          </a:prstGeom>
          <a:solidFill>
            <a:srgbClr val="0D1019"/>
          </a:solidFill>
          <a:ln w="16510">
            <a:solidFill>
              <a:srgbClr val="AC9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21624" y="1709928"/>
            <a:ext cx="3108960" cy="54864"/>
          </a:xfrm>
          <a:prstGeom prst="rect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1901952"/>
            <a:ext cx="30449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AC90E9"/>
                </a:solidFill>
                <a:latin typeface="Noto Sans CJK SC"/>
              </a:rPr>
              <a:t>文创应用</a:t>
            </a:r>
          </a:p>
        </p:txBody>
      </p:sp>
      <p:pic>
        <p:nvPicPr>
          <p:cNvPr id="31" name="Picture 30" descr="12_floral_bookmark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0908" y="2514600"/>
            <a:ext cx="2859535" cy="1609344"/>
          </a:xfrm>
          <a:prstGeom prst="rect">
            <a:avLst/>
          </a:prstGeom>
        </p:spPr>
      </p:pic>
      <p:pic>
        <p:nvPicPr>
          <p:cNvPr id="32" name="Picture 31" descr="13_floral_sache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9031" y="4123944"/>
            <a:ext cx="2843288" cy="1600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21624" y="5705856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0E7"/>
                </a:solidFill>
                <a:latin typeface="Noto Sans CJK SC"/>
              </a:rPr>
              <a:t>从戏台走入生活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402336"/>
            <a:ext cx="11137392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612648"/>
            <a:ext cx="52120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8AA68"/>
                </a:solidFill>
                <a:latin typeface="Noto Sans CJK SC"/>
              </a:rPr>
              <a:t>CHAPTER  /  掌上乾坤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210312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0" b="1">
                <a:solidFill>
                  <a:srgbClr val="F2CF76"/>
                </a:solidFill>
                <a:latin typeface="Noto Sans CJK S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89504"/>
            <a:ext cx="6949440" cy="1435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0E7"/>
                </a:solidFill>
                <a:latin typeface="Noto Sans CJK SC"/>
              </a:rPr>
              <a:t>展板设计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0E7"/>
                </a:solidFill>
                <a:latin typeface="Noto Sans CJK SC"/>
              </a:rPr>
              <a:t>与成果展示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4754880"/>
            <a:ext cx="4023360" cy="50292"/>
          </a:xfrm>
          <a:prstGeom prst="rect">
            <a:avLst/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10912"/>
            <a:ext cx="694944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ADAA"/>
                </a:solidFill>
                <a:latin typeface="Noto Sans CJK SC"/>
              </a:rPr>
              <a:t>EXHIBITION · PRESENTATION · APPLICATION</a:t>
            </a:r>
          </a:p>
        </p:txBody>
      </p:sp>
      <p:pic>
        <p:nvPicPr>
          <p:cNvPr id="8" name="Picture 7" descr="11_floral_costume_motifs.png"/>
          <p:cNvPicPr>
            <a:picLocks noChangeAspect="1"/>
          </p:cNvPicPr>
          <p:nvPr/>
        </p:nvPicPr>
        <p:blipFill>
          <a:blip r:embed="rId2"/>
          <a:srcRect l="80110" t="16575" b="21271"/>
          <a:stretch>
            <a:fillRect/>
          </a:stretch>
        </p:blipFill>
        <p:spPr>
          <a:xfrm>
            <a:off x="8458200" y="896112"/>
            <a:ext cx="2505456" cy="2505456"/>
          </a:xfrm>
          <a:prstGeom prst="rect">
            <a:avLst/>
          </a:prstGeom>
        </p:spPr>
      </p:pic>
      <p:pic>
        <p:nvPicPr>
          <p:cNvPr id="9" name="Picture 8" descr="ip_ch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656" y="2770632"/>
            <a:ext cx="3215640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192256" cy="411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713232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5B85"/>
                </a:solidFill>
                <a:latin typeface="Noto Sans CJK SC"/>
              </a:rPr>
              <a:t>掌上乾坤  /  泉州布袋戏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97864"/>
            <a:ext cx="6665976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5F0E7"/>
                </a:solidFill>
                <a:latin typeface="Noto Sans CJK SC"/>
              </a:rPr>
              <a:t>掌中有戏，指尖传情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39696"/>
            <a:ext cx="4736592" cy="11795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5F0E7"/>
                </a:solidFill>
                <a:latin typeface="Noto Sans CJK SC"/>
              </a:rPr>
              <a:t>布袋木偶由偶头、织物衣身与双臂组成；艺人以手指驱动转头、挥袖和举手，让小戏台容纳鲜活的故事。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3758184"/>
            <a:ext cx="4443984" cy="411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3977639"/>
            <a:ext cx="1545336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一只手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389120"/>
            <a:ext cx="154533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操演动作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2576" y="3977639"/>
            <a:ext cx="1545336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一方台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4389120"/>
            <a:ext cx="154533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凝聚故事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3977639"/>
            <a:ext cx="1545336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一座城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4389120"/>
            <a:ext cx="154533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展开想象</a:t>
            </a:r>
          </a:p>
        </p:txBody>
      </p:sp>
      <p:pic>
        <p:nvPicPr>
          <p:cNvPr id="13" name="Picture 12" descr="02_quanzhou_city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127504"/>
            <a:ext cx="6519672" cy="2173224"/>
          </a:xfrm>
          <a:prstGeom prst="rect">
            <a:avLst/>
          </a:prstGeom>
        </p:spPr>
      </p:pic>
      <p:pic>
        <p:nvPicPr>
          <p:cNvPr id="14" name="Picture 13" descr="ip_she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704" y="3767328"/>
            <a:ext cx="2701886" cy="25328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" y="5897880"/>
            <a:ext cx="7744968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CF76"/>
                </a:solidFill>
                <a:latin typeface="Noto Sans CJK SC"/>
              </a:rPr>
              <a:t>泉州城市意象：东西塔 · 红砖古厝 · 海丝帆船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55080"/>
            <a:ext cx="7763256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ADAA"/>
                </a:solidFill>
                <a:latin typeface="Noto Sans CJK SC"/>
              </a:rPr>
              <a:t>城市文创概念设计 · 非传统戏偶实物复原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192256" cy="411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713232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2D1C3"/>
                </a:solidFill>
                <a:latin typeface="Noto Sans CJK SC"/>
              </a:rPr>
              <a:t>掌上乾坤  /  五角成戏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52144"/>
            <a:ext cx="4443984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5F0E7"/>
                </a:solidFill>
                <a:latin typeface="Noto Sans CJK SC"/>
              </a:rPr>
              <a:t>一眼识五角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7224" y="1353312"/>
            <a:ext cx="4050791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CF76"/>
                </a:solidFill>
                <a:latin typeface="Noto Sans CJK SC"/>
              </a:rPr>
              <a:t>生 · 旦 · 净 · 末 · 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" y="1965960"/>
            <a:ext cx="2221992" cy="411480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143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p_sh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353203"/>
            <a:ext cx="2148840" cy="2014433"/>
          </a:xfrm>
          <a:prstGeom prst="rect">
            <a:avLst/>
          </a:prstGeom>
        </p:spPr>
      </p:pic>
      <p:pic>
        <p:nvPicPr>
          <p:cNvPr id="8" name="Picture 7" descr="11_floral_costume_motifs.png"/>
          <p:cNvPicPr>
            <a:picLocks noChangeAspect="1"/>
          </p:cNvPicPr>
          <p:nvPr/>
        </p:nvPicPr>
        <p:blipFill>
          <a:blip r:embed="rId3"/>
          <a:srcRect r="80203" t="16575" b="21271"/>
          <a:stretch>
            <a:fillRect/>
          </a:stretch>
        </p:blipFill>
        <p:spPr>
          <a:xfrm>
            <a:off x="941831" y="4572000"/>
            <a:ext cx="1014984" cy="10149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" y="5669280"/>
            <a:ext cx="12527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2D1C3"/>
                </a:solidFill>
                <a:latin typeface="Noto Sans CJK SC"/>
              </a:rPr>
              <a:t>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6624" y="1965960"/>
            <a:ext cx="2221992" cy="411480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143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p_d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184741"/>
            <a:ext cx="2148840" cy="2351357"/>
          </a:xfrm>
          <a:prstGeom prst="rect">
            <a:avLst/>
          </a:prstGeom>
        </p:spPr>
      </p:pic>
      <p:pic>
        <p:nvPicPr>
          <p:cNvPr id="12" name="Picture 11" descr="11_floral_costume_motifs.png"/>
          <p:cNvPicPr>
            <a:picLocks noChangeAspect="1"/>
          </p:cNvPicPr>
          <p:nvPr/>
        </p:nvPicPr>
        <p:blipFill>
          <a:blip r:embed="rId3"/>
          <a:srcRect l="19797" r="59807" t="16575" b="21271"/>
          <a:stretch>
            <a:fillRect/>
          </a:stretch>
        </p:blipFill>
        <p:spPr>
          <a:xfrm>
            <a:off x="3310127" y="4572000"/>
            <a:ext cx="1014984" cy="1014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0400" y="5669280"/>
            <a:ext cx="12527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5B85"/>
                </a:solidFill>
                <a:latin typeface="Noto Sans CJK SC"/>
              </a:rPr>
              <a:t>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965960"/>
            <a:ext cx="2221992" cy="411480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1430">
            <a:solidFill>
              <a:srgbClr val="F2A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p_j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2369090"/>
            <a:ext cx="2148840" cy="1982658"/>
          </a:xfrm>
          <a:prstGeom prst="rect">
            <a:avLst/>
          </a:prstGeom>
        </p:spPr>
      </p:pic>
      <p:pic>
        <p:nvPicPr>
          <p:cNvPr id="16" name="Picture 15" descr="11_floral_costume_motifs.png"/>
          <p:cNvPicPr>
            <a:picLocks noChangeAspect="1"/>
          </p:cNvPicPr>
          <p:nvPr/>
        </p:nvPicPr>
        <p:blipFill>
          <a:blip r:embed="rId3"/>
          <a:srcRect l="40193" r="39917" t="16575" b="21271"/>
          <a:stretch>
            <a:fillRect/>
          </a:stretch>
        </p:blipFill>
        <p:spPr>
          <a:xfrm>
            <a:off x="5678424" y="4572000"/>
            <a:ext cx="1014984" cy="10149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68696" y="5669280"/>
            <a:ext cx="12527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A46E"/>
                </a:solidFill>
                <a:latin typeface="Noto Sans CJK SC"/>
              </a:rPr>
              <a:t>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5" y="1965960"/>
            <a:ext cx="2221992" cy="411480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1430">
            <a:solidFill>
              <a:srgbClr val="76B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p_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962" y="2093976"/>
            <a:ext cx="2144499" cy="2532888"/>
          </a:xfrm>
          <a:prstGeom prst="rect">
            <a:avLst/>
          </a:prstGeom>
        </p:spPr>
      </p:pic>
      <p:pic>
        <p:nvPicPr>
          <p:cNvPr id="20" name="Picture 19" descr="11_floral_costume_motifs.png"/>
          <p:cNvPicPr>
            <a:picLocks noChangeAspect="1"/>
          </p:cNvPicPr>
          <p:nvPr/>
        </p:nvPicPr>
        <p:blipFill>
          <a:blip r:embed="rId3"/>
          <a:srcRect l="60083" r="19890" t="16575" b="21271"/>
          <a:stretch>
            <a:fillRect/>
          </a:stretch>
        </p:blipFill>
        <p:spPr>
          <a:xfrm>
            <a:off x="8046719" y="4572000"/>
            <a:ext cx="1014984" cy="10149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36992" y="5669280"/>
            <a:ext cx="12527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6B3EA"/>
                </a:solidFill>
                <a:latin typeface="Noto Sans CJK SC"/>
              </a:rPr>
              <a:t>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11511" y="1965960"/>
            <a:ext cx="2221992" cy="4114800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1430">
            <a:solidFill>
              <a:srgbClr val="F2C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p_cho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7137" y="2093976"/>
            <a:ext cx="2110740" cy="2532888"/>
          </a:xfrm>
          <a:prstGeom prst="rect">
            <a:avLst/>
          </a:prstGeom>
        </p:spPr>
      </p:pic>
      <p:pic>
        <p:nvPicPr>
          <p:cNvPr id="24" name="Picture 23" descr="11_floral_costume_motifs.png"/>
          <p:cNvPicPr>
            <a:picLocks noChangeAspect="1"/>
          </p:cNvPicPr>
          <p:nvPr/>
        </p:nvPicPr>
        <p:blipFill>
          <a:blip r:embed="rId3"/>
          <a:srcRect l="80110" t="16575" b="21271"/>
          <a:stretch>
            <a:fillRect/>
          </a:stretch>
        </p:blipFill>
        <p:spPr>
          <a:xfrm>
            <a:off x="10415015" y="4572000"/>
            <a:ext cx="1014984" cy="10149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305288" y="5669280"/>
            <a:ext cx="12527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CF76"/>
                </a:solidFill>
                <a:latin typeface="Noto Sans CJK SC"/>
              </a:rPr>
              <a:t>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45936"/>
            <a:ext cx="1102766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ADAA"/>
                </a:solidFill>
                <a:latin typeface="Noto Sans CJK SC"/>
              </a:rPr>
              <a:t>五位人物均以完整形象展示；下方图形由各自衣纹与花卉意象组合。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192256" cy="41148"/>
          </a:xfrm>
          <a:prstGeom prst="rect">
            <a:avLst/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713232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C90E9"/>
                </a:solidFill>
                <a:latin typeface="Noto Sans CJK SC"/>
              </a:rPr>
              <a:t>掌上乾坤  /  文创应用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15568"/>
            <a:ext cx="5760720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5F0E7"/>
                </a:solidFill>
                <a:latin typeface="Noto Sans CJK SC"/>
              </a:rPr>
              <a:t>从舞台到日常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8352" y="1344168"/>
            <a:ext cx="412394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ADAA"/>
                </a:solidFill>
                <a:latin typeface="Noto Sans CJK SC"/>
              </a:rPr>
              <a:t>五角色系列文创 · 产品效果图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02536"/>
            <a:ext cx="5413248" cy="198424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_floral_book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886" y="2093976"/>
            <a:ext cx="2583330" cy="1453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" y="3602736"/>
            <a:ext cx="514807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5B85"/>
                </a:solidFill>
                <a:latin typeface="Noto Sans CJK SC"/>
              </a:rPr>
              <a:t>书签与邮票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2002536"/>
            <a:ext cx="5413248" cy="198424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_floral_sach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022" y="2093976"/>
            <a:ext cx="2583330" cy="1453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3602736"/>
            <a:ext cx="514807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2D1C3"/>
                </a:solidFill>
                <a:latin typeface="Noto Sans CJK SC"/>
              </a:rPr>
              <a:t>衣纹香囊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42231"/>
            <a:ext cx="5413248" cy="198424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AC9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5_floral_figuri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886" y="4233671"/>
            <a:ext cx="2583330" cy="1453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5742431"/>
            <a:ext cx="514807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C90E9"/>
                </a:solidFill>
                <a:latin typeface="Noto Sans CJK SC"/>
              </a:rPr>
              <a:t>桌面摆件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4142231"/>
            <a:ext cx="5413248" cy="1984248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2700">
            <a:solidFill>
              <a:srgbClr val="F2C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8_floral_mirr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022" y="4233671"/>
            <a:ext cx="2583330" cy="1453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5080" y="5742431"/>
            <a:ext cx="514807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CF76"/>
                </a:solidFill>
                <a:latin typeface="Noto Sans CJK SC"/>
              </a:rPr>
              <a:t>衣纹随身镜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28232"/>
            <a:ext cx="1094536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5ADAA"/>
                </a:solidFill>
                <a:latin typeface="Noto Sans CJK SC"/>
              </a:rPr>
              <a:t>人物与图形可分别应用；制作规格以打样页为准。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成果展示 —— 展板空间效果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04 / 场景应用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32 / 35</a:t>
            </a:r>
          </a:p>
        </p:txBody>
      </p:sp>
      <p:pic>
        <p:nvPicPr>
          <p:cNvPr id="8" name="Picture 7" descr="19_floral_exhibition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37" y="1261872"/>
            <a:ext cx="9033533" cy="5084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336792"/>
            <a:ext cx="99669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5ADAA"/>
                </a:solidFill>
                <a:latin typeface="Noto Sans CJK SC"/>
              </a:rPr>
              <a:t>空间效果为氛围示意；正式展示内容以三张展板设计稿为准。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三联展板输出规范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04 / 落地说明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33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97864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2CF76"/>
                </a:solidFill>
                <a:latin typeface="Noto Sans CJK SC"/>
              </a:rPr>
              <a:t>三张横向展板 · 统一尺寸与阅读层级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984248"/>
            <a:ext cx="11018520" cy="941832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524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39696"/>
            <a:ext cx="213055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5B85"/>
                </a:solidFill>
                <a:latin typeface="Noto Sans CJK SC"/>
              </a:rPr>
              <a:t>01 版面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6" y="2148840"/>
            <a:ext cx="837590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0E7"/>
                </a:solidFill>
                <a:latin typeface="Noto Sans CJK SC"/>
              </a:rPr>
              <a:t>单板成品 900 × 506 mm；四周各留 3 mm 出血。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172968"/>
            <a:ext cx="11018520" cy="941832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524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8415"/>
            <a:ext cx="213055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2D1C3"/>
                </a:solidFill>
                <a:latin typeface="Noto Sans CJK SC"/>
              </a:rPr>
              <a:t>02 阅读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3337560"/>
            <a:ext cx="837590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0E7"/>
                </a:solidFill>
                <a:latin typeface="Noto Sans CJK SC"/>
              </a:rPr>
              <a:t>标题、导语、图注三级；重点文字在 1 m 外可辨。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4361688"/>
            <a:ext cx="11018520" cy="941832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5240">
            <a:solidFill>
              <a:srgbClr val="AC9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517136"/>
            <a:ext cx="2130552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C90E9"/>
                </a:solidFill>
                <a:latin typeface="Noto Sans CJK SC"/>
              </a:rPr>
              <a:t>03 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4526279"/>
            <a:ext cx="837590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0E7"/>
                </a:solidFill>
                <a:latin typeface="Noto Sans CJK SC"/>
              </a:rPr>
              <a:t>文字保持矢量；图片按实际版面核对有效分辨率。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852160"/>
            <a:ext cx="1063447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ADAA"/>
                </a:solidFill>
                <a:latin typeface="Noto Sans CJK SC"/>
              </a:rPr>
              <a:t>另附三联展板 PDF 方案稿。正式大幅面印刷前，请按输出设备要求完成 CMYK 色彩、图片清晰度与实物打样检查。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228600"/>
            <a:ext cx="11237976" cy="16459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9555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0E7"/>
                </a:solidFill>
                <a:latin typeface="Noto Sans CJK SC"/>
              </a:rPr>
              <a:t>成果展示 —— 系列总览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69264"/>
            <a:ext cx="530352" cy="47548"/>
          </a:xfrm>
          <a:prstGeom prst="rect">
            <a:avLst/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" y="969264"/>
            <a:ext cx="246888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57616" y="438912"/>
            <a:ext cx="31821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AA68"/>
                </a:solidFill>
                <a:latin typeface="Noto Sans CJK SC"/>
              </a:rPr>
              <a:t>04 / 设计成果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64808"/>
            <a:ext cx="9144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ADAA"/>
                </a:solidFill>
                <a:latin typeface="Noto Sans CJK SC"/>
              </a:rPr>
              <a:t>34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307592"/>
            <a:ext cx="10661904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F0E7"/>
                </a:solidFill>
                <a:latin typeface="Noto Sans CJK SC"/>
              </a:rPr>
              <a:t>五位角色 · 五套纹样 · 多元文创 · 三组展板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130552"/>
            <a:ext cx="2670048" cy="3483864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5240">
            <a:solidFill>
              <a:srgbClr val="E8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_floral_book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15415"/>
            <a:ext cx="2523744" cy="1420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" y="5120640"/>
            <a:ext cx="2075688" cy="411480"/>
          </a:xfrm>
          <a:prstGeom prst="roundRect">
            <a:avLst>
              <a:gd name="adj" fmla="val 9000"/>
            </a:avLst>
          </a:prstGeom>
          <a:solidFill>
            <a:srgbClr val="E8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57216"/>
            <a:ext cx="204825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019"/>
                </a:solidFill>
                <a:latin typeface="Noto Sans CJK SC"/>
              </a:rPr>
              <a:t>纸品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30552"/>
            <a:ext cx="2670048" cy="3483864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5240">
            <a:solidFill>
              <a:srgbClr val="52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3_floral_sach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2915415"/>
            <a:ext cx="2523744" cy="14203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675888" y="5120640"/>
            <a:ext cx="2075688" cy="411480"/>
          </a:xfrm>
          <a:prstGeom prst="roundRect">
            <a:avLst>
              <a:gd name="adj" fmla="val 9000"/>
            </a:avLst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5157216"/>
            <a:ext cx="204825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019"/>
                </a:solidFill>
                <a:latin typeface="Noto Sans CJK SC"/>
              </a:rPr>
              <a:t>衣纹香囊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130552"/>
            <a:ext cx="2670048" cy="3483864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5240">
            <a:solidFill>
              <a:srgbClr val="AC9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15_floral_figuri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915415"/>
            <a:ext cx="2523744" cy="14203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583680" y="5120640"/>
            <a:ext cx="2075688" cy="411480"/>
          </a:xfrm>
          <a:prstGeom prst="roundRect">
            <a:avLst>
              <a:gd name="adj" fmla="val 9000"/>
            </a:avLst>
          </a:prstGeom>
          <a:solidFill>
            <a:srgbClr val="AC9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5157216"/>
            <a:ext cx="204825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019"/>
                </a:solidFill>
                <a:latin typeface="Noto Sans CJK SC"/>
              </a:rPr>
              <a:t>角色摆件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4" y="2130552"/>
            <a:ext cx="2670048" cy="3483864"/>
          </a:xfrm>
          <a:prstGeom prst="roundRect">
            <a:avLst>
              <a:gd name="adj" fmla="val 9000"/>
            </a:avLst>
          </a:prstGeom>
          <a:solidFill>
            <a:srgbClr val="181C29"/>
          </a:solidFill>
          <a:ln w="15240">
            <a:solidFill>
              <a:srgbClr val="F2C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18_floral_mirr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2915415"/>
            <a:ext cx="2523744" cy="14203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491472" y="5120640"/>
            <a:ext cx="2075688" cy="411480"/>
          </a:xfrm>
          <a:prstGeom prst="roundRect">
            <a:avLst>
              <a:gd name="adj" fmla="val 9000"/>
            </a:avLst>
          </a:prstGeom>
          <a:solidFill>
            <a:srgbClr val="F2C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5157216"/>
            <a:ext cx="204825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1019"/>
                </a:solidFill>
                <a:latin typeface="Noto Sans CJK SC"/>
              </a:rPr>
              <a:t>衣纹随身镜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438912"/>
            <a:ext cx="11045952" cy="19202"/>
          </a:xfrm>
          <a:prstGeom prst="rect">
            <a:avLst/>
          </a:prstGeom>
          <a:solidFill>
            <a:srgbClr val="D8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685800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8AA68"/>
                </a:solidFill>
                <a:latin typeface="Noto Sans CJK SC"/>
              </a:rPr>
              <a:t>掌上乾坤  /  泉州布袋戏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399032"/>
            <a:ext cx="10607040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F5F0E7"/>
                </a:solidFill>
                <a:latin typeface="Noto Sans CJK SC"/>
              </a:rPr>
              <a:t>戏在掌中，也在日常。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04288"/>
            <a:ext cx="880567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5B85"/>
                </a:solidFill>
                <a:latin typeface="Noto Sans CJK SC"/>
              </a:rPr>
              <a:t>让一出掌中戏，走进更多人的生活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10881360" cy="47548"/>
          </a:xfrm>
          <a:prstGeom prst="rect">
            <a:avLst/>
          </a:prstGeom>
          <a:solidFill>
            <a:srgbClr val="52D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p_sh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39352"/>
            <a:ext cx="2212848" cy="20744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7008" y="5897880"/>
            <a:ext cx="832104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2D1C3"/>
                </a:solidFill>
                <a:latin typeface="Noto Sans CJK SC"/>
              </a:rPr>
              <a:t>生</a:t>
            </a:r>
          </a:p>
        </p:txBody>
      </p:sp>
      <p:pic>
        <p:nvPicPr>
          <p:cNvPr id="9" name="Picture 8" descr="ip_d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8" y="3365872"/>
            <a:ext cx="2212848" cy="24213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57016" y="5897880"/>
            <a:ext cx="832104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5B85"/>
                </a:solidFill>
                <a:latin typeface="Noto Sans CJK SC"/>
              </a:rPr>
              <a:t>旦</a:t>
            </a:r>
          </a:p>
        </p:txBody>
      </p:sp>
      <p:pic>
        <p:nvPicPr>
          <p:cNvPr id="11" name="Picture 10" descr="ip_j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3555713"/>
            <a:ext cx="2212848" cy="20417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07023" y="5897880"/>
            <a:ext cx="832104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A46E"/>
                </a:solidFill>
                <a:latin typeface="Noto Sans CJK SC"/>
              </a:rPr>
              <a:t>净</a:t>
            </a:r>
          </a:p>
        </p:txBody>
      </p:sp>
      <p:pic>
        <p:nvPicPr>
          <p:cNvPr id="13" name="Picture 12" descr="ip_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3892" y="3282696"/>
            <a:ext cx="2190950" cy="2587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57031" y="5897880"/>
            <a:ext cx="832104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6B3EA"/>
                </a:solidFill>
                <a:latin typeface="Noto Sans CJK SC"/>
              </a:rPr>
              <a:t>末</a:t>
            </a:r>
          </a:p>
        </p:txBody>
      </p:sp>
      <p:pic>
        <p:nvPicPr>
          <p:cNvPr id="15" name="Picture 14" descr="ip_cho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146" y="3282696"/>
            <a:ext cx="2156460" cy="2587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07040" y="5897880"/>
            <a:ext cx="832104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CF76"/>
                </a:solidFill>
                <a:latin typeface="Noto Sans CJK SC"/>
              </a:rPr>
              <a:t>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6492240"/>
            <a:ext cx="991209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ADAA"/>
                </a:solidFill>
                <a:latin typeface="Noto Sans CJK SC"/>
              </a:rPr>
              <a:t>QUANZHOU GLOVE PUPPET THEATRE  ·  CULTURAL CREATIVE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